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7556500" cy="10693400"/>
  <p:notesSz cx="6858000" cy="9144000"/>
  <p:embeddedFontLst>
    <p:embeddedFont>
      <p:font typeface="HK Grotesk Semi-Bold" charset="1" panose="00000700000000000000"/>
      <p:regular r:id="rId36"/>
    </p:embeddedFont>
    <p:embeddedFont>
      <p:font typeface="HK Grotesk Medium" charset="1" panose="00000600000000000000"/>
      <p:regular r:id="rId37"/>
    </p:embeddedFont>
    <p:embeddedFont>
      <p:font typeface="HK Grotesk Bold" charset="1" panose="000008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 Id="rId8"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2.jpeg" Type="http://schemas.openxmlformats.org/officeDocument/2006/relationships/image"/><Relationship Id="rId7" Target="../media/image23.jpeg" Type="http://schemas.openxmlformats.org/officeDocument/2006/relationships/image"/><Relationship Id="rId8" Target="../media/image24.jpeg" Type="http://schemas.openxmlformats.org/officeDocument/2006/relationships/image"/><Relationship Id="rId9"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6.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27.jpeg" Type="http://schemas.openxmlformats.org/officeDocument/2006/relationships/image"/><Relationship Id="rId7" Target="../media/image28.jpeg" Type="http://schemas.openxmlformats.org/officeDocument/2006/relationships/image"/><Relationship Id="rId8" Target="../media/image2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jpeg" Type="http://schemas.openxmlformats.org/officeDocument/2006/relationships/image"/><Relationship Id="rId5" Target="../media/image35.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6.jpeg" Type="http://schemas.openxmlformats.org/officeDocument/2006/relationships/image"/><Relationship Id="rId5" Target="../media/image37.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8.jpeg" Type="http://schemas.openxmlformats.org/officeDocument/2006/relationships/image"/><Relationship Id="rId5" Target="../media/image39.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40.jpeg" Type="http://schemas.openxmlformats.org/officeDocument/2006/relationships/image"/><Relationship Id="rId5" Target="../media/image4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42.jpeg" Type="http://schemas.openxmlformats.org/officeDocument/2006/relationships/image"/><Relationship Id="rId5" Target="../media/image4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46.jpeg" Type="http://schemas.openxmlformats.org/officeDocument/2006/relationships/image"/><Relationship Id="rId5" Target="../media/image47.jpeg" Type="http://schemas.openxmlformats.org/officeDocument/2006/relationships/image"/><Relationship Id="rId6" Target="../media/image48.jpeg" Type="http://schemas.openxmlformats.org/officeDocument/2006/relationships/image"/><Relationship Id="rId7" Target="../media/image49.jpeg" Type="http://schemas.openxmlformats.org/officeDocument/2006/relationships/image"/><Relationship Id="rId8" Target="../media/image50.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51.jpeg" Type="http://schemas.openxmlformats.org/officeDocument/2006/relationships/image"/><Relationship Id="rId5" Target="../media/image52.jpeg" Type="http://schemas.openxmlformats.org/officeDocument/2006/relationships/image"/><Relationship Id="rId6" Target="../media/image5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5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55.jpeg" Type="http://schemas.openxmlformats.org/officeDocument/2006/relationships/image"/><Relationship Id="rId5" Target="../media/image56.jpeg" Type="http://schemas.openxmlformats.org/officeDocument/2006/relationships/image"/><Relationship Id="rId6" Target="../media/image57.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58.jpeg" Type="http://schemas.openxmlformats.org/officeDocument/2006/relationships/image"/><Relationship Id="rId5" Target="../media/image59.jpeg" Type="http://schemas.openxmlformats.org/officeDocument/2006/relationships/image"/><Relationship Id="rId6" Target="../media/image60.jpeg" Type="http://schemas.openxmlformats.org/officeDocument/2006/relationships/image"/><Relationship Id="rId7" Target="../media/image6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62.jpeg" Type="http://schemas.openxmlformats.org/officeDocument/2006/relationships/image"/><Relationship Id="rId5" Target="../media/image63.jpeg" Type="http://schemas.openxmlformats.org/officeDocument/2006/relationships/image"/><Relationship Id="rId6" Target="../media/image6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65.jpeg" Type="http://schemas.openxmlformats.org/officeDocument/2006/relationships/image"/><Relationship Id="rId5" Target="../media/image66.jpeg" Type="http://schemas.openxmlformats.org/officeDocument/2006/relationships/image"/><Relationship Id="rId6" Target="../media/image6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68.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69.jpeg" Type="http://schemas.openxmlformats.org/officeDocument/2006/relationships/image"/><Relationship Id="rId5" Target="../media/image70.jpeg" Type="http://schemas.openxmlformats.org/officeDocument/2006/relationships/image"/><Relationship Id="rId6" Target="../media/image71.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72.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7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7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7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7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4.png" Type="http://schemas.openxmlformats.org/officeDocument/2006/relationships/image"/><Relationship Id="rId3" Target="../media/image75.svg" Type="http://schemas.openxmlformats.org/officeDocument/2006/relationships/image"/><Relationship Id="rId4" Target="../media/image76.png" Type="http://schemas.openxmlformats.org/officeDocument/2006/relationships/image"/><Relationship Id="rId5" Target="../media/image77.png" Type="http://schemas.openxmlformats.org/officeDocument/2006/relationships/image"/><Relationship Id="rId6" Target="../media/image78.png" Type="http://schemas.openxmlformats.org/officeDocument/2006/relationships/image"/><Relationship Id="rId7" Target="../media/image7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3815810" y="697078"/>
            <a:ext cx="10190407" cy="10063001"/>
          </a:xfrm>
          <a:custGeom>
            <a:avLst/>
            <a:gdLst/>
            <a:ahLst/>
            <a:cxnLst/>
            <a:rect r="r" b="b" t="t" l="l"/>
            <a:pathLst>
              <a:path h="10063001" w="10190407">
                <a:moveTo>
                  <a:pt x="0" y="0"/>
                </a:moveTo>
                <a:lnTo>
                  <a:pt x="10190407" y="0"/>
                </a:lnTo>
                <a:lnTo>
                  <a:pt x="10190407" y="10063000"/>
                </a:lnTo>
                <a:lnTo>
                  <a:pt x="0" y="100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230147" y="2247890"/>
            <a:ext cx="3871912" cy="2344998"/>
          </a:xfrm>
          <a:prstGeom prst="rect">
            <a:avLst/>
          </a:prstGeom>
        </p:spPr>
        <p:txBody>
          <a:bodyPr anchor="t" rtlCol="false" tIns="0" lIns="0" bIns="0" rIns="0">
            <a:spAutoFit/>
          </a:bodyPr>
          <a:lstStyle/>
          <a:p>
            <a:pPr algn="l">
              <a:lnSpc>
                <a:spcPts val="3676"/>
              </a:lnSpc>
            </a:pPr>
            <a:r>
              <a:rPr lang="en-US" b="true" sz="3199">
                <a:solidFill>
                  <a:srgbClr val="FFFFFF"/>
                </a:solidFill>
                <a:latin typeface="HK Grotesk Semi-Bold"/>
                <a:ea typeface="HK Grotesk Semi-Bold"/>
                <a:cs typeface="HK Grotesk Semi-Bold"/>
                <a:sym typeface="HK Grotesk Semi-Bold"/>
              </a:rPr>
              <a:t>ANALYSIS OF STUDENT PERFORMANCE DATASET: INSIGHTS AND TRENDS</a:t>
            </a:r>
          </a:p>
        </p:txBody>
      </p:sp>
      <p:sp>
        <p:nvSpPr>
          <p:cNvPr name="TextBox 4" id="4"/>
          <p:cNvSpPr txBox="true"/>
          <p:nvPr/>
        </p:nvSpPr>
        <p:spPr>
          <a:xfrm rot="0">
            <a:off x="4951914" y="772811"/>
            <a:ext cx="1562852" cy="242211"/>
          </a:xfrm>
          <a:prstGeom prst="rect">
            <a:avLst/>
          </a:prstGeom>
        </p:spPr>
        <p:txBody>
          <a:bodyPr anchor="t" rtlCol="false" tIns="0" lIns="0" bIns="0" rIns="0">
            <a:spAutoFit/>
          </a:bodyPr>
          <a:lstStyle/>
          <a:p>
            <a:pPr algn="l">
              <a:lnSpc>
                <a:spcPts val="1959"/>
              </a:lnSpc>
            </a:pPr>
            <a:r>
              <a:rPr lang="en-US" b="true" sz="1399" spc="125">
                <a:solidFill>
                  <a:srgbClr val="FFFFFF"/>
                </a:solidFill>
                <a:latin typeface="HK Grotesk Semi-Bold"/>
                <a:ea typeface="HK Grotesk Semi-Bold"/>
                <a:cs typeface="HK Grotesk Semi-Bold"/>
                <a:sym typeface="HK Grotesk Semi-Bold"/>
              </a:rPr>
              <a:t>FEBRUARY </a:t>
            </a:r>
            <a:r>
              <a:rPr lang="en-US" b="true" sz="1399" spc="125">
                <a:solidFill>
                  <a:srgbClr val="FFFFFF"/>
                </a:solidFill>
                <a:latin typeface="HK Grotesk Medium"/>
                <a:ea typeface="HK Grotesk Medium"/>
                <a:cs typeface="HK Grotesk Medium"/>
                <a:sym typeface="HK Grotesk Medium"/>
              </a:rPr>
              <a:t>2025</a:t>
            </a:r>
          </a:p>
        </p:txBody>
      </p:sp>
      <p:sp>
        <p:nvSpPr>
          <p:cNvPr name="TextBox 5" id="5"/>
          <p:cNvSpPr txBox="true"/>
          <p:nvPr/>
        </p:nvSpPr>
        <p:spPr>
          <a:xfrm rot="0">
            <a:off x="3258617" y="9543755"/>
            <a:ext cx="2684135" cy="367560"/>
          </a:xfrm>
          <a:prstGeom prst="rect">
            <a:avLst/>
          </a:prstGeom>
        </p:spPr>
        <p:txBody>
          <a:bodyPr anchor="t" rtlCol="false" tIns="0" lIns="0" bIns="0" rIns="0">
            <a:spAutoFit/>
          </a:bodyPr>
          <a:lstStyle/>
          <a:p>
            <a:pPr algn="l">
              <a:lnSpc>
                <a:spcPts val="2938"/>
              </a:lnSpc>
            </a:pPr>
            <a:r>
              <a:rPr lang="en-US" b="true" sz="2099" spc="73">
                <a:solidFill>
                  <a:srgbClr val="FFFFFF"/>
                </a:solidFill>
                <a:latin typeface="HK Grotesk Medium"/>
                <a:ea typeface="HK Grotesk Medium"/>
                <a:cs typeface="HK Grotesk Medium"/>
                <a:sym typeface="HK Grotesk Medium"/>
              </a:rPr>
              <a:t>Hana Ahmed Nabhan</a:t>
            </a:r>
          </a:p>
        </p:txBody>
      </p:sp>
      <p:sp>
        <p:nvSpPr>
          <p:cNvPr name="TextBox 6" id="6"/>
          <p:cNvSpPr txBox="true"/>
          <p:nvPr/>
        </p:nvSpPr>
        <p:spPr>
          <a:xfrm rot="0">
            <a:off x="3258617" y="9206046"/>
            <a:ext cx="1734436" cy="327631"/>
          </a:xfrm>
          <a:prstGeom prst="rect">
            <a:avLst/>
          </a:prstGeom>
        </p:spPr>
        <p:txBody>
          <a:bodyPr anchor="t" rtlCol="false" tIns="0" lIns="0" bIns="0" rIns="0">
            <a:spAutoFit/>
          </a:bodyPr>
          <a:lstStyle/>
          <a:p>
            <a:pPr algn="l">
              <a:lnSpc>
                <a:spcPts val="2659"/>
              </a:lnSpc>
            </a:pPr>
            <a:r>
              <a:rPr lang="en-US" b="true" sz="1899">
                <a:solidFill>
                  <a:srgbClr val="80B2E8"/>
                </a:solidFill>
                <a:latin typeface="HK Grotesk Bold"/>
                <a:ea typeface="HK Grotesk Bold"/>
                <a:cs typeface="HK Grotesk Bold"/>
                <a:sym typeface="HK Grotesk Bold"/>
              </a:rPr>
              <a:t>PRESENTED 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594036" y="7223188"/>
            <a:ext cx="6175000" cy="2941634"/>
            <a:chOff x="0" y="0"/>
            <a:chExt cx="6174994" cy="2941638"/>
          </a:xfrm>
        </p:grpSpPr>
        <p:sp>
          <p:nvSpPr>
            <p:cNvPr name="Freeform 3" id="3"/>
            <p:cNvSpPr/>
            <p:nvPr/>
          </p:nvSpPr>
          <p:spPr>
            <a:xfrm flipH="false" flipV="false" rot="0">
              <a:off x="63500" y="70612"/>
              <a:ext cx="6047994" cy="2793238"/>
            </a:xfrm>
            <a:custGeom>
              <a:avLst/>
              <a:gdLst/>
              <a:ahLst/>
              <a:cxnLst/>
              <a:rect r="r" b="b" t="t" l="l"/>
              <a:pathLst>
                <a:path h="2793238" w="6047994">
                  <a:moveTo>
                    <a:pt x="7112" y="7112"/>
                  </a:moveTo>
                  <a:lnTo>
                    <a:pt x="7112" y="2793238"/>
                  </a:lnTo>
                  <a:moveTo>
                    <a:pt x="5326634" y="7112"/>
                  </a:moveTo>
                  <a:lnTo>
                    <a:pt x="5326634" y="2793238"/>
                  </a:lnTo>
                  <a:moveTo>
                    <a:pt x="6040882" y="7112"/>
                  </a:moveTo>
                  <a:lnTo>
                    <a:pt x="6040882" y="2793238"/>
                  </a:lnTo>
                  <a:moveTo>
                    <a:pt x="0" y="0"/>
                  </a:moveTo>
                  <a:lnTo>
                    <a:pt x="6047994" y="0"/>
                  </a:lnTo>
                </a:path>
              </a:pathLst>
            </a:custGeom>
            <a:solidFill>
              <a:srgbClr val="000000"/>
            </a:solidFill>
          </p:spPr>
        </p:sp>
        <p:sp>
          <p:nvSpPr>
            <p:cNvPr name="Freeform 4" id="4"/>
            <p:cNvSpPr/>
            <p:nvPr/>
          </p:nvSpPr>
          <p:spPr>
            <a:xfrm flipH="false" flipV="false" rot="0">
              <a:off x="63500" y="63500"/>
              <a:ext cx="6047994" cy="2800350"/>
            </a:xfrm>
            <a:custGeom>
              <a:avLst/>
              <a:gdLst/>
              <a:ahLst/>
              <a:cxnLst/>
              <a:rect r="r" b="b" t="t" l="l"/>
              <a:pathLst>
                <a:path h="2800350" w="6047994">
                  <a:moveTo>
                    <a:pt x="14224" y="14224"/>
                  </a:moveTo>
                  <a:lnTo>
                    <a:pt x="14224" y="2800350"/>
                  </a:lnTo>
                  <a:lnTo>
                    <a:pt x="0" y="2800350"/>
                  </a:lnTo>
                  <a:lnTo>
                    <a:pt x="0" y="14224"/>
                  </a:lnTo>
                  <a:close/>
                  <a:moveTo>
                    <a:pt x="5333746" y="14224"/>
                  </a:moveTo>
                  <a:lnTo>
                    <a:pt x="5333746" y="2800350"/>
                  </a:lnTo>
                  <a:lnTo>
                    <a:pt x="5319522" y="2800350"/>
                  </a:lnTo>
                  <a:lnTo>
                    <a:pt x="5319522" y="14224"/>
                  </a:lnTo>
                  <a:close/>
                  <a:moveTo>
                    <a:pt x="6047994" y="14224"/>
                  </a:moveTo>
                  <a:lnTo>
                    <a:pt x="6047994" y="2800350"/>
                  </a:lnTo>
                  <a:lnTo>
                    <a:pt x="6033770" y="2800350"/>
                  </a:lnTo>
                  <a:lnTo>
                    <a:pt x="6033770" y="14224"/>
                  </a:lnTo>
                  <a:close/>
                  <a:moveTo>
                    <a:pt x="0" y="0"/>
                  </a:moveTo>
                  <a:lnTo>
                    <a:pt x="6047994" y="0"/>
                  </a:lnTo>
                  <a:lnTo>
                    <a:pt x="6047994" y="14224"/>
                  </a:lnTo>
                  <a:lnTo>
                    <a:pt x="0" y="14224"/>
                  </a:lnTo>
                  <a:close/>
                </a:path>
              </a:pathLst>
            </a:custGeom>
            <a:solidFill>
              <a:srgbClr val="2A3652"/>
            </a:solidFill>
          </p:spPr>
        </p:sp>
        <p:sp>
          <p:nvSpPr>
            <p:cNvPr name="Freeform 5" id="5"/>
            <p:cNvSpPr/>
            <p:nvPr/>
          </p:nvSpPr>
          <p:spPr>
            <a:xfrm flipH="false" flipV="false" rot="0">
              <a:off x="63500" y="537337"/>
              <a:ext cx="6047994" cy="2333625"/>
            </a:xfrm>
            <a:custGeom>
              <a:avLst/>
              <a:gdLst/>
              <a:ahLst/>
              <a:cxnLst/>
              <a:rect r="r" b="b" t="t" l="l"/>
              <a:pathLst>
                <a:path h="2333625" w="6047994">
                  <a:moveTo>
                    <a:pt x="14224" y="0"/>
                  </a:moveTo>
                  <a:lnTo>
                    <a:pt x="6033770" y="0"/>
                  </a:lnTo>
                  <a:moveTo>
                    <a:pt x="14224" y="466725"/>
                  </a:moveTo>
                  <a:lnTo>
                    <a:pt x="6033770" y="466725"/>
                  </a:lnTo>
                  <a:moveTo>
                    <a:pt x="14224" y="933450"/>
                  </a:moveTo>
                  <a:lnTo>
                    <a:pt x="6033770" y="933450"/>
                  </a:lnTo>
                  <a:moveTo>
                    <a:pt x="14224" y="1400175"/>
                  </a:moveTo>
                  <a:lnTo>
                    <a:pt x="6033770" y="1400175"/>
                  </a:lnTo>
                  <a:moveTo>
                    <a:pt x="14224" y="1866900"/>
                  </a:moveTo>
                  <a:lnTo>
                    <a:pt x="6033770" y="1866900"/>
                  </a:lnTo>
                  <a:moveTo>
                    <a:pt x="0" y="2333625"/>
                  </a:moveTo>
                  <a:lnTo>
                    <a:pt x="6047994" y="2333625"/>
                  </a:lnTo>
                </a:path>
              </a:pathLst>
            </a:custGeom>
            <a:solidFill>
              <a:srgbClr val="000000"/>
            </a:solidFill>
          </p:spPr>
        </p:sp>
        <p:sp>
          <p:nvSpPr>
            <p:cNvPr name="Freeform 6" id="6"/>
            <p:cNvSpPr/>
            <p:nvPr/>
          </p:nvSpPr>
          <p:spPr>
            <a:xfrm flipH="false" flipV="false" rot="0">
              <a:off x="63500" y="530225"/>
              <a:ext cx="6047994" cy="2347849"/>
            </a:xfrm>
            <a:custGeom>
              <a:avLst/>
              <a:gdLst/>
              <a:ahLst/>
              <a:cxnLst/>
              <a:rect r="r" b="b" t="t" l="l"/>
              <a:pathLst>
                <a:path h="2347849" w="6047994">
                  <a:moveTo>
                    <a:pt x="14224" y="0"/>
                  </a:moveTo>
                  <a:lnTo>
                    <a:pt x="6033770" y="0"/>
                  </a:lnTo>
                  <a:lnTo>
                    <a:pt x="6033770" y="14224"/>
                  </a:lnTo>
                  <a:lnTo>
                    <a:pt x="14224" y="14224"/>
                  </a:lnTo>
                  <a:close/>
                  <a:moveTo>
                    <a:pt x="14224" y="466725"/>
                  </a:moveTo>
                  <a:lnTo>
                    <a:pt x="6033770" y="466725"/>
                  </a:lnTo>
                  <a:lnTo>
                    <a:pt x="6033770" y="480949"/>
                  </a:lnTo>
                  <a:lnTo>
                    <a:pt x="14224" y="480949"/>
                  </a:lnTo>
                  <a:close/>
                  <a:moveTo>
                    <a:pt x="14224" y="933450"/>
                  </a:moveTo>
                  <a:lnTo>
                    <a:pt x="6033770" y="933450"/>
                  </a:lnTo>
                  <a:lnTo>
                    <a:pt x="6033770" y="947674"/>
                  </a:lnTo>
                  <a:lnTo>
                    <a:pt x="14224" y="947674"/>
                  </a:lnTo>
                  <a:close/>
                  <a:moveTo>
                    <a:pt x="14224" y="1400175"/>
                  </a:moveTo>
                  <a:lnTo>
                    <a:pt x="6033770" y="1400175"/>
                  </a:lnTo>
                  <a:lnTo>
                    <a:pt x="6033770" y="1414399"/>
                  </a:lnTo>
                  <a:lnTo>
                    <a:pt x="14224" y="1414399"/>
                  </a:lnTo>
                  <a:close/>
                  <a:moveTo>
                    <a:pt x="14224" y="1866900"/>
                  </a:moveTo>
                  <a:lnTo>
                    <a:pt x="6033770" y="1866900"/>
                  </a:lnTo>
                  <a:lnTo>
                    <a:pt x="6033770" y="1881124"/>
                  </a:lnTo>
                  <a:lnTo>
                    <a:pt x="14224" y="1881124"/>
                  </a:lnTo>
                  <a:close/>
                  <a:moveTo>
                    <a:pt x="0" y="2333625"/>
                  </a:moveTo>
                  <a:lnTo>
                    <a:pt x="6047994" y="2333625"/>
                  </a:lnTo>
                  <a:lnTo>
                    <a:pt x="6047994" y="2347849"/>
                  </a:lnTo>
                  <a:lnTo>
                    <a:pt x="0" y="2347849"/>
                  </a:lnTo>
                  <a:close/>
                </a:path>
              </a:pathLst>
            </a:custGeom>
            <a:solidFill>
              <a:srgbClr val="A9D6B9"/>
            </a:solidFill>
          </p:spPr>
        </p:sp>
      </p:grpSp>
      <p:sp>
        <p:nvSpPr>
          <p:cNvPr name="Freeform 7" id="7"/>
          <p:cNvSpPr/>
          <p:nvPr/>
        </p:nvSpPr>
        <p:spPr>
          <a:xfrm flipH="false" flipV="false" rot="0">
            <a:off x="3238624" y="-2357333"/>
            <a:ext cx="8929802" cy="6263345"/>
          </a:xfrm>
          <a:custGeom>
            <a:avLst/>
            <a:gdLst/>
            <a:ahLst/>
            <a:cxnLst/>
            <a:rect r="r" b="b" t="t" l="l"/>
            <a:pathLst>
              <a:path h="6263345" w="8929802">
                <a:moveTo>
                  <a:pt x="0" y="0"/>
                </a:moveTo>
                <a:lnTo>
                  <a:pt x="8929802" y="0"/>
                </a:lnTo>
                <a:lnTo>
                  <a:pt x="8929802" y="6263345"/>
                </a:lnTo>
                <a:lnTo>
                  <a:pt x="0" y="6263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931977" y="3672878"/>
            <a:ext cx="3314700" cy="3495675"/>
          </a:xfrm>
          <a:custGeom>
            <a:avLst/>
            <a:gdLst/>
            <a:ahLst/>
            <a:cxnLst/>
            <a:rect r="r" b="b" t="t" l="l"/>
            <a:pathLst>
              <a:path h="3495675" w="3314700">
                <a:moveTo>
                  <a:pt x="0" y="0"/>
                </a:moveTo>
                <a:lnTo>
                  <a:pt x="3314700" y="0"/>
                </a:lnTo>
                <a:lnTo>
                  <a:pt x="3314700" y="3495675"/>
                </a:lnTo>
                <a:lnTo>
                  <a:pt x="0" y="3495675"/>
                </a:lnTo>
                <a:lnTo>
                  <a:pt x="0" y="0"/>
                </a:lnTo>
                <a:close/>
              </a:path>
            </a:pathLst>
          </a:custGeom>
          <a:blipFill>
            <a:blip r:embed="rId4"/>
            <a:stretch>
              <a:fillRect l="0" t="0" r="0" b="0"/>
            </a:stretch>
          </a:blipFill>
        </p:spPr>
      </p:sp>
      <p:grpSp>
        <p:nvGrpSpPr>
          <p:cNvPr name="Group 9" id="9"/>
          <p:cNvGrpSpPr>
            <a:grpSpLocks noChangeAspect="true"/>
          </p:cNvGrpSpPr>
          <p:nvPr/>
        </p:nvGrpSpPr>
        <p:grpSpPr>
          <a:xfrm rot="0">
            <a:off x="1302096" y="-63503"/>
            <a:ext cx="6324248" cy="7299179"/>
            <a:chOff x="0" y="0"/>
            <a:chExt cx="6324244" cy="7299185"/>
          </a:xfrm>
        </p:grpSpPr>
        <p:sp>
          <p:nvSpPr>
            <p:cNvPr name="Freeform 10" id="10"/>
            <p:cNvSpPr/>
            <p:nvPr/>
          </p:nvSpPr>
          <p:spPr>
            <a:xfrm flipH="false" flipV="false" rot="0">
              <a:off x="63500" y="63500"/>
              <a:ext cx="6197219" cy="6416421"/>
            </a:xfrm>
            <a:custGeom>
              <a:avLst/>
              <a:gdLst/>
              <a:ahLst/>
              <a:cxnLst/>
              <a:rect r="r" b="b" t="t" l="l"/>
              <a:pathLst>
                <a:path h="6416421" w="6197219">
                  <a:moveTo>
                    <a:pt x="0" y="0"/>
                  </a:moveTo>
                  <a:lnTo>
                    <a:pt x="0" y="6416421"/>
                  </a:lnTo>
                  <a:lnTo>
                    <a:pt x="6197219" y="6416421"/>
                  </a:lnTo>
                  <a:lnTo>
                    <a:pt x="6197219" y="0"/>
                  </a:lnTo>
                  <a:close/>
                </a:path>
              </a:pathLst>
            </a:custGeom>
            <a:solidFill>
              <a:srgbClr val="000000">
                <a:alpha val="0"/>
              </a:srgbClr>
            </a:solidFill>
          </p:spPr>
        </p:sp>
        <p:sp>
          <p:nvSpPr>
            <p:cNvPr name="Freeform 11" id="11"/>
            <p:cNvSpPr/>
            <p:nvPr/>
          </p:nvSpPr>
          <p:spPr>
            <a:xfrm flipH="false" flipV="false" rot="0">
              <a:off x="2629916" y="3740912"/>
              <a:ext cx="3311271" cy="3494786"/>
            </a:xfrm>
            <a:custGeom>
              <a:avLst/>
              <a:gdLst/>
              <a:ahLst/>
              <a:cxnLst/>
              <a:rect r="r" b="b" t="t" l="l"/>
              <a:pathLst>
                <a:path h="3494786" w="3311271">
                  <a:moveTo>
                    <a:pt x="0" y="3494786"/>
                  </a:moveTo>
                  <a:lnTo>
                    <a:pt x="3311271" y="3494786"/>
                  </a:lnTo>
                  <a:lnTo>
                    <a:pt x="3311271" y="0"/>
                  </a:lnTo>
                  <a:lnTo>
                    <a:pt x="0" y="0"/>
                  </a:lnTo>
                  <a:close/>
                </a:path>
              </a:pathLst>
            </a:custGeom>
            <a:solidFill>
              <a:srgbClr val="000000">
                <a:alpha val="0"/>
              </a:srgbClr>
            </a:solidFill>
          </p:spPr>
        </p:sp>
      </p:grpSp>
      <p:sp>
        <p:nvSpPr>
          <p:cNvPr name="TextBox 12" id="12"/>
          <p:cNvSpPr txBox="true"/>
          <p:nvPr/>
        </p:nvSpPr>
        <p:spPr>
          <a:xfrm rot="0">
            <a:off x="757552" y="7237752"/>
            <a:ext cx="1331909" cy="384743"/>
          </a:xfrm>
          <a:prstGeom prst="rect">
            <a:avLst/>
          </a:prstGeom>
        </p:spPr>
        <p:txBody>
          <a:bodyPr anchor="t" rtlCol="false" tIns="0" lIns="0" bIns="0" rIns="0">
            <a:spAutoFit/>
          </a:bodyPr>
          <a:lstStyle/>
          <a:p>
            <a:pPr algn="l">
              <a:lnSpc>
                <a:spcPts val="3498"/>
              </a:lnSpc>
            </a:pPr>
            <a:r>
              <a:rPr lang="en-US" b="true" sz="1399">
                <a:solidFill>
                  <a:srgbClr val="FFFFFF"/>
                </a:solidFill>
                <a:latin typeface="HK Grotesk Bold"/>
                <a:ea typeface="HK Grotesk Bold"/>
                <a:cs typeface="HK Grotesk Bold"/>
                <a:sym typeface="HK Grotesk Bold"/>
              </a:rPr>
              <a:t>INTRODUCTION</a:t>
            </a:r>
          </a:p>
        </p:txBody>
      </p:sp>
      <p:sp>
        <p:nvSpPr>
          <p:cNvPr name="TextBox 13" id="13"/>
          <p:cNvSpPr txBox="true"/>
          <p:nvPr/>
        </p:nvSpPr>
        <p:spPr>
          <a:xfrm rot="0">
            <a:off x="757552" y="7704477"/>
            <a:ext cx="2653703" cy="384743"/>
          </a:xfrm>
          <a:prstGeom prst="rect">
            <a:avLst/>
          </a:prstGeom>
        </p:spPr>
        <p:txBody>
          <a:bodyPr anchor="t" rtlCol="false" tIns="0" lIns="0" bIns="0" rIns="0">
            <a:spAutoFit/>
          </a:bodyPr>
          <a:lstStyle/>
          <a:p>
            <a:pPr algn="l">
              <a:lnSpc>
                <a:spcPts val="3498"/>
              </a:lnSpc>
            </a:pPr>
            <a:r>
              <a:rPr lang="en-US" b="true" sz="1399">
                <a:solidFill>
                  <a:srgbClr val="FFFFFF"/>
                </a:solidFill>
                <a:latin typeface="HK Grotesk Bold"/>
                <a:ea typeface="HK Grotesk Bold"/>
                <a:cs typeface="HK Grotesk Bold"/>
                <a:sym typeface="HK Grotesk Bold"/>
              </a:rPr>
              <a:t>Data Cleaning and Preprocessing</a:t>
            </a:r>
          </a:p>
        </p:txBody>
      </p:sp>
      <p:sp>
        <p:nvSpPr>
          <p:cNvPr name="TextBox 14" id="14"/>
          <p:cNvSpPr txBox="true"/>
          <p:nvPr/>
        </p:nvSpPr>
        <p:spPr>
          <a:xfrm rot="0">
            <a:off x="757552" y="8171202"/>
            <a:ext cx="2582180" cy="384743"/>
          </a:xfrm>
          <a:prstGeom prst="rect">
            <a:avLst/>
          </a:prstGeom>
        </p:spPr>
        <p:txBody>
          <a:bodyPr anchor="t" rtlCol="false" tIns="0" lIns="0" bIns="0" rIns="0">
            <a:spAutoFit/>
          </a:bodyPr>
          <a:lstStyle/>
          <a:p>
            <a:pPr algn="l">
              <a:lnSpc>
                <a:spcPts val="3498"/>
              </a:lnSpc>
            </a:pPr>
            <a:r>
              <a:rPr lang="en-US" b="true" sz="1399">
                <a:solidFill>
                  <a:srgbClr val="FFFFFF"/>
                </a:solidFill>
                <a:latin typeface="HK Grotesk Bold"/>
                <a:ea typeface="HK Grotesk Bold"/>
                <a:cs typeface="HK Grotesk Bold"/>
                <a:sym typeface="HK Grotesk Bold"/>
              </a:rPr>
              <a:t>Exploratory Data Analysis (EDA)</a:t>
            </a:r>
          </a:p>
        </p:txBody>
      </p:sp>
      <p:sp>
        <p:nvSpPr>
          <p:cNvPr name="TextBox 15" id="15"/>
          <p:cNvSpPr txBox="true"/>
          <p:nvPr/>
        </p:nvSpPr>
        <p:spPr>
          <a:xfrm rot="0">
            <a:off x="757552" y="8637927"/>
            <a:ext cx="1667599" cy="384743"/>
          </a:xfrm>
          <a:prstGeom prst="rect">
            <a:avLst/>
          </a:prstGeom>
        </p:spPr>
        <p:txBody>
          <a:bodyPr anchor="t" rtlCol="false" tIns="0" lIns="0" bIns="0" rIns="0">
            <a:spAutoFit/>
          </a:bodyPr>
          <a:lstStyle/>
          <a:p>
            <a:pPr algn="l">
              <a:lnSpc>
                <a:spcPts val="3498"/>
              </a:lnSpc>
            </a:pPr>
            <a:r>
              <a:rPr lang="en-US" b="true" sz="1399">
                <a:solidFill>
                  <a:srgbClr val="FFFFFF"/>
                </a:solidFill>
                <a:latin typeface="HK Grotesk Bold"/>
                <a:ea typeface="HK Grotesk Bold"/>
                <a:cs typeface="HK Grotesk Bold"/>
                <a:sym typeface="HK Grotesk Bold"/>
              </a:rPr>
              <a:t>Visualization of Data</a:t>
            </a:r>
          </a:p>
        </p:txBody>
      </p:sp>
      <p:sp>
        <p:nvSpPr>
          <p:cNvPr name="TextBox 16" id="16"/>
          <p:cNvSpPr txBox="true"/>
          <p:nvPr/>
        </p:nvSpPr>
        <p:spPr>
          <a:xfrm rot="0">
            <a:off x="757552" y="9104652"/>
            <a:ext cx="2063029" cy="384743"/>
          </a:xfrm>
          <a:prstGeom prst="rect">
            <a:avLst/>
          </a:prstGeom>
        </p:spPr>
        <p:txBody>
          <a:bodyPr anchor="t" rtlCol="false" tIns="0" lIns="0" bIns="0" rIns="0">
            <a:spAutoFit/>
          </a:bodyPr>
          <a:lstStyle/>
          <a:p>
            <a:pPr algn="l">
              <a:lnSpc>
                <a:spcPts val="3498"/>
              </a:lnSpc>
            </a:pPr>
            <a:r>
              <a:rPr lang="en-US" b="true" sz="1399">
                <a:solidFill>
                  <a:srgbClr val="FFFFFF"/>
                </a:solidFill>
                <a:latin typeface="HK Grotesk Bold"/>
                <a:ea typeface="HK Grotesk Bold"/>
                <a:cs typeface="HK Grotesk Bold"/>
                <a:sym typeface="HK Grotesk Bold"/>
              </a:rPr>
              <a:t>Key Insights and Findings</a:t>
            </a:r>
          </a:p>
        </p:txBody>
      </p:sp>
      <p:sp>
        <p:nvSpPr>
          <p:cNvPr name="TextBox 17" id="17"/>
          <p:cNvSpPr txBox="true"/>
          <p:nvPr/>
        </p:nvSpPr>
        <p:spPr>
          <a:xfrm rot="0">
            <a:off x="757552" y="9571377"/>
            <a:ext cx="902313" cy="384743"/>
          </a:xfrm>
          <a:prstGeom prst="rect">
            <a:avLst/>
          </a:prstGeom>
        </p:spPr>
        <p:txBody>
          <a:bodyPr anchor="t" rtlCol="false" tIns="0" lIns="0" bIns="0" rIns="0">
            <a:spAutoFit/>
          </a:bodyPr>
          <a:lstStyle/>
          <a:p>
            <a:pPr algn="l">
              <a:lnSpc>
                <a:spcPts val="3498"/>
              </a:lnSpc>
            </a:pPr>
            <a:r>
              <a:rPr lang="en-US" b="true" sz="1399">
                <a:solidFill>
                  <a:srgbClr val="FFFFFF"/>
                </a:solidFill>
                <a:latin typeface="HK Grotesk Bold"/>
                <a:ea typeface="HK Grotesk Bold"/>
                <a:cs typeface="HK Grotesk Bold"/>
                <a:sym typeface="HK Grotesk Bold"/>
              </a:rPr>
              <a:t>Conclusion</a:t>
            </a:r>
          </a:p>
        </p:txBody>
      </p:sp>
      <p:sp>
        <p:nvSpPr>
          <p:cNvPr name="TextBox 18" id="18"/>
          <p:cNvSpPr txBox="true"/>
          <p:nvPr/>
        </p:nvSpPr>
        <p:spPr>
          <a:xfrm rot="0">
            <a:off x="755999" y="4159853"/>
            <a:ext cx="2779795"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TABLE OF CONTENTS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755952" y="673913"/>
            <a:ext cx="3573904" cy="28575"/>
          </a:xfrm>
          <a:custGeom>
            <a:avLst/>
            <a:gdLst/>
            <a:ahLst/>
            <a:cxnLst/>
            <a:rect r="r" b="b" t="t" l="l"/>
            <a:pathLst>
              <a:path h="28575" w="3573904">
                <a:moveTo>
                  <a:pt x="0" y="0"/>
                </a:moveTo>
                <a:lnTo>
                  <a:pt x="3573903" y="0"/>
                </a:lnTo>
                <a:lnTo>
                  <a:pt x="3573903" y="28575"/>
                </a:lnTo>
                <a:lnTo>
                  <a:pt x="0" y="28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1331" y="2582532"/>
            <a:ext cx="3141164" cy="3469615"/>
          </a:xfrm>
          <a:custGeom>
            <a:avLst/>
            <a:gdLst/>
            <a:ahLst/>
            <a:cxnLst/>
            <a:rect r="r" b="b" t="t" l="l"/>
            <a:pathLst>
              <a:path h="3469615" w="3141164">
                <a:moveTo>
                  <a:pt x="0" y="0"/>
                </a:moveTo>
                <a:lnTo>
                  <a:pt x="3141165" y="0"/>
                </a:lnTo>
                <a:lnTo>
                  <a:pt x="3141165" y="3469615"/>
                </a:lnTo>
                <a:lnTo>
                  <a:pt x="0" y="34696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656297" y="-967397"/>
            <a:ext cx="6676434" cy="4696625"/>
          </a:xfrm>
          <a:custGeom>
            <a:avLst/>
            <a:gdLst/>
            <a:ahLst/>
            <a:cxnLst/>
            <a:rect r="r" b="b" t="t" l="l"/>
            <a:pathLst>
              <a:path h="4696625" w="6676434">
                <a:moveTo>
                  <a:pt x="0" y="0"/>
                </a:moveTo>
                <a:lnTo>
                  <a:pt x="6676435" y="0"/>
                </a:lnTo>
                <a:lnTo>
                  <a:pt x="6676435" y="4696625"/>
                </a:lnTo>
                <a:lnTo>
                  <a:pt x="0" y="469662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368398" y="6454311"/>
            <a:ext cx="3019425" cy="3124200"/>
          </a:xfrm>
          <a:custGeom>
            <a:avLst/>
            <a:gdLst/>
            <a:ahLst/>
            <a:cxnLst/>
            <a:rect r="r" b="b" t="t" l="l"/>
            <a:pathLst>
              <a:path h="3124200" w="3019425">
                <a:moveTo>
                  <a:pt x="0" y="0"/>
                </a:moveTo>
                <a:lnTo>
                  <a:pt x="3019425" y="0"/>
                </a:lnTo>
                <a:lnTo>
                  <a:pt x="3019425" y="3124200"/>
                </a:lnTo>
                <a:lnTo>
                  <a:pt x="0" y="3124200"/>
                </a:lnTo>
                <a:lnTo>
                  <a:pt x="0" y="0"/>
                </a:lnTo>
                <a:close/>
              </a:path>
            </a:pathLst>
          </a:custGeom>
          <a:blipFill>
            <a:blip r:embed="rId8"/>
            <a:stretch>
              <a:fillRect l="0" t="0" r="0" b="0"/>
            </a:stretch>
          </a:blipFill>
        </p:spPr>
      </p:sp>
      <p:grpSp>
        <p:nvGrpSpPr>
          <p:cNvPr name="Group 6" id="6"/>
          <p:cNvGrpSpPr>
            <a:grpSpLocks noChangeAspect="true"/>
          </p:cNvGrpSpPr>
          <p:nvPr/>
        </p:nvGrpSpPr>
        <p:grpSpPr>
          <a:xfrm rot="0">
            <a:off x="122130" y="2650607"/>
            <a:ext cx="3023997" cy="3339760"/>
            <a:chOff x="0" y="0"/>
            <a:chExt cx="3023997" cy="3339757"/>
          </a:xfrm>
        </p:grpSpPr>
        <p:sp>
          <p:nvSpPr>
            <p:cNvPr name="Freeform 7" id="7"/>
            <p:cNvSpPr/>
            <p:nvPr/>
          </p:nvSpPr>
          <p:spPr>
            <a:xfrm flipH="false" flipV="false" rot="0">
              <a:off x="0" y="0"/>
              <a:ext cx="3023997" cy="3339719"/>
            </a:xfrm>
            <a:custGeom>
              <a:avLst/>
              <a:gdLst/>
              <a:ahLst/>
              <a:cxnLst/>
              <a:rect r="r" b="b" t="t" l="l"/>
              <a:pathLst>
                <a:path h="3339719" w="3023997">
                  <a:moveTo>
                    <a:pt x="0" y="3339719"/>
                  </a:moveTo>
                  <a:lnTo>
                    <a:pt x="3023997" y="3339719"/>
                  </a:lnTo>
                  <a:lnTo>
                    <a:pt x="3023997" y="0"/>
                  </a:lnTo>
                  <a:lnTo>
                    <a:pt x="0" y="0"/>
                  </a:lnTo>
                  <a:close/>
                </a:path>
              </a:pathLst>
            </a:custGeom>
            <a:solidFill>
              <a:srgbClr val="000000">
                <a:alpha val="0"/>
              </a:srgbClr>
            </a:solidFill>
          </p:spPr>
        </p:sp>
      </p:grpSp>
      <p:grpSp>
        <p:nvGrpSpPr>
          <p:cNvPr name="Group 8" id="8"/>
          <p:cNvGrpSpPr>
            <a:grpSpLocks noChangeAspect="true"/>
          </p:cNvGrpSpPr>
          <p:nvPr/>
        </p:nvGrpSpPr>
        <p:grpSpPr>
          <a:xfrm rot="0">
            <a:off x="368398" y="6458883"/>
            <a:ext cx="3023997" cy="3121552"/>
            <a:chOff x="0" y="0"/>
            <a:chExt cx="3023997" cy="3121546"/>
          </a:xfrm>
        </p:grpSpPr>
        <p:sp>
          <p:nvSpPr>
            <p:cNvPr name="Freeform 9" id="9"/>
            <p:cNvSpPr/>
            <p:nvPr/>
          </p:nvSpPr>
          <p:spPr>
            <a:xfrm flipH="false" flipV="false" rot="0">
              <a:off x="0" y="0"/>
              <a:ext cx="3023997" cy="3121533"/>
            </a:xfrm>
            <a:custGeom>
              <a:avLst/>
              <a:gdLst/>
              <a:ahLst/>
              <a:cxnLst/>
              <a:rect r="r" b="b" t="t" l="l"/>
              <a:pathLst>
                <a:path h="3121533" w="3023997">
                  <a:moveTo>
                    <a:pt x="0" y="3121533"/>
                  </a:moveTo>
                  <a:lnTo>
                    <a:pt x="3023997" y="3121533"/>
                  </a:lnTo>
                  <a:lnTo>
                    <a:pt x="3023997" y="0"/>
                  </a:lnTo>
                  <a:lnTo>
                    <a:pt x="0" y="0"/>
                  </a:lnTo>
                  <a:close/>
                </a:path>
              </a:pathLst>
            </a:custGeom>
            <a:solidFill>
              <a:srgbClr val="000000">
                <a:alpha val="0"/>
              </a:srgbClr>
            </a:solidFill>
          </p:spPr>
        </p:sp>
      </p:grpSp>
      <p:grpSp>
        <p:nvGrpSpPr>
          <p:cNvPr name="Group 10" id="10"/>
          <p:cNvGrpSpPr>
            <a:grpSpLocks noChangeAspect="true"/>
          </p:cNvGrpSpPr>
          <p:nvPr/>
        </p:nvGrpSpPr>
        <p:grpSpPr>
          <a:xfrm rot="0">
            <a:off x="692448" y="-63503"/>
            <a:ext cx="6933905" cy="5722487"/>
            <a:chOff x="0" y="0"/>
            <a:chExt cx="6933895" cy="5722480"/>
          </a:xfrm>
        </p:grpSpPr>
        <p:sp>
          <p:nvSpPr>
            <p:cNvPr name="Freeform 11" id="11"/>
            <p:cNvSpPr/>
            <p:nvPr/>
          </p:nvSpPr>
          <p:spPr>
            <a:xfrm flipH="false" flipV="false" rot="0">
              <a:off x="3637407" y="63500"/>
              <a:ext cx="3233039" cy="5595493"/>
            </a:xfrm>
            <a:custGeom>
              <a:avLst/>
              <a:gdLst/>
              <a:ahLst/>
              <a:cxnLst/>
              <a:rect r="r" b="b" t="t" l="l"/>
              <a:pathLst>
                <a:path h="5595493" w="3233039">
                  <a:moveTo>
                    <a:pt x="0" y="0"/>
                  </a:moveTo>
                  <a:lnTo>
                    <a:pt x="0" y="5595493"/>
                  </a:lnTo>
                  <a:lnTo>
                    <a:pt x="3233039" y="5595493"/>
                  </a:lnTo>
                  <a:lnTo>
                    <a:pt x="3233039" y="0"/>
                  </a:lnTo>
                  <a:close/>
                </a:path>
              </a:pathLst>
            </a:custGeom>
            <a:solidFill>
              <a:srgbClr val="000000">
                <a:alpha val="0"/>
              </a:srgbClr>
            </a:solidFill>
          </p:spPr>
        </p:sp>
        <p:sp>
          <p:nvSpPr>
            <p:cNvPr name="Freeform 12" id="12"/>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13" id="13"/>
          <p:cNvSpPr txBox="true"/>
          <p:nvPr/>
        </p:nvSpPr>
        <p:spPr>
          <a:xfrm rot="0">
            <a:off x="4026579" y="2937167"/>
            <a:ext cx="3214849" cy="6614131"/>
          </a:xfrm>
          <a:prstGeom prst="rect">
            <a:avLst/>
          </a:prstGeom>
        </p:spPr>
        <p:txBody>
          <a:bodyPr anchor="t" rtlCol="false" tIns="0" lIns="0" bIns="0" rIns="0">
            <a:spAutoFit/>
          </a:bodyPr>
          <a:lstStyle/>
          <a:p>
            <a:pPr algn="l">
              <a:lnSpc>
                <a:spcPts val="3075"/>
              </a:lnSpc>
            </a:pPr>
            <a:r>
              <a:rPr lang="en-US" b="true" sz="1899">
                <a:solidFill>
                  <a:srgbClr val="FFFFFF"/>
                </a:solidFill>
                <a:latin typeface="HK Grotesk Medium"/>
                <a:ea typeface="HK Grotesk Medium"/>
                <a:cs typeface="HK Grotesk Medium"/>
                <a:sym typeface="HK Grotesk Medium"/>
              </a:rPr>
              <a:t>In today's educational landscape, understanding the factors that influence student success is crucial for educators, policymakers, and students themselves. This report aims to explore and analyze a dataset containing student performance data. By examining variables such as demographics, parental education levels, and total scores, we seek to uncover meaningful patterns and correlations that can provide valuable insights into student achievement.</a:t>
            </a:r>
          </a:p>
        </p:txBody>
      </p:sp>
      <p:sp>
        <p:nvSpPr>
          <p:cNvPr name="TextBox 14" id="14"/>
          <p:cNvSpPr txBox="true"/>
          <p:nvPr/>
        </p:nvSpPr>
        <p:spPr>
          <a:xfrm rot="0">
            <a:off x="755952" y="1066305"/>
            <a:ext cx="3936968"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63503"/>
            <a:ext cx="9245156" cy="10177062"/>
          </a:xfrm>
          <a:custGeom>
            <a:avLst/>
            <a:gdLst/>
            <a:ahLst/>
            <a:cxnLst/>
            <a:rect r="r" b="b" t="t" l="l"/>
            <a:pathLst>
              <a:path h="10177062" w="9245156">
                <a:moveTo>
                  <a:pt x="0" y="0"/>
                </a:moveTo>
                <a:lnTo>
                  <a:pt x="9245156" y="0"/>
                </a:lnTo>
                <a:lnTo>
                  <a:pt x="9245156" y="10177062"/>
                </a:lnTo>
                <a:lnTo>
                  <a:pt x="0" y="101770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56028" y="1171080"/>
            <a:ext cx="5172608"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OBJECTIVES OF THE ANALYSIS</a:t>
            </a:r>
          </a:p>
        </p:txBody>
      </p:sp>
      <p:sp>
        <p:nvSpPr>
          <p:cNvPr name="TextBox 4" id="4"/>
          <p:cNvSpPr txBox="true"/>
          <p:nvPr/>
        </p:nvSpPr>
        <p:spPr>
          <a:xfrm rot="0">
            <a:off x="596036" y="2992203"/>
            <a:ext cx="5044535" cy="365970"/>
          </a:xfrm>
          <a:prstGeom prst="rect">
            <a:avLst/>
          </a:prstGeom>
        </p:spPr>
        <p:txBody>
          <a:bodyPr anchor="t" rtlCol="false" tIns="0" lIns="0" bIns="0" rIns="0">
            <a:spAutoFit/>
          </a:bodyPr>
          <a:lstStyle/>
          <a:p>
            <a:pPr algn="l">
              <a:lnSpc>
                <a:spcPts val="2924"/>
              </a:lnSpc>
            </a:pPr>
            <a:r>
              <a:rPr lang="en-US" b="true" sz="2088">
                <a:solidFill>
                  <a:srgbClr val="FFFFFF"/>
                </a:solidFill>
                <a:latin typeface="HK Grotesk Medium"/>
                <a:ea typeface="HK Grotesk Medium"/>
                <a:cs typeface="HK Grotesk Medium"/>
                <a:sym typeface="HK Grotesk Medium"/>
              </a:rPr>
              <a:t>The primary objectives of this analysis are:</a:t>
            </a:r>
          </a:p>
        </p:txBody>
      </p:sp>
      <p:sp>
        <p:nvSpPr>
          <p:cNvPr name="TextBox 5" id="5"/>
          <p:cNvSpPr txBox="true"/>
          <p:nvPr/>
        </p:nvSpPr>
        <p:spPr>
          <a:xfrm rot="0">
            <a:off x="2265693" y="6084665"/>
            <a:ext cx="320040" cy="348825"/>
          </a:xfrm>
          <a:prstGeom prst="rect">
            <a:avLst/>
          </a:prstGeom>
        </p:spPr>
        <p:txBody>
          <a:bodyPr anchor="t" rtlCol="false" tIns="0" lIns="0" bIns="0" rIns="0">
            <a:spAutoFit/>
          </a:bodyPr>
          <a:lstStyle/>
          <a:p>
            <a:pPr algn="l">
              <a:lnSpc>
                <a:spcPts val="2766"/>
              </a:lnSpc>
            </a:pPr>
            <a:r>
              <a:rPr lang="en-US" b="true" sz="1976" spc="177">
                <a:solidFill>
                  <a:srgbClr val="2A3652"/>
                </a:solidFill>
                <a:latin typeface="HK Grotesk Bold"/>
                <a:ea typeface="HK Grotesk Bold"/>
                <a:cs typeface="HK Grotesk Bold"/>
                <a:sym typeface="HK Grotesk Bold"/>
              </a:rPr>
              <a:t>02</a:t>
            </a:r>
          </a:p>
        </p:txBody>
      </p:sp>
      <p:sp>
        <p:nvSpPr>
          <p:cNvPr name="TextBox 6" id="6"/>
          <p:cNvSpPr txBox="true"/>
          <p:nvPr/>
        </p:nvSpPr>
        <p:spPr>
          <a:xfrm rot="0">
            <a:off x="2278847" y="4389406"/>
            <a:ext cx="320040" cy="348825"/>
          </a:xfrm>
          <a:prstGeom prst="rect">
            <a:avLst/>
          </a:prstGeom>
        </p:spPr>
        <p:txBody>
          <a:bodyPr anchor="t" rtlCol="false" tIns="0" lIns="0" bIns="0" rIns="0">
            <a:spAutoFit/>
          </a:bodyPr>
          <a:lstStyle/>
          <a:p>
            <a:pPr algn="l">
              <a:lnSpc>
                <a:spcPts val="2766"/>
              </a:lnSpc>
            </a:pPr>
            <a:r>
              <a:rPr lang="en-US" b="true" sz="1976" spc="177">
                <a:solidFill>
                  <a:srgbClr val="2A3652"/>
                </a:solidFill>
                <a:latin typeface="HK Grotesk Bold"/>
                <a:ea typeface="HK Grotesk Bold"/>
                <a:cs typeface="HK Grotesk Bold"/>
                <a:sym typeface="HK Grotesk Bold"/>
              </a:rPr>
              <a:t>01</a:t>
            </a:r>
          </a:p>
        </p:txBody>
      </p:sp>
      <p:sp>
        <p:nvSpPr>
          <p:cNvPr name="TextBox 7" id="7"/>
          <p:cNvSpPr txBox="true"/>
          <p:nvPr/>
        </p:nvSpPr>
        <p:spPr>
          <a:xfrm rot="0">
            <a:off x="2278847" y="7765304"/>
            <a:ext cx="320040" cy="348825"/>
          </a:xfrm>
          <a:prstGeom prst="rect">
            <a:avLst/>
          </a:prstGeom>
        </p:spPr>
        <p:txBody>
          <a:bodyPr anchor="t" rtlCol="false" tIns="0" lIns="0" bIns="0" rIns="0">
            <a:spAutoFit/>
          </a:bodyPr>
          <a:lstStyle/>
          <a:p>
            <a:pPr algn="l">
              <a:lnSpc>
                <a:spcPts val="2766"/>
              </a:lnSpc>
            </a:pPr>
            <a:r>
              <a:rPr lang="en-US" b="true" sz="1976" spc="177">
                <a:solidFill>
                  <a:srgbClr val="2A3652"/>
                </a:solidFill>
                <a:latin typeface="HK Grotesk Bold"/>
                <a:ea typeface="HK Grotesk Bold"/>
                <a:cs typeface="HK Grotesk Bold"/>
                <a:sym typeface="HK Grotesk Bold"/>
              </a:rPr>
              <a:t>03</a:t>
            </a:r>
          </a:p>
        </p:txBody>
      </p:sp>
      <p:sp>
        <p:nvSpPr>
          <p:cNvPr name="TextBox 8" id="8"/>
          <p:cNvSpPr txBox="true"/>
          <p:nvPr/>
        </p:nvSpPr>
        <p:spPr>
          <a:xfrm rot="0">
            <a:off x="2278847" y="9455468"/>
            <a:ext cx="320040" cy="348825"/>
          </a:xfrm>
          <a:prstGeom prst="rect">
            <a:avLst/>
          </a:prstGeom>
        </p:spPr>
        <p:txBody>
          <a:bodyPr anchor="t" rtlCol="false" tIns="0" lIns="0" bIns="0" rIns="0">
            <a:spAutoFit/>
          </a:bodyPr>
          <a:lstStyle/>
          <a:p>
            <a:pPr algn="l">
              <a:lnSpc>
                <a:spcPts val="2766"/>
              </a:lnSpc>
            </a:pPr>
            <a:r>
              <a:rPr lang="en-US" b="true" sz="1976" spc="177">
                <a:solidFill>
                  <a:srgbClr val="2A3652"/>
                </a:solidFill>
                <a:latin typeface="HK Grotesk Bold"/>
                <a:ea typeface="HK Grotesk Bold"/>
                <a:cs typeface="HK Grotesk Bold"/>
                <a:sym typeface="HK Grotesk Bold"/>
              </a:rPr>
              <a:t>04</a:t>
            </a:r>
          </a:p>
        </p:txBody>
      </p:sp>
      <p:sp>
        <p:nvSpPr>
          <p:cNvPr name="TextBox 9" id="9"/>
          <p:cNvSpPr txBox="true"/>
          <p:nvPr/>
        </p:nvSpPr>
        <p:spPr>
          <a:xfrm rot="0">
            <a:off x="3034436" y="9271416"/>
            <a:ext cx="1837277" cy="904484"/>
          </a:xfrm>
          <a:prstGeom prst="rect">
            <a:avLst/>
          </a:prstGeom>
        </p:spPr>
        <p:txBody>
          <a:bodyPr anchor="t" rtlCol="false" tIns="0" lIns="0" bIns="0" rIns="0">
            <a:spAutoFit/>
          </a:bodyPr>
          <a:lstStyle/>
          <a:p>
            <a:pPr algn="l">
              <a:lnSpc>
                <a:spcPts val="2408"/>
              </a:lnSpc>
            </a:pPr>
            <a:r>
              <a:rPr lang="en-US" b="true" sz="1482">
                <a:solidFill>
                  <a:srgbClr val="FFFFFF"/>
                </a:solidFill>
                <a:latin typeface="HK Grotesk Medium"/>
                <a:ea typeface="HK Grotesk Medium"/>
                <a:cs typeface="HK Grotesk Medium"/>
                <a:sym typeface="HK Grotesk Medium"/>
              </a:rPr>
              <a:t>To provide a base for future, more in-depth analysis.</a:t>
            </a:r>
          </a:p>
        </p:txBody>
      </p:sp>
      <p:sp>
        <p:nvSpPr>
          <p:cNvPr name="TextBox 10" id="10"/>
          <p:cNvSpPr txBox="true"/>
          <p:nvPr/>
        </p:nvSpPr>
        <p:spPr>
          <a:xfrm rot="0">
            <a:off x="3034436" y="6029239"/>
            <a:ext cx="1965836" cy="1210427"/>
          </a:xfrm>
          <a:prstGeom prst="rect">
            <a:avLst/>
          </a:prstGeom>
        </p:spPr>
        <p:txBody>
          <a:bodyPr anchor="t" rtlCol="false" tIns="0" lIns="0" bIns="0" rIns="0">
            <a:spAutoFit/>
          </a:bodyPr>
          <a:lstStyle/>
          <a:p>
            <a:pPr algn="l">
              <a:lnSpc>
                <a:spcPts val="2408"/>
              </a:lnSpc>
            </a:pPr>
            <a:r>
              <a:rPr lang="en-US" b="true" sz="1482">
                <a:solidFill>
                  <a:srgbClr val="FFFFFF"/>
                </a:solidFill>
                <a:latin typeface="HK Grotesk Medium"/>
                <a:ea typeface="HK Grotesk Medium"/>
                <a:cs typeface="HK Grotesk Medium"/>
                <a:sym typeface="HK Grotesk Medium"/>
              </a:rPr>
              <a:t>To investigate potential relationships between various factors and student performance.</a:t>
            </a:r>
          </a:p>
        </p:txBody>
      </p:sp>
      <p:sp>
        <p:nvSpPr>
          <p:cNvPr name="TextBox 11" id="11"/>
          <p:cNvSpPr txBox="true"/>
          <p:nvPr/>
        </p:nvSpPr>
        <p:spPr>
          <a:xfrm rot="0">
            <a:off x="3034436" y="7650328"/>
            <a:ext cx="2468423" cy="1210427"/>
          </a:xfrm>
          <a:prstGeom prst="rect">
            <a:avLst/>
          </a:prstGeom>
        </p:spPr>
        <p:txBody>
          <a:bodyPr anchor="t" rtlCol="false" tIns="0" lIns="0" bIns="0" rIns="0">
            <a:spAutoFit/>
          </a:bodyPr>
          <a:lstStyle/>
          <a:p>
            <a:pPr algn="l">
              <a:lnSpc>
                <a:spcPts val="2408"/>
              </a:lnSpc>
            </a:pPr>
            <a:r>
              <a:rPr lang="en-US" b="true" sz="1482">
                <a:solidFill>
                  <a:srgbClr val="FFFFFF"/>
                </a:solidFill>
                <a:latin typeface="HK Grotesk Medium"/>
                <a:ea typeface="HK Grotesk Medium"/>
                <a:cs typeface="HK Grotesk Medium"/>
                <a:sym typeface="HK Grotesk Medium"/>
              </a:rPr>
              <a:t>To identify any significant trends or disparities that may exist within the student population.</a:t>
            </a:r>
          </a:p>
        </p:txBody>
      </p:sp>
      <p:sp>
        <p:nvSpPr>
          <p:cNvPr name="TextBox 12" id="12"/>
          <p:cNvSpPr txBox="true"/>
          <p:nvPr/>
        </p:nvSpPr>
        <p:spPr>
          <a:xfrm rot="0">
            <a:off x="3034436" y="4408151"/>
            <a:ext cx="2518400" cy="904484"/>
          </a:xfrm>
          <a:prstGeom prst="rect">
            <a:avLst/>
          </a:prstGeom>
        </p:spPr>
        <p:txBody>
          <a:bodyPr anchor="t" rtlCol="false" tIns="0" lIns="0" bIns="0" rIns="0">
            <a:spAutoFit/>
          </a:bodyPr>
          <a:lstStyle/>
          <a:p>
            <a:pPr algn="l">
              <a:lnSpc>
                <a:spcPts val="2408"/>
              </a:lnSpc>
            </a:pPr>
            <a:r>
              <a:rPr lang="en-US" b="true" sz="1482">
                <a:solidFill>
                  <a:srgbClr val="FFFFFF"/>
                </a:solidFill>
                <a:latin typeface="HK Grotesk Medium"/>
                <a:ea typeface="HK Grotesk Medium"/>
                <a:cs typeface="HK Grotesk Medium"/>
                <a:sym typeface="HK Grotesk Medium"/>
              </a:rPr>
              <a:t>To gain a comprehensive overview of the distribution of student scores.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324612" y="5121192"/>
            <a:ext cx="6429889" cy="4485618"/>
          </a:xfrm>
          <a:custGeom>
            <a:avLst/>
            <a:gdLst/>
            <a:ahLst/>
            <a:cxnLst/>
            <a:rect r="r" b="b" t="t" l="l"/>
            <a:pathLst>
              <a:path h="4485618" w="6429889">
                <a:moveTo>
                  <a:pt x="0" y="0"/>
                </a:moveTo>
                <a:lnTo>
                  <a:pt x="6429889" y="0"/>
                </a:lnTo>
                <a:lnTo>
                  <a:pt x="6429889" y="4485618"/>
                </a:lnTo>
                <a:lnTo>
                  <a:pt x="0" y="448561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755952" y="673913"/>
            <a:ext cx="3573904" cy="28575"/>
            <a:chOff x="0" y="0"/>
            <a:chExt cx="3573907" cy="28575"/>
          </a:xfrm>
        </p:grpSpPr>
        <p:sp>
          <p:nvSpPr>
            <p:cNvPr name="Freeform 4" id="4"/>
            <p:cNvSpPr/>
            <p:nvPr/>
          </p:nvSpPr>
          <p:spPr>
            <a:xfrm flipH="false" flipV="false" rot="0">
              <a:off x="0" y="0"/>
              <a:ext cx="3573907" cy="28575"/>
            </a:xfrm>
            <a:custGeom>
              <a:avLst/>
              <a:gdLst/>
              <a:ahLst/>
              <a:cxnLst/>
              <a:rect r="r" b="b" t="t" l="l"/>
              <a:pathLst>
                <a:path h="28575" w="3573907">
                  <a:moveTo>
                    <a:pt x="0" y="0"/>
                  </a:moveTo>
                  <a:lnTo>
                    <a:pt x="3573907" y="9525"/>
                  </a:lnTo>
                  <a:lnTo>
                    <a:pt x="3573907" y="28575"/>
                  </a:lnTo>
                  <a:lnTo>
                    <a:pt x="0" y="19050"/>
                  </a:lnTo>
                  <a:close/>
                </a:path>
              </a:pathLst>
            </a:custGeom>
            <a:solidFill>
              <a:srgbClr val="D2EDFF"/>
            </a:solidFill>
          </p:spPr>
        </p:sp>
      </p:grpSp>
      <p:grpSp>
        <p:nvGrpSpPr>
          <p:cNvPr name="Group 5" id="5"/>
          <p:cNvGrpSpPr>
            <a:grpSpLocks noChangeAspect="true"/>
          </p:cNvGrpSpPr>
          <p:nvPr/>
        </p:nvGrpSpPr>
        <p:grpSpPr>
          <a:xfrm rot="0">
            <a:off x="835857" y="1968637"/>
            <a:ext cx="2224059" cy="28575"/>
            <a:chOff x="0" y="0"/>
            <a:chExt cx="2224062" cy="28575"/>
          </a:xfrm>
        </p:grpSpPr>
        <p:sp>
          <p:nvSpPr>
            <p:cNvPr name="Freeform 6" id="6"/>
            <p:cNvSpPr/>
            <p:nvPr/>
          </p:nvSpPr>
          <p:spPr>
            <a:xfrm flipH="false" flipV="false" rot="0">
              <a:off x="0" y="0"/>
              <a:ext cx="2224024" cy="28575"/>
            </a:xfrm>
            <a:custGeom>
              <a:avLst/>
              <a:gdLst/>
              <a:ahLst/>
              <a:cxnLst/>
              <a:rect r="r" b="b" t="t" l="l"/>
              <a:pathLst>
                <a:path h="28575" w="2224024">
                  <a:moveTo>
                    <a:pt x="127" y="0"/>
                  </a:moveTo>
                  <a:lnTo>
                    <a:pt x="2224024" y="9525"/>
                  </a:lnTo>
                  <a:lnTo>
                    <a:pt x="2223897" y="28575"/>
                  </a:lnTo>
                  <a:lnTo>
                    <a:pt x="0" y="19050"/>
                  </a:lnTo>
                  <a:close/>
                </a:path>
              </a:pathLst>
            </a:custGeom>
            <a:solidFill>
              <a:srgbClr val="80B2E8"/>
            </a:solidFill>
          </p:spPr>
        </p:sp>
      </p:grpSp>
      <p:sp>
        <p:nvSpPr>
          <p:cNvPr name="Freeform 7" id="7"/>
          <p:cNvSpPr/>
          <p:nvPr/>
        </p:nvSpPr>
        <p:spPr>
          <a:xfrm flipH="false" flipV="false" rot="0">
            <a:off x="1324080" y="4984804"/>
            <a:ext cx="4371975" cy="4248150"/>
          </a:xfrm>
          <a:custGeom>
            <a:avLst/>
            <a:gdLst/>
            <a:ahLst/>
            <a:cxnLst/>
            <a:rect r="r" b="b" t="t" l="l"/>
            <a:pathLst>
              <a:path h="4248150" w="4371975">
                <a:moveTo>
                  <a:pt x="0" y="0"/>
                </a:moveTo>
                <a:lnTo>
                  <a:pt x="4371975" y="0"/>
                </a:lnTo>
                <a:lnTo>
                  <a:pt x="4371975" y="4248150"/>
                </a:lnTo>
                <a:lnTo>
                  <a:pt x="0" y="4248150"/>
                </a:lnTo>
                <a:lnTo>
                  <a:pt x="0" y="0"/>
                </a:lnTo>
                <a:close/>
              </a:path>
            </a:pathLst>
          </a:custGeom>
          <a:blipFill>
            <a:blip r:embed="rId4"/>
            <a:stretch>
              <a:fillRect l="0" t="0" r="0" b="0"/>
            </a:stretch>
          </a:blipFill>
        </p:spPr>
      </p:sp>
      <p:grpSp>
        <p:nvGrpSpPr>
          <p:cNvPr name="Group 8" id="8"/>
          <p:cNvGrpSpPr>
            <a:grpSpLocks noChangeAspect="true"/>
          </p:cNvGrpSpPr>
          <p:nvPr/>
        </p:nvGrpSpPr>
        <p:grpSpPr>
          <a:xfrm rot="0">
            <a:off x="755952" y="678485"/>
            <a:ext cx="3573913" cy="28575"/>
            <a:chOff x="0" y="0"/>
            <a:chExt cx="3573907" cy="28575"/>
          </a:xfrm>
        </p:grpSpPr>
        <p:sp>
          <p:nvSpPr>
            <p:cNvPr name="Freeform 9" id="9"/>
            <p:cNvSpPr/>
            <p:nvPr/>
          </p:nvSpPr>
          <p:spPr>
            <a:xfrm flipH="false" flipV="false" rot="0">
              <a:off x="0" y="0"/>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grpSp>
        <p:nvGrpSpPr>
          <p:cNvPr name="Group 10" id="10"/>
          <p:cNvGrpSpPr>
            <a:grpSpLocks noChangeAspect="true"/>
          </p:cNvGrpSpPr>
          <p:nvPr/>
        </p:nvGrpSpPr>
        <p:grpSpPr>
          <a:xfrm rot="0">
            <a:off x="835857" y="1973218"/>
            <a:ext cx="2224059" cy="28575"/>
            <a:chOff x="0" y="0"/>
            <a:chExt cx="2224062" cy="28575"/>
          </a:xfrm>
        </p:grpSpPr>
        <p:sp>
          <p:nvSpPr>
            <p:cNvPr name="Freeform 11" id="11"/>
            <p:cNvSpPr/>
            <p:nvPr/>
          </p:nvSpPr>
          <p:spPr>
            <a:xfrm flipH="false" flipV="false" rot="0">
              <a:off x="0" y="0"/>
              <a:ext cx="2224024" cy="28575"/>
            </a:xfrm>
            <a:custGeom>
              <a:avLst/>
              <a:gdLst/>
              <a:ahLst/>
              <a:cxnLst/>
              <a:rect r="r" b="b" t="t" l="l"/>
              <a:pathLst>
                <a:path h="28575" w="2224024">
                  <a:moveTo>
                    <a:pt x="0" y="28575"/>
                  </a:moveTo>
                  <a:lnTo>
                    <a:pt x="2224024" y="28575"/>
                  </a:lnTo>
                  <a:lnTo>
                    <a:pt x="2224024" y="0"/>
                  </a:lnTo>
                  <a:lnTo>
                    <a:pt x="0" y="0"/>
                  </a:lnTo>
                  <a:close/>
                </a:path>
              </a:pathLst>
            </a:custGeom>
            <a:solidFill>
              <a:srgbClr val="000000">
                <a:alpha val="0"/>
              </a:srgbClr>
            </a:solidFill>
          </p:spPr>
        </p:sp>
      </p:grpSp>
      <p:grpSp>
        <p:nvGrpSpPr>
          <p:cNvPr name="Group 12" id="12"/>
          <p:cNvGrpSpPr>
            <a:grpSpLocks noChangeAspect="true"/>
          </p:cNvGrpSpPr>
          <p:nvPr/>
        </p:nvGrpSpPr>
        <p:grpSpPr>
          <a:xfrm rot="0">
            <a:off x="-63503" y="2843479"/>
            <a:ext cx="7102964" cy="7916589"/>
            <a:chOff x="0" y="0"/>
            <a:chExt cx="7102958" cy="7916596"/>
          </a:xfrm>
        </p:grpSpPr>
        <p:sp>
          <p:nvSpPr>
            <p:cNvPr name="Freeform 13" id="13"/>
            <p:cNvSpPr/>
            <p:nvPr/>
          </p:nvSpPr>
          <p:spPr>
            <a:xfrm flipH="false" flipV="false" rot="0">
              <a:off x="5526913" y="5819902"/>
              <a:ext cx="1507998" cy="1133602"/>
            </a:xfrm>
            <a:custGeom>
              <a:avLst/>
              <a:gdLst/>
              <a:ahLst/>
              <a:cxnLst/>
              <a:rect r="r" b="b" t="t" l="l"/>
              <a:pathLst>
                <a:path h="1133602" w="1507998">
                  <a:moveTo>
                    <a:pt x="1221740" y="176276"/>
                  </a:moveTo>
                  <a:lnTo>
                    <a:pt x="765048" y="176276"/>
                  </a:lnTo>
                  <a:lnTo>
                    <a:pt x="765048" y="0"/>
                  </a:lnTo>
                  <a:cubicBezTo>
                    <a:pt x="940816" y="0"/>
                    <a:pt x="1101090" y="66802"/>
                    <a:pt x="1221740" y="176276"/>
                  </a:cubicBezTo>
                  <a:close/>
                  <a:moveTo>
                    <a:pt x="1436751" y="1058799"/>
                  </a:moveTo>
                  <a:lnTo>
                    <a:pt x="1436751" y="231394"/>
                  </a:lnTo>
                  <a:cubicBezTo>
                    <a:pt x="1436751" y="201041"/>
                    <a:pt x="1412240" y="176530"/>
                    <a:pt x="1381887" y="176530"/>
                  </a:cubicBezTo>
                  <a:lnTo>
                    <a:pt x="126111" y="176530"/>
                  </a:lnTo>
                  <a:cubicBezTo>
                    <a:pt x="95758" y="176530"/>
                    <a:pt x="71247" y="201041"/>
                    <a:pt x="71247" y="231394"/>
                  </a:cubicBezTo>
                  <a:lnTo>
                    <a:pt x="71247" y="1058926"/>
                  </a:lnTo>
                  <a:lnTo>
                    <a:pt x="0" y="1058926"/>
                  </a:lnTo>
                  <a:cubicBezTo>
                    <a:pt x="0" y="1100201"/>
                    <a:pt x="33401" y="1133602"/>
                    <a:pt x="74676" y="1133602"/>
                  </a:cubicBezTo>
                  <a:lnTo>
                    <a:pt x="1433322" y="1133602"/>
                  </a:lnTo>
                  <a:cubicBezTo>
                    <a:pt x="1474597" y="1133602"/>
                    <a:pt x="1507998" y="1100201"/>
                    <a:pt x="1507998" y="1058926"/>
                  </a:cubicBezTo>
                  <a:lnTo>
                    <a:pt x="1436751" y="1058926"/>
                  </a:lnTo>
                  <a:close/>
                </a:path>
              </a:pathLst>
            </a:custGeom>
            <a:solidFill>
              <a:srgbClr val="80B2E8"/>
            </a:solidFill>
          </p:spPr>
        </p:sp>
        <p:sp>
          <p:nvSpPr>
            <p:cNvPr name="Freeform 14" id="14"/>
            <p:cNvSpPr/>
            <p:nvPr/>
          </p:nvSpPr>
          <p:spPr>
            <a:xfrm flipH="false" flipV="false" rot="0">
              <a:off x="5648579" y="6057011"/>
              <a:ext cx="1264539" cy="702819"/>
            </a:xfrm>
            <a:custGeom>
              <a:avLst/>
              <a:gdLst/>
              <a:ahLst/>
              <a:cxnLst/>
              <a:rect r="r" b="b" t="t" l="l"/>
              <a:pathLst>
                <a:path h="702819" w="1264539">
                  <a:moveTo>
                    <a:pt x="1264539" y="127"/>
                  </a:moveTo>
                  <a:lnTo>
                    <a:pt x="1264539" y="702818"/>
                  </a:lnTo>
                  <a:lnTo>
                    <a:pt x="0" y="702818"/>
                  </a:lnTo>
                  <a:lnTo>
                    <a:pt x="0" y="34036"/>
                  </a:lnTo>
                  <a:lnTo>
                    <a:pt x="664210" y="34036"/>
                  </a:lnTo>
                  <a:cubicBezTo>
                    <a:pt x="673354" y="34036"/>
                    <a:pt x="680720" y="26416"/>
                    <a:pt x="680720" y="17018"/>
                  </a:cubicBezTo>
                  <a:cubicBezTo>
                    <a:pt x="680720" y="12319"/>
                    <a:pt x="682624" y="8001"/>
                    <a:pt x="685546" y="4953"/>
                  </a:cubicBezTo>
                  <a:cubicBezTo>
                    <a:pt x="688467" y="1904"/>
                    <a:pt x="692658" y="0"/>
                    <a:pt x="697230" y="0"/>
                  </a:cubicBezTo>
                  <a:lnTo>
                    <a:pt x="1264411" y="0"/>
                  </a:lnTo>
                  <a:lnTo>
                    <a:pt x="1264411" y="0"/>
                  </a:lnTo>
                  <a:close/>
                </a:path>
              </a:pathLst>
            </a:custGeom>
            <a:solidFill>
              <a:srgbClr val="FFFFFF"/>
            </a:solidFill>
          </p:spPr>
        </p:sp>
        <p:sp>
          <p:nvSpPr>
            <p:cNvPr name="Freeform 15" id="15"/>
            <p:cNvSpPr/>
            <p:nvPr/>
          </p:nvSpPr>
          <p:spPr>
            <a:xfrm flipH="false" flipV="false" rot="0">
              <a:off x="5770245" y="6241669"/>
              <a:ext cx="1002284" cy="432308"/>
            </a:xfrm>
            <a:custGeom>
              <a:avLst/>
              <a:gdLst/>
              <a:ahLst/>
              <a:cxnLst/>
              <a:rect r="r" b="b" t="t" l="l"/>
              <a:pathLst>
                <a:path h="432308" w="1002284">
                  <a:moveTo>
                    <a:pt x="457327" y="72517"/>
                  </a:moveTo>
                  <a:lnTo>
                    <a:pt x="457327" y="432308"/>
                  </a:lnTo>
                  <a:lnTo>
                    <a:pt x="0" y="432308"/>
                  </a:lnTo>
                  <a:lnTo>
                    <a:pt x="0" y="335788"/>
                  </a:lnTo>
                  <a:lnTo>
                    <a:pt x="75946" y="335788"/>
                  </a:lnTo>
                  <a:cubicBezTo>
                    <a:pt x="96647" y="335788"/>
                    <a:pt x="113411" y="319024"/>
                    <a:pt x="113411" y="298323"/>
                  </a:cubicBezTo>
                  <a:lnTo>
                    <a:pt x="113411" y="218313"/>
                  </a:lnTo>
                  <a:cubicBezTo>
                    <a:pt x="113411" y="197612"/>
                    <a:pt x="130175" y="180848"/>
                    <a:pt x="150877" y="180848"/>
                  </a:cubicBezTo>
                  <a:lnTo>
                    <a:pt x="266828" y="180848"/>
                  </a:lnTo>
                  <a:cubicBezTo>
                    <a:pt x="287529" y="180848"/>
                    <a:pt x="304293" y="164084"/>
                    <a:pt x="304293" y="143383"/>
                  </a:cubicBezTo>
                  <a:lnTo>
                    <a:pt x="304293" y="72517"/>
                  </a:lnTo>
                  <a:cubicBezTo>
                    <a:pt x="304293" y="51816"/>
                    <a:pt x="321057" y="35052"/>
                    <a:pt x="341758" y="35052"/>
                  </a:cubicBezTo>
                  <a:lnTo>
                    <a:pt x="419990" y="35052"/>
                  </a:lnTo>
                  <a:cubicBezTo>
                    <a:pt x="440691" y="35052"/>
                    <a:pt x="457455" y="51943"/>
                    <a:pt x="457455" y="72517"/>
                  </a:cubicBezTo>
                  <a:close/>
                  <a:moveTo>
                    <a:pt x="613283" y="432308"/>
                  </a:moveTo>
                  <a:lnTo>
                    <a:pt x="710184" y="432308"/>
                  </a:lnTo>
                  <a:lnTo>
                    <a:pt x="710184" y="171704"/>
                  </a:lnTo>
                  <a:lnTo>
                    <a:pt x="613283" y="171704"/>
                  </a:lnTo>
                  <a:lnTo>
                    <a:pt x="613283" y="432308"/>
                  </a:lnTo>
                  <a:close/>
                  <a:moveTo>
                    <a:pt x="759333" y="432308"/>
                  </a:moveTo>
                  <a:lnTo>
                    <a:pt x="856234" y="432308"/>
                  </a:lnTo>
                  <a:lnTo>
                    <a:pt x="856234" y="102870"/>
                  </a:lnTo>
                  <a:lnTo>
                    <a:pt x="759333" y="102870"/>
                  </a:lnTo>
                  <a:lnTo>
                    <a:pt x="759333" y="432308"/>
                  </a:lnTo>
                  <a:close/>
                  <a:moveTo>
                    <a:pt x="905383" y="127"/>
                  </a:moveTo>
                  <a:lnTo>
                    <a:pt x="905383" y="432308"/>
                  </a:lnTo>
                  <a:lnTo>
                    <a:pt x="1002284" y="432308"/>
                  </a:lnTo>
                  <a:lnTo>
                    <a:pt x="1002284" y="0"/>
                  </a:lnTo>
                  <a:lnTo>
                    <a:pt x="905383" y="0"/>
                  </a:lnTo>
                  <a:close/>
                </a:path>
              </a:pathLst>
            </a:custGeom>
            <a:solidFill>
              <a:srgbClr val="D2EDFF"/>
            </a:solidFill>
          </p:spPr>
        </p:sp>
        <p:sp>
          <p:nvSpPr>
            <p:cNvPr name="Freeform 16" id="16"/>
            <p:cNvSpPr/>
            <p:nvPr/>
          </p:nvSpPr>
          <p:spPr>
            <a:xfrm flipH="false" flipV="false" rot="0">
              <a:off x="5770245" y="5881497"/>
              <a:ext cx="889000" cy="1206500"/>
            </a:xfrm>
            <a:custGeom>
              <a:avLst/>
              <a:gdLst/>
              <a:ahLst/>
              <a:cxnLst/>
              <a:rect r="r" b="b" t="t" l="l"/>
              <a:pathLst>
                <a:path h="1206500" w="889000">
                  <a:moveTo>
                    <a:pt x="521716" y="114935"/>
                  </a:moveTo>
                  <a:lnTo>
                    <a:pt x="150368" y="114935"/>
                  </a:lnTo>
                  <a:cubicBezTo>
                    <a:pt x="250825" y="42672"/>
                    <a:pt x="377571" y="0"/>
                    <a:pt x="521716" y="0"/>
                  </a:cubicBezTo>
                  <a:lnTo>
                    <a:pt x="521716" y="114935"/>
                  </a:lnTo>
                  <a:close/>
                  <a:moveTo>
                    <a:pt x="129540" y="1072007"/>
                  </a:moveTo>
                  <a:cubicBezTo>
                    <a:pt x="233172" y="1156081"/>
                    <a:pt x="365379" y="1206501"/>
                    <a:pt x="509270" y="1206501"/>
                  </a:cubicBezTo>
                  <a:cubicBezTo>
                    <a:pt x="653161" y="1206501"/>
                    <a:pt x="785241" y="1156082"/>
                    <a:pt x="889000" y="1072007"/>
                  </a:cubicBezTo>
                  <a:lnTo>
                    <a:pt x="129540" y="1072007"/>
                  </a:lnTo>
                  <a:close/>
                  <a:moveTo>
                    <a:pt x="457327" y="491490"/>
                  </a:moveTo>
                  <a:lnTo>
                    <a:pt x="417576" y="491490"/>
                  </a:lnTo>
                  <a:cubicBezTo>
                    <a:pt x="408686" y="491490"/>
                    <a:pt x="401447" y="498729"/>
                    <a:pt x="401447" y="507619"/>
                  </a:cubicBezTo>
                  <a:lnTo>
                    <a:pt x="401447" y="606806"/>
                  </a:lnTo>
                  <a:cubicBezTo>
                    <a:pt x="401447" y="628396"/>
                    <a:pt x="383921" y="645795"/>
                    <a:pt x="362458" y="645795"/>
                  </a:cubicBezTo>
                  <a:lnTo>
                    <a:pt x="210820" y="645795"/>
                  </a:lnTo>
                  <a:cubicBezTo>
                    <a:pt x="189230" y="645795"/>
                    <a:pt x="171831" y="663321"/>
                    <a:pt x="171831" y="684784"/>
                  </a:cubicBezTo>
                  <a:lnTo>
                    <a:pt x="171831" y="714376"/>
                  </a:lnTo>
                  <a:cubicBezTo>
                    <a:pt x="171831" y="735966"/>
                    <a:pt x="154305" y="753365"/>
                    <a:pt x="132842" y="753365"/>
                  </a:cubicBezTo>
                  <a:lnTo>
                    <a:pt x="0" y="753365"/>
                  </a:lnTo>
                  <a:lnTo>
                    <a:pt x="0" y="792354"/>
                  </a:lnTo>
                  <a:lnTo>
                    <a:pt x="457327" y="794005"/>
                  </a:lnTo>
                  <a:lnTo>
                    <a:pt x="457327" y="491363"/>
                  </a:lnTo>
                  <a:lnTo>
                    <a:pt x="457327" y="491363"/>
                  </a:lnTo>
                  <a:close/>
                </a:path>
              </a:pathLst>
            </a:custGeom>
            <a:solidFill>
              <a:srgbClr val="F6B737"/>
            </a:solidFill>
          </p:spPr>
        </p:sp>
        <p:sp>
          <p:nvSpPr>
            <p:cNvPr name="Freeform 17" id="17"/>
            <p:cNvSpPr/>
            <p:nvPr/>
          </p:nvSpPr>
          <p:spPr>
            <a:xfrm flipH="false" flipV="false" rot="0">
              <a:off x="5522468" y="5815584"/>
              <a:ext cx="1514475" cy="1276096"/>
            </a:xfrm>
            <a:custGeom>
              <a:avLst/>
              <a:gdLst/>
              <a:ahLst/>
              <a:cxnLst/>
              <a:rect r="r" b="b" t="t" l="l"/>
              <a:pathLst>
                <a:path h="1276096" w="1514475">
                  <a:moveTo>
                    <a:pt x="773938" y="8763"/>
                  </a:moveTo>
                  <a:cubicBezTo>
                    <a:pt x="937768" y="9779"/>
                    <a:pt x="1092581" y="68961"/>
                    <a:pt x="1214628" y="176276"/>
                  </a:cubicBezTo>
                  <a:lnTo>
                    <a:pt x="773938" y="176276"/>
                  </a:lnTo>
                  <a:lnTo>
                    <a:pt x="773938" y="61341"/>
                  </a:lnTo>
                  <a:lnTo>
                    <a:pt x="773938" y="8763"/>
                  </a:lnTo>
                  <a:close/>
                  <a:moveTo>
                    <a:pt x="764921" y="70358"/>
                  </a:moveTo>
                  <a:lnTo>
                    <a:pt x="764921" y="176276"/>
                  </a:lnTo>
                  <a:lnTo>
                    <a:pt x="413258" y="176276"/>
                  </a:lnTo>
                  <a:cubicBezTo>
                    <a:pt x="511175" y="109728"/>
                    <a:pt x="631698" y="71120"/>
                    <a:pt x="764921" y="70358"/>
                  </a:cubicBezTo>
                  <a:close/>
                  <a:moveTo>
                    <a:pt x="1339850" y="285623"/>
                  </a:moveTo>
                  <a:lnTo>
                    <a:pt x="1325372" y="300101"/>
                  </a:lnTo>
                  <a:lnTo>
                    <a:pt x="1310894" y="285623"/>
                  </a:lnTo>
                  <a:close/>
                  <a:moveTo>
                    <a:pt x="1304544" y="291973"/>
                  </a:moveTo>
                  <a:lnTo>
                    <a:pt x="1319022" y="306451"/>
                  </a:lnTo>
                  <a:lnTo>
                    <a:pt x="1304544" y="320929"/>
                  </a:lnTo>
                  <a:lnTo>
                    <a:pt x="1304544" y="291973"/>
                  </a:lnTo>
                  <a:close/>
                  <a:moveTo>
                    <a:pt x="1346200" y="291973"/>
                  </a:moveTo>
                  <a:lnTo>
                    <a:pt x="1346200" y="320929"/>
                  </a:lnTo>
                  <a:lnTo>
                    <a:pt x="1331722" y="306451"/>
                  </a:lnTo>
                  <a:lnTo>
                    <a:pt x="1346200" y="291973"/>
                  </a:lnTo>
                  <a:close/>
                  <a:moveTo>
                    <a:pt x="1253490" y="285750"/>
                  </a:moveTo>
                  <a:cubicBezTo>
                    <a:pt x="1264921" y="285750"/>
                    <a:pt x="1274192" y="295021"/>
                    <a:pt x="1274192" y="306451"/>
                  </a:cubicBezTo>
                  <a:cubicBezTo>
                    <a:pt x="1274192" y="317881"/>
                    <a:pt x="1264921" y="327152"/>
                    <a:pt x="1253490" y="327152"/>
                  </a:cubicBezTo>
                  <a:cubicBezTo>
                    <a:pt x="1242060" y="327152"/>
                    <a:pt x="1232789" y="317881"/>
                    <a:pt x="1232789" y="306451"/>
                  </a:cubicBezTo>
                  <a:cubicBezTo>
                    <a:pt x="1232789" y="295021"/>
                    <a:pt x="1242060" y="285750"/>
                    <a:pt x="1253490" y="285750"/>
                  </a:cubicBezTo>
                  <a:close/>
                  <a:moveTo>
                    <a:pt x="1325372" y="312801"/>
                  </a:moveTo>
                  <a:lnTo>
                    <a:pt x="1339850" y="327279"/>
                  </a:lnTo>
                  <a:lnTo>
                    <a:pt x="1310894" y="327279"/>
                  </a:lnTo>
                  <a:lnTo>
                    <a:pt x="1325372" y="312801"/>
                  </a:lnTo>
                  <a:close/>
                  <a:moveTo>
                    <a:pt x="1253490" y="276860"/>
                  </a:moveTo>
                  <a:cubicBezTo>
                    <a:pt x="1237108" y="276860"/>
                    <a:pt x="1223772" y="290195"/>
                    <a:pt x="1223772" y="306578"/>
                  </a:cubicBezTo>
                  <a:cubicBezTo>
                    <a:pt x="1223772" y="322961"/>
                    <a:pt x="1237107" y="336296"/>
                    <a:pt x="1253490" y="336296"/>
                  </a:cubicBezTo>
                  <a:cubicBezTo>
                    <a:pt x="1269874" y="336296"/>
                    <a:pt x="1283209" y="322961"/>
                    <a:pt x="1283209" y="306578"/>
                  </a:cubicBezTo>
                  <a:cubicBezTo>
                    <a:pt x="1283209" y="290195"/>
                    <a:pt x="1269874" y="276860"/>
                    <a:pt x="1253490" y="276860"/>
                  </a:cubicBezTo>
                  <a:close/>
                  <a:moveTo>
                    <a:pt x="1295655" y="276733"/>
                  </a:moveTo>
                  <a:lnTo>
                    <a:pt x="1295655" y="336296"/>
                  </a:lnTo>
                  <a:lnTo>
                    <a:pt x="1355218" y="336296"/>
                  </a:lnTo>
                  <a:lnTo>
                    <a:pt x="1355218" y="276733"/>
                  </a:lnTo>
                  <a:close/>
                  <a:moveTo>
                    <a:pt x="932943" y="602234"/>
                  </a:moveTo>
                  <a:lnTo>
                    <a:pt x="932943" y="853821"/>
                  </a:lnTo>
                  <a:lnTo>
                    <a:pt x="844932" y="853821"/>
                  </a:lnTo>
                  <a:lnTo>
                    <a:pt x="844932" y="602234"/>
                  </a:lnTo>
                  <a:close/>
                  <a:moveTo>
                    <a:pt x="1078993" y="533400"/>
                  </a:moveTo>
                  <a:lnTo>
                    <a:pt x="1078993" y="853821"/>
                  </a:lnTo>
                  <a:lnTo>
                    <a:pt x="990982" y="853821"/>
                  </a:lnTo>
                  <a:lnTo>
                    <a:pt x="990982" y="533400"/>
                  </a:lnTo>
                  <a:close/>
                  <a:moveTo>
                    <a:pt x="1225043" y="430657"/>
                  </a:moveTo>
                  <a:lnTo>
                    <a:pt x="1225043" y="853948"/>
                  </a:lnTo>
                  <a:lnTo>
                    <a:pt x="1137032" y="853948"/>
                  </a:lnTo>
                  <a:lnTo>
                    <a:pt x="1137032" y="430657"/>
                  </a:lnTo>
                  <a:close/>
                  <a:moveTo>
                    <a:pt x="243332" y="393573"/>
                  </a:moveTo>
                  <a:lnTo>
                    <a:pt x="243332" y="862838"/>
                  </a:lnTo>
                  <a:lnTo>
                    <a:pt x="705231" y="862838"/>
                  </a:lnTo>
                  <a:lnTo>
                    <a:pt x="705231" y="853821"/>
                  </a:lnTo>
                  <a:lnTo>
                    <a:pt x="252222" y="853821"/>
                  </a:lnTo>
                  <a:lnTo>
                    <a:pt x="252222" y="393573"/>
                  </a:lnTo>
                  <a:close/>
                  <a:moveTo>
                    <a:pt x="788035" y="393573"/>
                  </a:moveTo>
                  <a:lnTo>
                    <a:pt x="788035" y="862838"/>
                  </a:lnTo>
                  <a:lnTo>
                    <a:pt x="1325372" y="862838"/>
                  </a:lnTo>
                  <a:lnTo>
                    <a:pt x="1325372" y="853821"/>
                  </a:lnTo>
                  <a:lnTo>
                    <a:pt x="1234313" y="853821"/>
                  </a:lnTo>
                  <a:lnTo>
                    <a:pt x="1234313" y="421640"/>
                  </a:lnTo>
                  <a:lnTo>
                    <a:pt x="1128395" y="421640"/>
                  </a:lnTo>
                  <a:lnTo>
                    <a:pt x="1128395" y="853821"/>
                  </a:lnTo>
                  <a:lnTo>
                    <a:pt x="1088263" y="853821"/>
                  </a:lnTo>
                  <a:lnTo>
                    <a:pt x="1088263" y="524510"/>
                  </a:lnTo>
                  <a:lnTo>
                    <a:pt x="982345" y="524510"/>
                  </a:lnTo>
                  <a:lnTo>
                    <a:pt x="982345" y="853948"/>
                  </a:lnTo>
                  <a:lnTo>
                    <a:pt x="942213" y="853948"/>
                  </a:lnTo>
                  <a:lnTo>
                    <a:pt x="942213" y="593344"/>
                  </a:lnTo>
                  <a:lnTo>
                    <a:pt x="836295" y="593344"/>
                  </a:lnTo>
                  <a:lnTo>
                    <a:pt x="836295" y="853948"/>
                  </a:lnTo>
                  <a:lnTo>
                    <a:pt x="797179" y="853948"/>
                  </a:lnTo>
                  <a:lnTo>
                    <a:pt x="797179" y="393573"/>
                  </a:lnTo>
                  <a:close/>
                  <a:moveTo>
                    <a:pt x="1386332" y="245999"/>
                  </a:moveTo>
                  <a:lnTo>
                    <a:pt x="1386332" y="939673"/>
                  </a:lnTo>
                  <a:lnTo>
                    <a:pt x="130683" y="939673"/>
                  </a:lnTo>
                  <a:lnTo>
                    <a:pt x="130683" y="280035"/>
                  </a:lnTo>
                  <a:lnTo>
                    <a:pt x="790448" y="280035"/>
                  </a:lnTo>
                  <a:cubicBezTo>
                    <a:pt x="802005" y="280035"/>
                    <a:pt x="811403" y="270383"/>
                    <a:pt x="811403" y="258572"/>
                  </a:cubicBezTo>
                  <a:cubicBezTo>
                    <a:pt x="811403" y="255143"/>
                    <a:pt x="812673" y="252095"/>
                    <a:pt x="814959" y="249682"/>
                  </a:cubicBezTo>
                  <a:cubicBezTo>
                    <a:pt x="817245" y="247269"/>
                    <a:pt x="820293" y="246126"/>
                    <a:pt x="823468" y="246126"/>
                  </a:cubicBezTo>
                  <a:close/>
                  <a:moveTo>
                    <a:pt x="823722" y="236982"/>
                  </a:moveTo>
                  <a:cubicBezTo>
                    <a:pt x="818134" y="236982"/>
                    <a:pt x="812800" y="239268"/>
                    <a:pt x="808863" y="243332"/>
                  </a:cubicBezTo>
                  <a:cubicBezTo>
                    <a:pt x="804926" y="247396"/>
                    <a:pt x="802767" y="252730"/>
                    <a:pt x="802767" y="258445"/>
                  </a:cubicBezTo>
                  <a:cubicBezTo>
                    <a:pt x="802767" y="265303"/>
                    <a:pt x="797306" y="270891"/>
                    <a:pt x="790702" y="270891"/>
                  </a:cubicBezTo>
                  <a:lnTo>
                    <a:pt x="121666" y="270891"/>
                  </a:lnTo>
                  <a:lnTo>
                    <a:pt x="121666" y="948436"/>
                  </a:lnTo>
                  <a:lnTo>
                    <a:pt x="1395095" y="948436"/>
                  </a:lnTo>
                  <a:lnTo>
                    <a:pt x="1395095" y="236982"/>
                  </a:lnTo>
                  <a:close/>
                  <a:moveTo>
                    <a:pt x="1386332" y="185293"/>
                  </a:moveTo>
                  <a:cubicBezTo>
                    <a:pt x="1414145" y="185293"/>
                    <a:pt x="1436751" y="207899"/>
                    <a:pt x="1436751" y="235712"/>
                  </a:cubicBezTo>
                  <a:lnTo>
                    <a:pt x="1436751" y="1022350"/>
                  </a:lnTo>
                  <a:lnTo>
                    <a:pt x="80137" y="1022350"/>
                  </a:lnTo>
                  <a:lnTo>
                    <a:pt x="80137" y="235712"/>
                  </a:lnTo>
                  <a:cubicBezTo>
                    <a:pt x="80137" y="207899"/>
                    <a:pt x="102743" y="185293"/>
                    <a:pt x="130556" y="185293"/>
                  </a:cubicBezTo>
                  <a:close/>
                  <a:moveTo>
                    <a:pt x="992251" y="1067689"/>
                  </a:moveTo>
                  <a:lnTo>
                    <a:pt x="992251" y="1068451"/>
                  </a:lnTo>
                  <a:cubicBezTo>
                    <a:pt x="992251" y="1079246"/>
                    <a:pt x="983488" y="1088009"/>
                    <a:pt x="972693" y="1088009"/>
                  </a:cubicBezTo>
                  <a:lnTo>
                    <a:pt x="544195" y="1088009"/>
                  </a:lnTo>
                  <a:cubicBezTo>
                    <a:pt x="533400" y="1088009"/>
                    <a:pt x="524637" y="1079246"/>
                    <a:pt x="524637" y="1068451"/>
                  </a:cubicBezTo>
                  <a:lnTo>
                    <a:pt x="524637" y="1067689"/>
                  </a:lnTo>
                  <a:close/>
                  <a:moveTo>
                    <a:pt x="1507870" y="1067689"/>
                  </a:moveTo>
                  <a:cubicBezTo>
                    <a:pt x="1505584" y="1104265"/>
                    <a:pt x="1474977" y="1133348"/>
                    <a:pt x="1437893" y="1133348"/>
                  </a:cubicBezTo>
                  <a:lnTo>
                    <a:pt x="78994" y="1133348"/>
                  </a:lnTo>
                  <a:cubicBezTo>
                    <a:pt x="41783" y="1133348"/>
                    <a:pt x="11303" y="1104265"/>
                    <a:pt x="8890" y="1067689"/>
                  </a:cubicBezTo>
                  <a:lnTo>
                    <a:pt x="515493" y="1067689"/>
                  </a:lnTo>
                  <a:lnTo>
                    <a:pt x="515493" y="1068451"/>
                  </a:lnTo>
                  <a:cubicBezTo>
                    <a:pt x="515493" y="1084199"/>
                    <a:pt x="528320" y="1097026"/>
                    <a:pt x="544068" y="1097026"/>
                  </a:cubicBezTo>
                  <a:lnTo>
                    <a:pt x="972566" y="1097026"/>
                  </a:lnTo>
                  <a:cubicBezTo>
                    <a:pt x="988314" y="1097026"/>
                    <a:pt x="1001141" y="1084199"/>
                    <a:pt x="1001141" y="1068451"/>
                  </a:cubicBezTo>
                  <a:lnTo>
                    <a:pt x="1001141" y="1067689"/>
                  </a:lnTo>
                  <a:close/>
                  <a:moveTo>
                    <a:pt x="1123568" y="1142365"/>
                  </a:moveTo>
                  <a:cubicBezTo>
                    <a:pt x="1022222" y="1221105"/>
                    <a:pt x="895095" y="1267968"/>
                    <a:pt x="757173" y="1267968"/>
                  </a:cubicBezTo>
                  <a:cubicBezTo>
                    <a:pt x="619251" y="1267968"/>
                    <a:pt x="492124" y="1221105"/>
                    <a:pt x="390778" y="1142365"/>
                  </a:cubicBezTo>
                  <a:close/>
                  <a:moveTo>
                    <a:pt x="765047" y="0"/>
                  </a:moveTo>
                  <a:lnTo>
                    <a:pt x="765047" y="61595"/>
                  </a:lnTo>
                  <a:cubicBezTo>
                    <a:pt x="627760" y="62484"/>
                    <a:pt x="500252" y="102616"/>
                    <a:pt x="396874" y="176403"/>
                  </a:cubicBezTo>
                  <a:lnTo>
                    <a:pt x="130556" y="176403"/>
                  </a:lnTo>
                  <a:cubicBezTo>
                    <a:pt x="97790" y="176403"/>
                    <a:pt x="71247" y="203073"/>
                    <a:pt x="71247" y="235712"/>
                  </a:cubicBezTo>
                  <a:lnTo>
                    <a:pt x="71247" y="1058672"/>
                  </a:lnTo>
                  <a:lnTo>
                    <a:pt x="0" y="1058672"/>
                  </a:lnTo>
                  <a:lnTo>
                    <a:pt x="0" y="1063117"/>
                  </a:lnTo>
                  <a:cubicBezTo>
                    <a:pt x="0" y="1106805"/>
                    <a:pt x="35433" y="1142238"/>
                    <a:pt x="79121" y="1142238"/>
                  </a:cubicBezTo>
                  <a:lnTo>
                    <a:pt x="376428" y="1142238"/>
                  </a:lnTo>
                  <a:cubicBezTo>
                    <a:pt x="473837" y="1220851"/>
                    <a:pt x="595884" y="1270000"/>
                    <a:pt x="729107" y="1276096"/>
                  </a:cubicBezTo>
                  <a:lnTo>
                    <a:pt x="785241" y="1276096"/>
                  </a:lnTo>
                  <a:cubicBezTo>
                    <a:pt x="918464" y="1270000"/>
                    <a:pt x="1040511" y="1220851"/>
                    <a:pt x="1137920" y="1142238"/>
                  </a:cubicBezTo>
                  <a:lnTo>
                    <a:pt x="1437894" y="1142238"/>
                  </a:lnTo>
                  <a:cubicBezTo>
                    <a:pt x="1474724" y="1142238"/>
                    <a:pt x="1505712" y="1117092"/>
                    <a:pt x="1514475" y="1083056"/>
                  </a:cubicBezTo>
                  <a:lnTo>
                    <a:pt x="1514475" y="1083056"/>
                  </a:lnTo>
                  <a:lnTo>
                    <a:pt x="1514475" y="1058672"/>
                  </a:lnTo>
                  <a:lnTo>
                    <a:pt x="1445769" y="1058672"/>
                  </a:lnTo>
                  <a:lnTo>
                    <a:pt x="1445769" y="235713"/>
                  </a:lnTo>
                  <a:cubicBezTo>
                    <a:pt x="1445769" y="202947"/>
                    <a:pt x="1419099" y="176403"/>
                    <a:pt x="1386460" y="176403"/>
                  </a:cubicBezTo>
                  <a:lnTo>
                    <a:pt x="1228090" y="176403"/>
                  </a:lnTo>
                  <a:cubicBezTo>
                    <a:pt x="1102106" y="62357"/>
                    <a:pt x="940689" y="0"/>
                    <a:pt x="769493" y="0"/>
                  </a:cubicBezTo>
                  <a:close/>
                </a:path>
              </a:pathLst>
            </a:custGeom>
            <a:solidFill>
              <a:srgbClr val="000000"/>
            </a:solidFill>
          </p:spPr>
        </p:sp>
        <p:sp>
          <p:nvSpPr>
            <p:cNvPr name="Freeform 18" id="18"/>
            <p:cNvSpPr/>
            <p:nvPr/>
          </p:nvSpPr>
          <p:spPr>
            <a:xfrm flipH="false" flipV="false" rot="0">
              <a:off x="63500" y="63500"/>
              <a:ext cx="6534912" cy="7789545"/>
            </a:xfrm>
            <a:custGeom>
              <a:avLst/>
              <a:gdLst/>
              <a:ahLst/>
              <a:cxnLst/>
              <a:rect r="r" b="b" t="t" l="l"/>
              <a:pathLst>
                <a:path h="7789545" w="6534912">
                  <a:moveTo>
                    <a:pt x="0" y="0"/>
                  </a:moveTo>
                  <a:lnTo>
                    <a:pt x="0" y="7789545"/>
                  </a:lnTo>
                  <a:lnTo>
                    <a:pt x="6534912" y="7789545"/>
                  </a:lnTo>
                  <a:lnTo>
                    <a:pt x="6534912" y="0"/>
                  </a:lnTo>
                  <a:close/>
                </a:path>
              </a:pathLst>
            </a:custGeom>
            <a:solidFill>
              <a:srgbClr val="000000">
                <a:alpha val="0"/>
              </a:srgbClr>
            </a:solidFill>
          </p:spPr>
        </p:sp>
        <p:sp>
          <p:nvSpPr>
            <p:cNvPr name="Freeform 19" id="19"/>
            <p:cNvSpPr/>
            <p:nvPr/>
          </p:nvSpPr>
          <p:spPr>
            <a:xfrm flipH="false" flipV="false" rot="0">
              <a:off x="1387602" y="2145919"/>
              <a:ext cx="4372356" cy="4246372"/>
            </a:xfrm>
            <a:custGeom>
              <a:avLst/>
              <a:gdLst/>
              <a:ahLst/>
              <a:cxnLst/>
              <a:rect r="r" b="b" t="t" l="l"/>
              <a:pathLst>
                <a:path h="4246372" w="4372356">
                  <a:moveTo>
                    <a:pt x="0" y="4246372"/>
                  </a:moveTo>
                  <a:lnTo>
                    <a:pt x="4372356" y="4246372"/>
                  </a:lnTo>
                  <a:lnTo>
                    <a:pt x="4372356" y="0"/>
                  </a:lnTo>
                  <a:lnTo>
                    <a:pt x="0" y="0"/>
                  </a:lnTo>
                  <a:close/>
                </a:path>
              </a:pathLst>
            </a:custGeom>
            <a:solidFill>
              <a:srgbClr val="000000">
                <a:alpha val="0"/>
              </a:srgbClr>
            </a:solidFill>
          </p:spPr>
        </p:sp>
        <p:sp>
          <p:nvSpPr>
            <p:cNvPr name="Freeform 20" id="20"/>
            <p:cNvSpPr/>
            <p:nvPr/>
          </p:nvSpPr>
          <p:spPr>
            <a:xfrm flipH="false" flipV="false" rot="0">
              <a:off x="5522341" y="5820029"/>
              <a:ext cx="1517142" cy="1277112"/>
            </a:xfrm>
            <a:custGeom>
              <a:avLst/>
              <a:gdLst/>
              <a:ahLst/>
              <a:cxnLst/>
              <a:rect r="r" b="b" t="t" l="l"/>
              <a:pathLst>
                <a:path h="1277112" w="1517142">
                  <a:moveTo>
                    <a:pt x="0" y="1277112"/>
                  </a:moveTo>
                  <a:lnTo>
                    <a:pt x="1517142" y="1277112"/>
                  </a:lnTo>
                  <a:lnTo>
                    <a:pt x="1517142" y="0"/>
                  </a:lnTo>
                  <a:lnTo>
                    <a:pt x="0" y="0"/>
                  </a:lnTo>
                  <a:close/>
                </a:path>
              </a:pathLst>
            </a:custGeom>
            <a:solidFill>
              <a:srgbClr val="000000">
                <a:alpha val="0"/>
              </a:srgbClr>
            </a:solidFill>
          </p:spPr>
        </p:sp>
      </p:grpSp>
      <p:sp>
        <p:nvSpPr>
          <p:cNvPr name="TextBox 21" id="21"/>
          <p:cNvSpPr txBox="true"/>
          <p:nvPr/>
        </p:nvSpPr>
        <p:spPr>
          <a:xfrm rot="0">
            <a:off x="755952" y="1066305"/>
            <a:ext cx="5209413"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DATASET OVERVIEW</a:t>
            </a:r>
          </a:p>
        </p:txBody>
      </p:sp>
      <p:sp>
        <p:nvSpPr>
          <p:cNvPr name="TextBox 22" id="22"/>
          <p:cNvSpPr txBox="true"/>
          <p:nvPr/>
        </p:nvSpPr>
        <p:spPr>
          <a:xfrm rot="0">
            <a:off x="984542" y="2157613"/>
            <a:ext cx="5152311" cy="1459240"/>
          </a:xfrm>
          <a:prstGeom prst="rect">
            <a:avLst/>
          </a:prstGeom>
        </p:spPr>
        <p:txBody>
          <a:bodyPr anchor="t" rtlCol="false" tIns="0" lIns="0" bIns="0" rIns="0">
            <a:spAutoFit/>
          </a:bodyPr>
          <a:lstStyle/>
          <a:p>
            <a:pPr algn="ctr">
              <a:lnSpc>
                <a:spcPts val="1425"/>
              </a:lnSpc>
            </a:pPr>
            <a:r>
              <a:rPr lang="en-US" b="true" sz="1200" spc="108">
                <a:solidFill>
                  <a:srgbClr val="FFFFFF"/>
                </a:solidFill>
                <a:latin typeface="HK Grotesk Medium"/>
                <a:ea typeface="HK Grotesk Medium"/>
                <a:cs typeface="HK Grotesk Medium"/>
                <a:sym typeface="HK Grotesk Medium"/>
              </a:rPr>
              <a:t>The dataset used in this analysis contains information on 5,000 students, including attributes such as student ID, first name, last name, email, gender, age, department, attendance percentage, midterm score, final score, assignments average, quizzes average, participation score, projects score, total score, grade, study hours per week, extracurricular activities, internet access at home, parent education level, family income level, stress level, and sleep hours per night.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755952" y="673913"/>
            <a:ext cx="3573904" cy="28575"/>
          </a:xfrm>
          <a:custGeom>
            <a:avLst/>
            <a:gdLst/>
            <a:ahLst/>
            <a:cxnLst/>
            <a:rect r="r" b="b" t="t" l="l"/>
            <a:pathLst>
              <a:path h="28575" w="3573904">
                <a:moveTo>
                  <a:pt x="0" y="0"/>
                </a:moveTo>
                <a:lnTo>
                  <a:pt x="3573903" y="0"/>
                </a:lnTo>
                <a:lnTo>
                  <a:pt x="3573903" y="28575"/>
                </a:lnTo>
                <a:lnTo>
                  <a:pt x="0" y="28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56297" y="-967397"/>
            <a:ext cx="6676434" cy="4696625"/>
          </a:xfrm>
          <a:custGeom>
            <a:avLst/>
            <a:gdLst/>
            <a:ahLst/>
            <a:cxnLst/>
            <a:rect r="r" b="b" t="t" l="l"/>
            <a:pathLst>
              <a:path h="4696625" w="6676434">
                <a:moveTo>
                  <a:pt x="0" y="0"/>
                </a:moveTo>
                <a:lnTo>
                  <a:pt x="6676435" y="0"/>
                </a:lnTo>
                <a:lnTo>
                  <a:pt x="6676435" y="4696625"/>
                </a:lnTo>
                <a:lnTo>
                  <a:pt x="0" y="469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44114" y="4468311"/>
            <a:ext cx="4667250" cy="561975"/>
          </a:xfrm>
          <a:custGeom>
            <a:avLst/>
            <a:gdLst/>
            <a:ahLst/>
            <a:cxnLst/>
            <a:rect r="r" b="b" t="t" l="l"/>
            <a:pathLst>
              <a:path h="561975" w="4667250">
                <a:moveTo>
                  <a:pt x="0" y="0"/>
                </a:moveTo>
                <a:lnTo>
                  <a:pt x="4667250" y="0"/>
                </a:lnTo>
                <a:lnTo>
                  <a:pt x="4667250" y="561975"/>
                </a:lnTo>
                <a:lnTo>
                  <a:pt x="0" y="561975"/>
                </a:lnTo>
                <a:lnTo>
                  <a:pt x="0" y="0"/>
                </a:lnTo>
                <a:close/>
              </a:path>
            </a:pathLst>
          </a:custGeom>
          <a:blipFill>
            <a:blip r:embed="rId6"/>
            <a:stretch>
              <a:fillRect l="0" t="0" r="0" b="0"/>
            </a:stretch>
          </a:blipFill>
        </p:spPr>
      </p:sp>
      <p:sp>
        <p:nvSpPr>
          <p:cNvPr name="Freeform 5" id="5"/>
          <p:cNvSpPr/>
          <p:nvPr/>
        </p:nvSpPr>
        <p:spPr>
          <a:xfrm flipH="false" flipV="false" rot="0">
            <a:off x="944166" y="6084551"/>
            <a:ext cx="2609850" cy="3971925"/>
          </a:xfrm>
          <a:custGeom>
            <a:avLst/>
            <a:gdLst/>
            <a:ahLst/>
            <a:cxnLst/>
            <a:rect r="r" b="b" t="t" l="l"/>
            <a:pathLst>
              <a:path h="3971925" w="2609850">
                <a:moveTo>
                  <a:pt x="0" y="0"/>
                </a:moveTo>
                <a:lnTo>
                  <a:pt x="2609850" y="0"/>
                </a:lnTo>
                <a:lnTo>
                  <a:pt x="2609850" y="3971925"/>
                </a:lnTo>
                <a:lnTo>
                  <a:pt x="0" y="3971925"/>
                </a:lnTo>
                <a:lnTo>
                  <a:pt x="0" y="0"/>
                </a:lnTo>
                <a:close/>
              </a:path>
            </a:pathLst>
          </a:custGeom>
          <a:blipFill>
            <a:blip r:embed="rId7"/>
            <a:stretch>
              <a:fillRect l="0" t="0" r="0" b="0"/>
            </a:stretch>
          </a:blipFill>
        </p:spPr>
      </p:sp>
      <p:sp>
        <p:nvSpPr>
          <p:cNvPr name="Freeform 6" id="6"/>
          <p:cNvSpPr/>
          <p:nvPr/>
        </p:nvSpPr>
        <p:spPr>
          <a:xfrm flipH="false" flipV="false" rot="0">
            <a:off x="3617709" y="7501490"/>
            <a:ext cx="3324225" cy="2552700"/>
          </a:xfrm>
          <a:custGeom>
            <a:avLst/>
            <a:gdLst/>
            <a:ahLst/>
            <a:cxnLst/>
            <a:rect r="r" b="b" t="t" l="l"/>
            <a:pathLst>
              <a:path h="2552700" w="3324225">
                <a:moveTo>
                  <a:pt x="0" y="0"/>
                </a:moveTo>
                <a:lnTo>
                  <a:pt x="3324225" y="0"/>
                </a:lnTo>
                <a:lnTo>
                  <a:pt x="3324225" y="2552700"/>
                </a:lnTo>
                <a:lnTo>
                  <a:pt x="0" y="2552700"/>
                </a:lnTo>
                <a:lnTo>
                  <a:pt x="0" y="0"/>
                </a:lnTo>
                <a:close/>
              </a:path>
            </a:pathLst>
          </a:custGeom>
          <a:blipFill>
            <a:blip r:embed="rId8"/>
            <a:stretch>
              <a:fillRect l="0" t="0" r="0" b="0"/>
            </a:stretch>
          </a:blipFill>
        </p:spPr>
      </p:sp>
      <p:sp>
        <p:nvSpPr>
          <p:cNvPr name="Freeform 7" id="7"/>
          <p:cNvSpPr/>
          <p:nvPr/>
        </p:nvSpPr>
        <p:spPr>
          <a:xfrm flipH="false" flipV="false" rot="0">
            <a:off x="4055383" y="2768584"/>
            <a:ext cx="1866900" cy="1457325"/>
          </a:xfrm>
          <a:custGeom>
            <a:avLst/>
            <a:gdLst/>
            <a:ahLst/>
            <a:cxnLst/>
            <a:rect r="r" b="b" t="t" l="l"/>
            <a:pathLst>
              <a:path h="1457325" w="1866900">
                <a:moveTo>
                  <a:pt x="0" y="0"/>
                </a:moveTo>
                <a:lnTo>
                  <a:pt x="1866900" y="0"/>
                </a:lnTo>
                <a:lnTo>
                  <a:pt x="1866900" y="1457325"/>
                </a:lnTo>
                <a:lnTo>
                  <a:pt x="0" y="1457325"/>
                </a:lnTo>
                <a:lnTo>
                  <a:pt x="0" y="0"/>
                </a:lnTo>
                <a:close/>
              </a:path>
            </a:pathLst>
          </a:custGeom>
          <a:blipFill>
            <a:blip r:embed="rId9"/>
            <a:stretch>
              <a:fillRect l="0" t="0" r="0" b="0"/>
            </a:stretch>
          </a:blipFill>
        </p:spPr>
      </p:sp>
      <p:grpSp>
        <p:nvGrpSpPr>
          <p:cNvPr name="Group 8" id="8"/>
          <p:cNvGrpSpPr>
            <a:grpSpLocks noChangeAspect="true"/>
          </p:cNvGrpSpPr>
          <p:nvPr/>
        </p:nvGrpSpPr>
        <p:grpSpPr>
          <a:xfrm rot="0">
            <a:off x="880672" y="6025629"/>
            <a:ext cx="6128737" cy="4098331"/>
            <a:chOff x="0" y="0"/>
            <a:chExt cx="6128741" cy="4098341"/>
          </a:xfrm>
        </p:grpSpPr>
        <p:sp>
          <p:nvSpPr>
            <p:cNvPr name="Freeform 9" id="9"/>
            <p:cNvSpPr/>
            <p:nvPr/>
          </p:nvSpPr>
          <p:spPr>
            <a:xfrm flipH="false" flipV="false" rot="0">
              <a:off x="63500" y="63500"/>
              <a:ext cx="2606167" cy="3971290"/>
            </a:xfrm>
            <a:custGeom>
              <a:avLst/>
              <a:gdLst/>
              <a:ahLst/>
              <a:cxnLst/>
              <a:rect r="r" b="b" t="t" l="l"/>
              <a:pathLst>
                <a:path h="3971290" w="2606167">
                  <a:moveTo>
                    <a:pt x="0" y="3971290"/>
                  </a:moveTo>
                  <a:lnTo>
                    <a:pt x="2606167" y="3971290"/>
                  </a:lnTo>
                  <a:lnTo>
                    <a:pt x="2606167" y="0"/>
                  </a:lnTo>
                  <a:lnTo>
                    <a:pt x="0" y="0"/>
                  </a:lnTo>
                  <a:close/>
                </a:path>
              </a:pathLst>
            </a:custGeom>
            <a:solidFill>
              <a:srgbClr val="000000">
                <a:alpha val="0"/>
              </a:srgbClr>
            </a:solidFill>
          </p:spPr>
        </p:sp>
        <p:sp>
          <p:nvSpPr>
            <p:cNvPr name="Freeform 10" id="10"/>
            <p:cNvSpPr/>
            <p:nvPr/>
          </p:nvSpPr>
          <p:spPr>
            <a:xfrm flipH="false" flipV="false" rot="0">
              <a:off x="2737104" y="1480439"/>
              <a:ext cx="3328162" cy="2554351"/>
            </a:xfrm>
            <a:custGeom>
              <a:avLst/>
              <a:gdLst/>
              <a:ahLst/>
              <a:cxnLst/>
              <a:rect r="r" b="b" t="t" l="l"/>
              <a:pathLst>
                <a:path h="2554351" w="3328162">
                  <a:moveTo>
                    <a:pt x="0" y="2554351"/>
                  </a:moveTo>
                  <a:lnTo>
                    <a:pt x="3328162" y="2554351"/>
                  </a:lnTo>
                  <a:lnTo>
                    <a:pt x="3328162" y="0"/>
                  </a:lnTo>
                  <a:lnTo>
                    <a:pt x="0" y="0"/>
                  </a:lnTo>
                  <a:close/>
                </a:path>
              </a:pathLst>
            </a:custGeom>
            <a:solidFill>
              <a:srgbClr val="000000">
                <a:alpha val="0"/>
              </a:srgbClr>
            </a:solidFill>
          </p:spPr>
        </p:sp>
      </p:grpSp>
      <p:grpSp>
        <p:nvGrpSpPr>
          <p:cNvPr name="Group 11" id="11"/>
          <p:cNvGrpSpPr>
            <a:grpSpLocks noChangeAspect="true"/>
          </p:cNvGrpSpPr>
          <p:nvPr/>
        </p:nvGrpSpPr>
        <p:grpSpPr>
          <a:xfrm rot="0">
            <a:off x="692448" y="-63503"/>
            <a:ext cx="6933905" cy="5722487"/>
            <a:chOff x="0" y="0"/>
            <a:chExt cx="6933895" cy="5722480"/>
          </a:xfrm>
        </p:grpSpPr>
        <p:sp>
          <p:nvSpPr>
            <p:cNvPr name="Freeform 12" id="12"/>
            <p:cNvSpPr/>
            <p:nvPr/>
          </p:nvSpPr>
          <p:spPr>
            <a:xfrm flipH="false" flipV="false" rot="0">
              <a:off x="3637407" y="63500"/>
              <a:ext cx="3233039" cy="5595493"/>
            </a:xfrm>
            <a:custGeom>
              <a:avLst/>
              <a:gdLst/>
              <a:ahLst/>
              <a:cxnLst/>
              <a:rect r="r" b="b" t="t" l="l"/>
              <a:pathLst>
                <a:path h="5595493" w="3233039">
                  <a:moveTo>
                    <a:pt x="0" y="0"/>
                  </a:moveTo>
                  <a:lnTo>
                    <a:pt x="0" y="5595493"/>
                  </a:lnTo>
                  <a:lnTo>
                    <a:pt x="3233039" y="5595493"/>
                  </a:lnTo>
                  <a:lnTo>
                    <a:pt x="3233039" y="0"/>
                  </a:lnTo>
                  <a:close/>
                </a:path>
              </a:pathLst>
            </a:custGeom>
            <a:solidFill>
              <a:srgbClr val="000000">
                <a:alpha val="0"/>
              </a:srgbClr>
            </a:solidFill>
          </p:spPr>
        </p:sp>
        <p:sp>
          <p:nvSpPr>
            <p:cNvPr name="Freeform 13" id="13"/>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4" id="14"/>
            <p:cNvSpPr/>
            <p:nvPr/>
          </p:nvSpPr>
          <p:spPr>
            <a:xfrm flipH="false" flipV="false" rot="0">
              <a:off x="3362960" y="2836672"/>
              <a:ext cx="1870202" cy="1461008"/>
            </a:xfrm>
            <a:custGeom>
              <a:avLst/>
              <a:gdLst/>
              <a:ahLst/>
              <a:cxnLst/>
              <a:rect r="r" b="b" t="t" l="l"/>
              <a:pathLst>
                <a:path h="1461008" w="1870202">
                  <a:moveTo>
                    <a:pt x="0" y="1461008"/>
                  </a:moveTo>
                  <a:lnTo>
                    <a:pt x="1870202" y="1461008"/>
                  </a:lnTo>
                  <a:lnTo>
                    <a:pt x="1870202" y="0"/>
                  </a:lnTo>
                  <a:lnTo>
                    <a:pt x="0" y="0"/>
                  </a:lnTo>
                  <a:close/>
                </a:path>
              </a:pathLst>
            </a:custGeom>
            <a:solidFill>
              <a:srgbClr val="000000">
                <a:alpha val="0"/>
              </a:srgbClr>
            </a:solidFill>
          </p:spPr>
        </p:sp>
        <p:sp>
          <p:nvSpPr>
            <p:cNvPr name="Freeform 15" id="15"/>
            <p:cNvSpPr/>
            <p:nvPr/>
          </p:nvSpPr>
          <p:spPr>
            <a:xfrm flipH="false" flipV="false" rot="0">
              <a:off x="751713" y="4536440"/>
              <a:ext cx="4671695" cy="560578"/>
            </a:xfrm>
            <a:custGeom>
              <a:avLst/>
              <a:gdLst/>
              <a:ahLst/>
              <a:cxnLst/>
              <a:rect r="r" b="b" t="t" l="l"/>
              <a:pathLst>
                <a:path h="560578" w="4671695">
                  <a:moveTo>
                    <a:pt x="0" y="560578"/>
                  </a:moveTo>
                  <a:lnTo>
                    <a:pt x="4671695" y="560578"/>
                  </a:lnTo>
                  <a:lnTo>
                    <a:pt x="4671695" y="0"/>
                  </a:lnTo>
                  <a:lnTo>
                    <a:pt x="0" y="0"/>
                  </a:lnTo>
                  <a:close/>
                </a:path>
              </a:pathLst>
            </a:custGeom>
            <a:solidFill>
              <a:srgbClr val="000000">
                <a:alpha val="0"/>
              </a:srgbClr>
            </a:solidFill>
          </p:spPr>
        </p:sp>
      </p:grpSp>
      <p:sp>
        <p:nvSpPr>
          <p:cNvPr name="TextBox 16" id="16"/>
          <p:cNvSpPr txBox="true"/>
          <p:nvPr/>
        </p:nvSpPr>
        <p:spPr>
          <a:xfrm rot="0">
            <a:off x="755952" y="1171080"/>
            <a:ext cx="5386140" cy="1860852"/>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DATA CLEANING AND PREPROCESSING</a:t>
            </a:r>
          </a:p>
          <a:p>
            <a:pPr algn="l">
              <a:lnSpc>
                <a:spcPts val="2659"/>
              </a:lnSpc>
            </a:pPr>
            <a:r>
              <a:rPr lang="en-US" b="true" sz="1899">
                <a:solidFill>
                  <a:srgbClr val="FFFFFF"/>
                </a:solidFill>
                <a:latin typeface="HK Grotesk Medium"/>
                <a:ea typeface="HK Grotesk Medium"/>
                <a:cs typeface="HK Grotesk Medium"/>
                <a:sym typeface="HK Grotesk Medium"/>
              </a:rPr>
              <a:t>1-Loading the Dataset</a:t>
            </a:r>
          </a:p>
        </p:txBody>
      </p:sp>
      <p:sp>
        <p:nvSpPr>
          <p:cNvPr name="TextBox 17" id="17"/>
          <p:cNvSpPr txBox="true"/>
          <p:nvPr/>
        </p:nvSpPr>
        <p:spPr>
          <a:xfrm rot="0">
            <a:off x="3779996" y="5521214"/>
            <a:ext cx="2866739" cy="352358"/>
          </a:xfrm>
          <a:prstGeom prst="rect">
            <a:avLst/>
          </a:prstGeom>
        </p:spPr>
        <p:txBody>
          <a:bodyPr anchor="t" rtlCol="false" tIns="0" lIns="0" bIns="0" rIns="0">
            <a:spAutoFit/>
          </a:bodyPr>
          <a:lstStyle/>
          <a:p>
            <a:pPr algn="l">
              <a:lnSpc>
                <a:spcPts val="2799"/>
              </a:lnSpc>
            </a:pPr>
            <a:r>
              <a:rPr lang="en-US" b="true" sz="1999">
                <a:solidFill>
                  <a:srgbClr val="FFFFFF"/>
                </a:solidFill>
                <a:latin typeface="HK Grotesk Medium"/>
                <a:ea typeface="HK Grotesk Medium"/>
                <a:cs typeface="HK Grotesk Medium"/>
                <a:sym typeface="HK Grotesk Medium"/>
              </a:rPr>
              <a:t>2-Initial Data Exploration</a:t>
            </a:r>
          </a:p>
        </p:txBody>
      </p:sp>
      <p:sp>
        <p:nvSpPr>
          <p:cNvPr name="TextBox 18" id="18"/>
          <p:cNvSpPr txBox="true"/>
          <p:nvPr/>
        </p:nvSpPr>
        <p:spPr>
          <a:xfrm rot="0">
            <a:off x="1010555" y="3104378"/>
            <a:ext cx="2181454" cy="1097290"/>
          </a:xfrm>
          <a:prstGeom prst="rect">
            <a:avLst/>
          </a:prstGeom>
        </p:spPr>
        <p:txBody>
          <a:bodyPr anchor="t" rtlCol="false" tIns="0" lIns="0" bIns="0" rIns="0">
            <a:spAutoFit/>
          </a:bodyPr>
          <a:lstStyle/>
          <a:p>
            <a:pPr algn="ctr">
              <a:lnSpc>
                <a:spcPts val="1425"/>
              </a:lnSpc>
            </a:pPr>
            <a:r>
              <a:rPr lang="en-US" b="true" sz="1200" spc="108">
                <a:solidFill>
                  <a:srgbClr val="FFFFFF"/>
                </a:solidFill>
                <a:latin typeface="HK Grotesk Medium"/>
                <a:ea typeface="HK Grotesk Medium"/>
                <a:cs typeface="HK Grotesk Medium"/>
                <a:sym typeface="HK Grotesk Medium"/>
              </a:rPr>
              <a:t>The dataset was loaded using the Pandas library in Python. The initial rows of the dataset were inspected to understand its structure and content.</a:t>
            </a:r>
          </a:p>
        </p:txBody>
      </p:sp>
      <p:sp>
        <p:nvSpPr>
          <p:cNvPr name="TextBox 19" id="19"/>
          <p:cNvSpPr txBox="true"/>
          <p:nvPr/>
        </p:nvSpPr>
        <p:spPr>
          <a:xfrm rot="0">
            <a:off x="3804304" y="6274860"/>
            <a:ext cx="3014043" cy="1097290"/>
          </a:xfrm>
          <a:prstGeom prst="rect">
            <a:avLst/>
          </a:prstGeom>
        </p:spPr>
        <p:txBody>
          <a:bodyPr anchor="t" rtlCol="false" tIns="0" lIns="0" bIns="0" rIns="0">
            <a:spAutoFit/>
          </a:bodyPr>
          <a:lstStyle/>
          <a:p>
            <a:pPr algn="ctr">
              <a:lnSpc>
                <a:spcPts val="1425"/>
              </a:lnSpc>
            </a:pPr>
            <a:r>
              <a:rPr lang="en-US" b="true" sz="1200" spc="108">
                <a:solidFill>
                  <a:srgbClr val="FFFFFF"/>
                </a:solidFill>
                <a:latin typeface="HK Grotesk Medium"/>
                <a:ea typeface="HK Grotesk Medium"/>
                <a:cs typeface="HK Grotesk Medium"/>
                <a:sym typeface="HK Grotesk Medium"/>
              </a:rPr>
              <a:t>Basic information about the dataset, such as the number of entries, data types, and missing values, was examined. Descriptive statistics were also generated to understand the distribution of numerical variables.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755952" y="673913"/>
            <a:ext cx="3573904" cy="28575"/>
          </a:xfrm>
          <a:custGeom>
            <a:avLst/>
            <a:gdLst/>
            <a:ahLst/>
            <a:cxnLst/>
            <a:rect r="r" b="b" t="t" l="l"/>
            <a:pathLst>
              <a:path h="28575" w="3573904">
                <a:moveTo>
                  <a:pt x="0" y="0"/>
                </a:moveTo>
                <a:lnTo>
                  <a:pt x="3573903" y="0"/>
                </a:lnTo>
                <a:lnTo>
                  <a:pt x="3573903" y="28575"/>
                </a:lnTo>
                <a:lnTo>
                  <a:pt x="0" y="28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56297" y="-967397"/>
            <a:ext cx="6676434" cy="4696625"/>
          </a:xfrm>
          <a:custGeom>
            <a:avLst/>
            <a:gdLst/>
            <a:ahLst/>
            <a:cxnLst/>
            <a:rect r="r" b="b" t="t" l="l"/>
            <a:pathLst>
              <a:path h="4696625" w="6676434">
                <a:moveTo>
                  <a:pt x="0" y="0"/>
                </a:moveTo>
                <a:lnTo>
                  <a:pt x="6676435" y="0"/>
                </a:lnTo>
                <a:lnTo>
                  <a:pt x="6676435" y="4696625"/>
                </a:lnTo>
                <a:lnTo>
                  <a:pt x="0" y="469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494313" y="6600444"/>
            <a:ext cx="3857625" cy="3048000"/>
          </a:xfrm>
          <a:custGeom>
            <a:avLst/>
            <a:gdLst/>
            <a:ahLst/>
            <a:cxnLst/>
            <a:rect r="r" b="b" t="t" l="l"/>
            <a:pathLst>
              <a:path h="3048000" w="3857625">
                <a:moveTo>
                  <a:pt x="0" y="0"/>
                </a:moveTo>
                <a:lnTo>
                  <a:pt x="3857625" y="0"/>
                </a:lnTo>
                <a:lnTo>
                  <a:pt x="3857625" y="3048000"/>
                </a:lnTo>
                <a:lnTo>
                  <a:pt x="0" y="3048000"/>
                </a:lnTo>
                <a:lnTo>
                  <a:pt x="0" y="0"/>
                </a:lnTo>
                <a:close/>
              </a:path>
            </a:pathLst>
          </a:custGeom>
          <a:blipFill>
            <a:blip r:embed="rId6"/>
            <a:stretch>
              <a:fillRect l="0" t="0" r="0" b="0"/>
            </a:stretch>
          </a:blipFill>
        </p:spPr>
      </p:sp>
      <p:grpSp>
        <p:nvGrpSpPr>
          <p:cNvPr name="Group 5" id="5"/>
          <p:cNvGrpSpPr>
            <a:grpSpLocks noChangeAspect="true"/>
          </p:cNvGrpSpPr>
          <p:nvPr/>
        </p:nvGrpSpPr>
        <p:grpSpPr>
          <a:xfrm rot="0">
            <a:off x="692448" y="-63503"/>
            <a:ext cx="6933905" cy="5722487"/>
            <a:chOff x="0" y="0"/>
            <a:chExt cx="6933895" cy="5722480"/>
          </a:xfrm>
        </p:grpSpPr>
        <p:sp>
          <p:nvSpPr>
            <p:cNvPr name="Freeform 6" id="6"/>
            <p:cNvSpPr/>
            <p:nvPr/>
          </p:nvSpPr>
          <p:spPr>
            <a:xfrm flipH="false" flipV="false" rot="0">
              <a:off x="3637407" y="63500"/>
              <a:ext cx="3233039" cy="5595493"/>
            </a:xfrm>
            <a:custGeom>
              <a:avLst/>
              <a:gdLst/>
              <a:ahLst/>
              <a:cxnLst/>
              <a:rect r="r" b="b" t="t" l="l"/>
              <a:pathLst>
                <a:path h="5595493" w="3233039">
                  <a:moveTo>
                    <a:pt x="0" y="0"/>
                  </a:moveTo>
                  <a:lnTo>
                    <a:pt x="0" y="5595493"/>
                  </a:lnTo>
                  <a:lnTo>
                    <a:pt x="3233039" y="5595493"/>
                  </a:lnTo>
                  <a:lnTo>
                    <a:pt x="3233039" y="0"/>
                  </a:lnTo>
                  <a:close/>
                </a:path>
              </a:pathLst>
            </a:custGeom>
            <a:solidFill>
              <a:srgbClr val="000000">
                <a:alpha val="0"/>
              </a:srgbClr>
            </a:solidFill>
          </p:spPr>
        </p:sp>
        <p:sp>
          <p:nvSpPr>
            <p:cNvPr name="Freeform 7" id="7"/>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grpSp>
        <p:nvGrpSpPr>
          <p:cNvPr name="Group 8" id="8"/>
          <p:cNvGrpSpPr>
            <a:grpSpLocks noChangeAspect="true"/>
          </p:cNvGrpSpPr>
          <p:nvPr/>
        </p:nvGrpSpPr>
        <p:grpSpPr>
          <a:xfrm rot="0">
            <a:off x="3430810" y="5752500"/>
            <a:ext cx="3983526" cy="3961047"/>
            <a:chOff x="0" y="0"/>
            <a:chExt cx="3983533" cy="3961054"/>
          </a:xfrm>
        </p:grpSpPr>
        <p:sp>
          <p:nvSpPr>
            <p:cNvPr name="Freeform 9" id="9"/>
            <p:cNvSpPr/>
            <p:nvPr/>
          </p:nvSpPr>
          <p:spPr>
            <a:xfrm flipH="false" flipV="false" rot="0">
              <a:off x="3024632" y="63373"/>
              <a:ext cx="363093" cy="724789"/>
            </a:xfrm>
            <a:custGeom>
              <a:avLst/>
              <a:gdLst/>
              <a:ahLst/>
              <a:cxnLst/>
              <a:rect r="r" b="b" t="t" l="l"/>
              <a:pathLst>
                <a:path h="724789" w="363093">
                  <a:moveTo>
                    <a:pt x="146939" y="129159"/>
                  </a:moveTo>
                  <a:cubicBezTo>
                    <a:pt x="167132" y="129159"/>
                    <a:pt x="187198" y="141351"/>
                    <a:pt x="192151" y="161671"/>
                  </a:cubicBezTo>
                  <a:cubicBezTo>
                    <a:pt x="194310" y="168148"/>
                    <a:pt x="195834" y="174625"/>
                    <a:pt x="196723" y="181356"/>
                  </a:cubicBezTo>
                  <a:lnTo>
                    <a:pt x="196723" y="181356"/>
                  </a:lnTo>
                  <a:cubicBezTo>
                    <a:pt x="193929" y="192151"/>
                    <a:pt x="188595" y="201676"/>
                    <a:pt x="180975" y="209804"/>
                  </a:cubicBezTo>
                  <a:cubicBezTo>
                    <a:pt x="173482" y="216408"/>
                    <a:pt x="163703" y="219202"/>
                    <a:pt x="154305" y="221869"/>
                  </a:cubicBezTo>
                  <a:cubicBezTo>
                    <a:pt x="144272" y="226314"/>
                    <a:pt x="133731" y="228854"/>
                    <a:pt x="122809" y="229362"/>
                  </a:cubicBezTo>
                  <a:cubicBezTo>
                    <a:pt x="122301" y="229362"/>
                    <a:pt x="121666" y="229362"/>
                    <a:pt x="121158" y="229362"/>
                  </a:cubicBezTo>
                  <a:cubicBezTo>
                    <a:pt x="118364" y="229362"/>
                    <a:pt x="115697" y="229108"/>
                    <a:pt x="112903" y="228600"/>
                  </a:cubicBezTo>
                  <a:cubicBezTo>
                    <a:pt x="107950" y="197866"/>
                    <a:pt x="103886" y="165608"/>
                    <a:pt x="105791" y="133477"/>
                  </a:cubicBezTo>
                  <a:cubicBezTo>
                    <a:pt x="118237" y="128905"/>
                    <a:pt x="131191" y="130810"/>
                    <a:pt x="144145" y="129159"/>
                  </a:cubicBezTo>
                  <a:cubicBezTo>
                    <a:pt x="145161" y="129159"/>
                    <a:pt x="146050" y="129032"/>
                    <a:pt x="147066" y="129032"/>
                  </a:cubicBezTo>
                  <a:close/>
                  <a:moveTo>
                    <a:pt x="173228" y="477901"/>
                  </a:moveTo>
                  <a:cubicBezTo>
                    <a:pt x="185166" y="477901"/>
                    <a:pt x="196723" y="480314"/>
                    <a:pt x="207137" y="486918"/>
                  </a:cubicBezTo>
                  <a:cubicBezTo>
                    <a:pt x="230378" y="504825"/>
                    <a:pt x="234442" y="541782"/>
                    <a:pt x="212725" y="562737"/>
                  </a:cubicBezTo>
                  <a:cubicBezTo>
                    <a:pt x="194691" y="580009"/>
                    <a:pt x="170053" y="583311"/>
                    <a:pt x="146685" y="588010"/>
                  </a:cubicBezTo>
                  <a:cubicBezTo>
                    <a:pt x="140970" y="586994"/>
                    <a:pt x="135255" y="586486"/>
                    <a:pt x="129540" y="586486"/>
                  </a:cubicBezTo>
                  <a:cubicBezTo>
                    <a:pt x="126365" y="586486"/>
                    <a:pt x="123190" y="586613"/>
                    <a:pt x="120015" y="586994"/>
                  </a:cubicBezTo>
                  <a:cubicBezTo>
                    <a:pt x="119126" y="577977"/>
                    <a:pt x="121031" y="568960"/>
                    <a:pt x="118110" y="560070"/>
                  </a:cubicBezTo>
                  <a:cubicBezTo>
                    <a:pt x="117602" y="557911"/>
                    <a:pt x="117348" y="555625"/>
                    <a:pt x="117221" y="553466"/>
                  </a:cubicBezTo>
                  <a:cubicBezTo>
                    <a:pt x="116967" y="531749"/>
                    <a:pt x="114300" y="510540"/>
                    <a:pt x="113792" y="488696"/>
                  </a:cubicBezTo>
                  <a:cubicBezTo>
                    <a:pt x="132461" y="484632"/>
                    <a:pt x="153416" y="477901"/>
                    <a:pt x="173355" y="477901"/>
                  </a:cubicBezTo>
                  <a:close/>
                  <a:moveTo>
                    <a:pt x="108204" y="127"/>
                  </a:moveTo>
                  <a:cubicBezTo>
                    <a:pt x="103632" y="127"/>
                    <a:pt x="99187" y="381"/>
                    <a:pt x="94615" y="1143"/>
                  </a:cubicBezTo>
                  <a:cubicBezTo>
                    <a:pt x="71374" y="4699"/>
                    <a:pt x="49403" y="11938"/>
                    <a:pt x="28829" y="22987"/>
                  </a:cubicBezTo>
                  <a:cubicBezTo>
                    <a:pt x="23749" y="25781"/>
                    <a:pt x="18923" y="28829"/>
                    <a:pt x="14097" y="31877"/>
                  </a:cubicBezTo>
                  <a:cubicBezTo>
                    <a:pt x="8763" y="35179"/>
                    <a:pt x="1524" y="38354"/>
                    <a:pt x="762" y="45339"/>
                  </a:cubicBezTo>
                  <a:cubicBezTo>
                    <a:pt x="635" y="47498"/>
                    <a:pt x="1270" y="49403"/>
                    <a:pt x="2794" y="50927"/>
                  </a:cubicBezTo>
                  <a:cubicBezTo>
                    <a:pt x="0" y="69342"/>
                    <a:pt x="5080" y="101346"/>
                    <a:pt x="3683" y="110871"/>
                  </a:cubicBezTo>
                  <a:cubicBezTo>
                    <a:pt x="3048" y="167005"/>
                    <a:pt x="1905" y="223393"/>
                    <a:pt x="6858" y="279400"/>
                  </a:cubicBezTo>
                  <a:cubicBezTo>
                    <a:pt x="9144" y="298450"/>
                    <a:pt x="6731" y="317627"/>
                    <a:pt x="7874" y="336804"/>
                  </a:cubicBezTo>
                  <a:cubicBezTo>
                    <a:pt x="8763" y="348615"/>
                    <a:pt x="9652" y="360172"/>
                    <a:pt x="9525" y="371983"/>
                  </a:cubicBezTo>
                  <a:cubicBezTo>
                    <a:pt x="8001" y="402717"/>
                    <a:pt x="8382" y="433324"/>
                    <a:pt x="10668" y="464058"/>
                  </a:cubicBezTo>
                  <a:cubicBezTo>
                    <a:pt x="8763" y="501015"/>
                    <a:pt x="3048" y="537845"/>
                    <a:pt x="2794" y="574929"/>
                  </a:cubicBezTo>
                  <a:cubicBezTo>
                    <a:pt x="4699" y="608330"/>
                    <a:pt x="1397" y="641604"/>
                    <a:pt x="2540" y="675005"/>
                  </a:cubicBezTo>
                  <a:cubicBezTo>
                    <a:pt x="3175" y="681228"/>
                    <a:pt x="2286" y="688213"/>
                    <a:pt x="4318" y="694182"/>
                  </a:cubicBezTo>
                  <a:cubicBezTo>
                    <a:pt x="4572" y="695833"/>
                    <a:pt x="4953" y="697484"/>
                    <a:pt x="5461" y="699135"/>
                  </a:cubicBezTo>
                  <a:cubicBezTo>
                    <a:pt x="7112" y="704215"/>
                    <a:pt x="6604" y="710057"/>
                    <a:pt x="11049" y="713994"/>
                  </a:cubicBezTo>
                  <a:cubicBezTo>
                    <a:pt x="15875" y="718439"/>
                    <a:pt x="22606" y="718312"/>
                    <a:pt x="28829" y="718820"/>
                  </a:cubicBezTo>
                  <a:cubicBezTo>
                    <a:pt x="47625" y="719836"/>
                    <a:pt x="66294" y="723011"/>
                    <a:pt x="84963" y="724662"/>
                  </a:cubicBezTo>
                  <a:cubicBezTo>
                    <a:pt x="85217" y="724662"/>
                    <a:pt x="85471" y="724662"/>
                    <a:pt x="85725" y="724662"/>
                  </a:cubicBezTo>
                  <a:cubicBezTo>
                    <a:pt x="93599" y="724662"/>
                    <a:pt x="101346" y="724789"/>
                    <a:pt x="109220" y="724789"/>
                  </a:cubicBezTo>
                  <a:cubicBezTo>
                    <a:pt x="123825" y="724789"/>
                    <a:pt x="138303" y="724408"/>
                    <a:pt x="152654" y="722376"/>
                  </a:cubicBezTo>
                  <a:cubicBezTo>
                    <a:pt x="186563" y="715899"/>
                    <a:pt x="219075" y="705485"/>
                    <a:pt x="250317" y="691134"/>
                  </a:cubicBezTo>
                  <a:cubicBezTo>
                    <a:pt x="319151" y="665480"/>
                    <a:pt x="363093" y="601599"/>
                    <a:pt x="355981" y="527685"/>
                  </a:cubicBezTo>
                  <a:cubicBezTo>
                    <a:pt x="350393" y="477012"/>
                    <a:pt x="333375" y="430530"/>
                    <a:pt x="305054" y="388112"/>
                  </a:cubicBezTo>
                  <a:cubicBezTo>
                    <a:pt x="298704" y="378460"/>
                    <a:pt x="293243" y="368173"/>
                    <a:pt x="285242" y="359791"/>
                  </a:cubicBezTo>
                  <a:cubicBezTo>
                    <a:pt x="270637" y="347853"/>
                    <a:pt x="255016" y="337312"/>
                    <a:pt x="238379" y="328168"/>
                  </a:cubicBezTo>
                  <a:cubicBezTo>
                    <a:pt x="251079" y="315214"/>
                    <a:pt x="264795" y="302895"/>
                    <a:pt x="274320" y="287274"/>
                  </a:cubicBezTo>
                  <a:cubicBezTo>
                    <a:pt x="283972" y="272161"/>
                    <a:pt x="291338" y="255651"/>
                    <a:pt x="299593" y="239776"/>
                  </a:cubicBezTo>
                  <a:cubicBezTo>
                    <a:pt x="318389" y="196977"/>
                    <a:pt x="315721" y="147320"/>
                    <a:pt x="296799" y="105029"/>
                  </a:cubicBezTo>
                  <a:cubicBezTo>
                    <a:pt x="291845" y="94234"/>
                    <a:pt x="282575" y="86360"/>
                    <a:pt x="275082" y="77470"/>
                  </a:cubicBezTo>
                  <a:cubicBezTo>
                    <a:pt x="266319" y="68072"/>
                    <a:pt x="261239" y="55372"/>
                    <a:pt x="250063" y="48260"/>
                  </a:cubicBezTo>
                  <a:cubicBezTo>
                    <a:pt x="222504" y="32512"/>
                    <a:pt x="195834" y="12827"/>
                    <a:pt x="163830" y="7366"/>
                  </a:cubicBezTo>
                  <a:cubicBezTo>
                    <a:pt x="145288" y="5080"/>
                    <a:pt x="126619" y="0"/>
                    <a:pt x="107823" y="0"/>
                  </a:cubicBezTo>
                  <a:close/>
                </a:path>
              </a:pathLst>
            </a:custGeom>
            <a:solidFill>
              <a:srgbClr val="F89FA1"/>
            </a:solidFill>
          </p:spPr>
        </p:sp>
        <p:sp>
          <p:nvSpPr>
            <p:cNvPr name="Freeform 10" id="10"/>
            <p:cNvSpPr/>
            <p:nvPr/>
          </p:nvSpPr>
          <p:spPr>
            <a:xfrm flipH="false" flipV="false" rot="0">
              <a:off x="2482977" y="97409"/>
              <a:ext cx="479933" cy="750062"/>
            </a:xfrm>
            <a:custGeom>
              <a:avLst/>
              <a:gdLst/>
              <a:ahLst/>
              <a:cxnLst/>
              <a:rect r="r" b="b" t="t" l="l"/>
              <a:pathLst>
                <a:path h="750062" w="479933">
                  <a:moveTo>
                    <a:pt x="466725" y="663702"/>
                  </a:moveTo>
                  <a:cubicBezTo>
                    <a:pt x="465963" y="679323"/>
                    <a:pt x="479933" y="704850"/>
                    <a:pt x="460502" y="712724"/>
                  </a:cubicBezTo>
                  <a:cubicBezTo>
                    <a:pt x="458470" y="713232"/>
                    <a:pt x="456565" y="713232"/>
                    <a:pt x="454533" y="712724"/>
                  </a:cubicBezTo>
                  <a:cubicBezTo>
                    <a:pt x="443992" y="715645"/>
                    <a:pt x="433324" y="717804"/>
                    <a:pt x="422402" y="719328"/>
                  </a:cubicBezTo>
                  <a:cubicBezTo>
                    <a:pt x="406273" y="722757"/>
                    <a:pt x="389890" y="723011"/>
                    <a:pt x="373634" y="725297"/>
                  </a:cubicBezTo>
                  <a:cubicBezTo>
                    <a:pt x="363220" y="725297"/>
                    <a:pt x="352171" y="728853"/>
                    <a:pt x="342011" y="725932"/>
                  </a:cubicBezTo>
                  <a:cubicBezTo>
                    <a:pt x="334772" y="721995"/>
                    <a:pt x="333375" y="712978"/>
                    <a:pt x="330708" y="705866"/>
                  </a:cubicBezTo>
                  <a:cubicBezTo>
                    <a:pt x="326517" y="696722"/>
                    <a:pt x="326263" y="686689"/>
                    <a:pt x="323342" y="677164"/>
                  </a:cubicBezTo>
                  <a:cubicBezTo>
                    <a:pt x="322834" y="669163"/>
                    <a:pt x="319405" y="661416"/>
                    <a:pt x="318897" y="653669"/>
                  </a:cubicBezTo>
                  <a:cubicBezTo>
                    <a:pt x="315976" y="653796"/>
                    <a:pt x="312928" y="653923"/>
                    <a:pt x="310007" y="654177"/>
                  </a:cubicBezTo>
                  <a:cubicBezTo>
                    <a:pt x="264795" y="658114"/>
                    <a:pt x="219456" y="663194"/>
                    <a:pt x="174371" y="662940"/>
                  </a:cubicBezTo>
                  <a:cubicBezTo>
                    <a:pt x="161671" y="662305"/>
                    <a:pt x="147574" y="667258"/>
                    <a:pt x="134874" y="665480"/>
                  </a:cubicBezTo>
                  <a:cubicBezTo>
                    <a:pt x="128778" y="682625"/>
                    <a:pt x="122047" y="699770"/>
                    <a:pt x="115951" y="716915"/>
                  </a:cubicBezTo>
                  <a:cubicBezTo>
                    <a:pt x="113792" y="723138"/>
                    <a:pt x="110871" y="736854"/>
                    <a:pt x="105029" y="744093"/>
                  </a:cubicBezTo>
                  <a:cubicBezTo>
                    <a:pt x="105029" y="744093"/>
                    <a:pt x="105029" y="744093"/>
                    <a:pt x="105029" y="744093"/>
                  </a:cubicBezTo>
                  <a:cubicBezTo>
                    <a:pt x="104140" y="746760"/>
                    <a:pt x="102235" y="748411"/>
                    <a:pt x="99441" y="749173"/>
                  </a:cubicBezTo>
                  <a:cubicBezTo>
                    <a:pt x="92837" y="749935"/>
                    <a:pt x="86233" y="750062"/>
                    <a:pt x="79629" y="749554"/>
                  </a:cubicBezTo>
                  <a:cubicBezTo>
                    <a:pt x="60452" y="748919"/>
                    <a:pt x="41402" y="746252"/>
                    <a:pt x="22225" y="744093"/>
                  </a:cubicBezTo>
                  <a:cubicBezTo>
                    <a:pt x="18796" y="743966"/>
                    <a:pt x="15494" y="743331"/>
                    <a:pt x="12319" y="742315"/>
                  </a:cubicBezTo>
                  <a:cubicBezTo>
                    <a:pt x="6604" y="741553"/>
                    <a:pt x="0" y="738886"/>
                    <a:pt x="381" y="732282"/>
                  </a:cubicBezTo>
                  <a:cubicBezTo>
                    <a:pt x="635" y="730631"/>
                    <a:pt x="1270" y="729107"/>
                    <a:pt x="2286" y="727710"/>
                  </a:cubicBezTo>
                  <a:cubicBezTo>
                    <a:pt x="2413" y="726059"/>
                    <a:pt x="2794" y="724535"/>
                    <a:pt x="3556" y="723138"/>
                  </a:cubicBezTo>
                  <a:cubicBezTo>
                    <a:pt x="12573" y="675132"/>
                    <a:pt x="18796" y="626618"/>
                    <a:pt x="30734" y="579247"/>
                  </a:cubicBezTo>
                  <a:cubicBezTo>
                    <a:pt x="36068" y="556260"/>
                    <a:pt x="40386" y="533400"/>
                    <a:pt x="43434" y="510032"/>
                  </a:cubicBezTo>
                  <a:cubicBezTo>
                    <a:pt x="46609" y="486918"/>
                    <a:pt x="54483" y="464820"/>
                    <a:pt x="58674" y="441960"/>
                  </a:cubicBezTo>
                  <a:cubicBezTo>
                    <a:pt x="69977" y="385064"/>
                    <a:pt x="80264" y="327787"/>
                    <a:pt x="96774" y="272161"/>
                  </a:cubicBezTo>
                  <a:cubicBezTo>
                    <a:pt x="112776" y="212725"/>
                    <a:pt x="129286" y="153543"/>
                    <a:pt x="146558" y="94615"/>
                  </a:cubicBezTo>
                  <a:cubicBezTo>
                    <a:pt x="152908" y="73406"/>
                    <a:pt x="158496" y="52070"/>
                    <a:pt x="164846" y="30861"/>
                  </a:cubicBezTo>
                  <a:cubicBezTo>
                    <a:pt x="168021" y="22606"/>
                    <a:pt x="170815" y="8509"/>
                    <a:pt x="179959" y="6350"/>
                  </a:cubicBezTo>
                  <a:cubicBezTo>
                    <a:pt x="188595" y="381"/>
                    <a:pt x="209804" y="4445"/>
                    <a:pt x="217297" y="2921"/>
                  </a:cubicBezTo>
                  <a:cubicBezTo>
                    <a:pt x="252857" y="0"/>
                    <a:pt x="288163" y="3175"/>
                    <a:pt x="323596" y="5461"/>
                  </a:cubicBezTo>
                  <a:cubicBezTo>
                    <a:pt x="330200" y="5334"/>
                    <a:pt x="336804" y="5588"/>
                    <a:pt x="343281" y="6604"/>
                  </a:cubicBezTo>
                  <a:cubicBezTo>
                    <a:pt x="347472" y="6604"/>
                    <a:pt x="350774" y="8255"/>
                    <a:pt x="353187" y="11557"/>
                  </a:cubicBezTo>
                  <a:cubicBezTo>
                    <a:pt x="354076" y="12954"/>
                    <a:pt x="354584" y="14478"/>
                    <a:pt x="354584" y="16256"/>
                  </a:cubicBezTo>
                  <a:cubicBezTo>
                    <a:pt x="357886" y="22987"/>
                    <a:pt x="358140" y="34671"/>
                    <a:pt x="359791" y="38735"/>
                  </a:cubicBezTo>
                  <a:cubicBezTo>
                    <a:pt x="372872" y="94996"/>
                    <a:pt x="378333" y="152273"/>
                    <a:pt x="389128" y="208915"/>
                  </a:cubicBezTo>
                  <a:cubicBezTo>
                    <a:pt x="393700" y="229108"/>
                    <a:pt x="394081" y="249936"/>
                    <a:pt x="397002" y="270383"/>
                  </a:cubicBezTo>
                  <a:cubicBezTo>
                    <a:pt x="403479" y="291338"/>
                    <a:pt x="404622" y="314071"/>
                    <a:pt x="408559" y="335407"/>
                  </a:cubicBezTo>
                  <a:cubicBezTo>
                    <a:pt x="423799" y="401701"/>
                    <a:pt x="433451" y="469646"/>
                    <a:pt x="447294" y="536194"/>
                  </a:cubicBezTo>
                  <a:cubicBezTo>
                    <a:pt x="451231" y="552831"/>
                    <a:pt x="451993" y="573151"/>
                    <a:pt x="454660" y="589153"/>
                  </a:cubicBezTo>
                  <a:cubicBezTo>
                    <a:pt x="460375" y="613664"/>
                    <a:pt x="464312" y="638556"/>
                    <a:pt x="466344" y="663702"/>
                  </a:cubicBezTo>
                  <a:close/>
                  <a:moveTo>
                    <a:pt x="274447" y="556006"/>
                  </a:moveTo>
                  <a:cubicBezTo>
                    <a:pt x="277241" y="556133"/>
                    <a:pt x="280035" y="555879"/>
                    <a:pt x="282829" y="555498"/>
                  </a:cubicBezTo>
                  <a:cubicBezTo>
                    <a:pt x="273812" y="513969"/>
                    <a:pt x="272796" y="470662"/>
                    <a:pt x="268859" y="428498"/>
                  </a:cubicBezTo>
                  <a:cubicBezTo>
                    <a:pt x="265938" y="405511"/>
                    <a:pt x="264033" y="385445"/>
                    <a:pt x="262128" y="363093"/>
                  </a:cubicBezTo>
                  <a:cubicBezTo>
                    <a:pt x="260731" y="353568"/>
                    <a:pt x="258953" y="344043"/>
                    <a:pt x="257302" y="334518"/>
                  </a:cubicBezTo>
                  <a:cubicBezTo>
                    <a:pt x="257175" y="333883"/>
                    <a:pt x="257048" y="333248"/>
                    <a:pt x="257048" y="332613"/>
                  </a:cubicBezTo>
                  <a:cubicBezTo>
                    <a:pt x="255397" y="332486"/>
                    <a:pt x="253746" y="332486"/>
                    <a:pt x="251968" y="332359"/>
                  </a:cubicBezTo>
                  <a:cubicBezTo>
                    <a:pt x="236601" y="331724"/>
                    <a:pt x="220980" y="330835"/>
                    <a:pt x="205613" y="331343"/>
                  </a:cubicBezTo>
                  <a:cubicBezTo>
                    <a:pt x="197104" y="357632"/>
                    <a:pt x="192405" y="383540"/>
                    <a:pt x="183388" y="409575"/>
                  </a:cubicBezTo>
                  <a:cubicBezTo>
                    <a:pt x="176911" y="441325"/>
                    <a:pt x="166116" y="472059"/>
                    <a:pt x="159512" y="503809"/>
                  </a:cubicBezTo>
                  <a:cubicBezTo>
                    <a:pt x="156972" y="521462"/>
                    <a:pt x="152908" y="538861"/>
                    <a:pt x="150495" y="556387"/>
                  </a:cubicBezTo>
                  <a:cubicBezTo>
                    <a:pt x="150495" y="556387"/>
                    <a:pt x="150495" y="556514"/>
                    <a:pt x="150495" y="556514"/>
                  </a:cubicBezTo>
                  <a:cubicBezTo>
                    <a:pt x="155575" y="556641"/>
                    <a:pt x="160401" y="557276"/>
                    <a:pt x="163576" y="557403"/>
                  </a:cubicBezTo>
                  <a:cubicBezTo>
                    <a:pt x="177038" y="558546"/>
                    <a:pt x="190500" y="556006"/>
                    <a:pt x="204089" y="556895"/>
                  </a:cubicBezTo>
                  <a:cubicBezTo>
                    <a:pt x="227711" y="555879"/>
                    <a:pt x="251206" y="555879"/>
                    <a:pt x="274447" y="556260"/>
                  </a:cubicBezTo>
                  <a:close/>
                </a:path>
              </a:pathLst>
            </a:custGeom>
            <a:solidFill>
              <a:srgbClr val="80B2E8"/>
            </a:solidFill>
          </p:spPr>
        </p:sp>
        <p:sp>
          <p:nvSpPr>
            <p:cNvPr name="Freeform 11" id="11"/>
            <p:cNvSpPr/>
            <p:nvPr/>
          </p:nvSpPr>
          <p:spPr>
            <a:xfrm flipH="false" flipV="false" rot="0">
              <a:off x="3424301" y="106172"/>
              <a:ext cx="322580" cy="633222"/>
            </a:xfrm>
            <a:custGeom>
              <a:avLst/>
              <a:gdLst/>
              <a:ahLst/>
              <a:cxnLst/>
              <a:rect r="r" b="b" t="t" l="l"/>
              <a:pathLst>
                <a:path h="633222" w="322580">
                  <a:moveTo>
                    <a:pt x="322580" y="462280"/>
                  </a:moveTo>
                  <a:cubicBezTo>
                    <a:pt x="322072" y="487299"/>
                    <a:pt x="313690" y="511937"/>
                    <a:pt x="305181" y="535178"/>
                  </a:cubicBezTo>
                  <a:cubicBezTo>
                    <a:pt x="298450" y="554863"/>
                    <a:pt x="285877" y="571246"/>
                    <a:pt x="273558" y="587756"/>
                  </a:cubicBezTo>
                  <a:cubicBezTo>
                    <a:pt x="261239" y="600710"/>
                    <a:pt x="241935" y="610108"/>
                    <a:pt x="225806" y="616331"/>
                  </a:cubicBezTo>
                  <a:cubicBezTo>
                    <a:pt x="210058" y="626364"/>
                    <a:pt x="192913" y="631063"/>
                    <a:pt x="174244" y="630301"/>
                  </a:cubicBezTo>
                  <a:cubicBezTo>
                    <a:pt x="163957" y="632968"/>
                    <a:pt x="153543" y="633222"/>
                    <a:pt x="143129" y="631190"/>
                  </a:cubicBezTo>
                  <a:cubicBezTo>
                    <a:pt x="110617" y="627761"/>
                    <a:pt x="77597" y="616839"/>
                    <a:pt x="59690" y="587502"/>
                  </a:cubicBezTo>
                  <a:cubicBezTo>
                    <a:pt x="29083" y="551688"/>
                    <a:pt x="24765" y="502285"/>
                    <a:pt x="13081" y="458470"/>
                  </a:cubicBezTo>
                  <a:cubicBezTo>
                    <a:pt x="4699" y="414020"/>
                    <a:pt x="2794" y="368427"/>
                    <a:pt x="2667" y="323215"/>
                  </a:cubicBezTo>
                  <a:cubicBezTo>
                    <a:pt x="2286" y="295148"/>
                    <a:pt x="0" y="266954"/>
                    <a:pt x="2667" y="239014"/>
                  </a:cubicBezTo>
                  <a:cubicBezTo>
                    <a:pt x="9017" y="203454"/>
                    <a:pt x="12064" y="167005"/>
                    <a:pt x="22225" y="132207"/>
                  </a:cubicBezTo>
                  <a:cubicBezTo>
                    <a:pt x="35941" y="94996"/>
                    <a:pt x="53213" y="56896"/>
                    <a:pt x="84201" y="30988"/>
                  </a:cubicBezTo>
                  <a:cubicBezTo>
                    <a:pt x="92329" y="22733"/>
                    <a:pt x="100584" y="13589"/>
                    <a:pt x="112522" y="11557"/>
                  </a:cubicBezTo>
                  <a:cubicBezTo>
                    <a:pt x="126111" y="9779"/>
                    <a:pt x="138176" y="2032"/>
                    <a:pt x="151892" y="1143"/>
                  </a:cubicBezTo>
                  <a:cubicBezTo>
                    <a:pt x="169291" y="0"/>
                    <a:pt x="185547" y="7239"/>
                    <a:pt x="201295" y="13462"/>
                  </a:cubicBezTo>
                  <a:cubicBezTo>
                    <a:pt x="235585" y="26670"/>
                    <a:pt x="258064" y="58293"/>
                    <a:pt x="272796" y="90678"/>
                  </a:cubicBezTo>
                  <a:cubicBezTo>
                    <a:pt x="277241" y="99568"/>
                    <a:pt x="280797" y="108839"/>
                    <a:pt x="285242" y="117856"/>
                  </a:cubicBezTo>
                  <a:cubicBezTo>
                    <a:pt x="286385" y="120396"/>
                    <a:pt x="286766" y="123063"/>
                    <a:pt x="286258" y="125857"/>
                  </a:cubicBezTo>
                  <a:cubicBezTo>
                    <a:pt x="285750" y="128651"/>
                    <a:pt x="284607" y="131064"/>
                    <a:pt x="282702" y="133096"/>
                  </a:cubicBezTo>
                  <a:cubicBezTo>
                    <a:pt x="268097" y="148590"/>
                    <a:pt x="249936" y="160147"/>
                    <a:pt x="232664" y="172847"/>
                  </a:cubicBezTo>
                  <a:cubicBezTo>
                    <a:pt x="230124" y="175514"/>
                    <a:pt x="226949" y="176403"/>
                    <a:pt x="223393" y="175641"/>
                  </a:cubicBezTo>
                  <a:cubicBezTo>
                    <a:pt x="213868" y="176657"/>
                    <a:pt x="210312" y="165735"/>
                    <a:pt x="207899" y="158369"/>
                  </a:cubicBezTo>
                  <a:cubicBezTo>
                    <a:pt x="202438" y="151257"/>
                    <a:pt x="199390" y="142621"/>
                    <a:pt x="194564" y="135255"/>
                  </a:cubicBezTo>
                  <a:cubicBezTo>
                    <a:pt x="176403" y="122809"/>
                    <a:pt x="153670" y="136779"/>
                    <a:pt x="142240" y="152400"/>
                  </a:cubicBezTo>
                  <a:cubicBezTo>
                    <a:pt x="127000" y="178181"/>
                    <a:pt x="127000" y="209550"/>
                    <a:pt x="121412" y="238379"/>
                  </a:cubicBezTo>
                  <a:cubicBezTo>
                    <a:pt x="117348" y="275590"/>
                    <a:pt x="117094" y="312801"/>
                    <a:pt x="120650" y="350012"/>
                  </a:cubicBezTo>
                  <a:cubicBezTo>
                    <a:pt x="123190" y="366141"/>
                    <a:pt x="126873" y="382143"/>
                    <a:pt x="128270" y="398399"/>
                  </a:cubicBezTo>
                  <a:cubicBezTo>
                    <a:pt x="132334" y="429133"/>
                    <a:pt x="144272" y="503936"/>
                    <a:pt x="188468" y="491490"/>
                  </a:cubicBezTo>
                  <a:cubicBezTo>
                    <a:pt x="208280" y="488696"/>
                    <a:pt x="225044" y="480060"/>
                    <a:pt x="238887" y="465709"/>
                  </a:cubicBezTo>
                  <a:cubicBezTo>
                    <a:pt x="245745" y="457835"/>
                    <a:pt x="250698" y="449199"/>
                    <a:pt x="257302" y="441325"/>
                  </a:cubicBezTo>
                  <a:cubicBezTo>
                    <a:pt x="259588" y="437007"/>
                    <a:pt x="263271" y="434848"/>
                    <a:pt x="268097" y="434467"/>
                  </a:cubicBezTo>
                  <a:cubicBezTo>
                    <a:pt x="277495" y="435864"/>
                    <a:pt x="286131" y="440563"/>
                    <a:pt x="295275" y="443357"/>
                  </a:cubicBezTo>
                  <a:cubicBezTo>
                    <a:pt x="305181" y="447675"/>
                    <a:pt x="319532" y="449834"/>
                    <a:pt x="322072" y="462280"/>
                  </a:cubicBezTo>
                  <a:close/>
                </a:path>
              </a:pathLst>
            </a:custGeom>
            <a:solidFill>
              <a:srgbClr val="CEC19E"/>
            </a:solidFill>
          </p:spPr>
        </p:sp>
        <p:sp>
          <p:nvSpPr>
            <p:cNvPr name="Freeform 12" id="12"/>
            <p:cNvSpPr/>
            <p:nvPr/>
          </p:nvSpPr>
          <p:spPr>
            <a:xfrm flipH="false" flipV="false" rot="0">
              <a:off x="2482469" y="65659"/>
              <a:ext cx="1265428" cy="786892"/>
            </a:xfrm>
            <a:custGeom>
              <a:avLst/>
              <a:gdLst/>
              <a:ahLst/>
              <a:cxnLst/>
              <a:rect r="r" b="b" t="t" l="l"/>
              <a:pathLst>
                <a:path h="786892" w="1265428">
                  <a:moveTo>
                    <a:pt x="0" y="786892"/>
                  </a:moveTo>
                  <a:lnTo>
                    <a:pt x="1265428" y="786892"/>
                  </a:lnTo>
                  <a:lnTo>
                    <a:pt x="1265428" y="0"/>
                  </a:lnTo>
                  <a:lnTo>
                    <a:pt x="0" y="0"/>
                  </a:lnTo>
                  <a:close/>
                </a:path>
              </a:pathLst>
            </a:custGeom>
            <a:solidFill>
              <a:srgbClr val="000000">
                <a:alpha val="0"/>
              </a:srgbClr>
            </a:solidFill>
          </p:spPr>
        </p:sp>
        <p:sp>
          <p:nvSpPr>
            <p:cNvPr name="Freeform 13" id="13"/>
            <p:cNvSpPr/>
            <p:nvPr/>
          </p:nvSpPr>
          <p:spPr>
            <a:xfrm flipH="false" flipV="false" rot="0">
              <a:off x="63500" y="852551"/>
              <a:ext cx="3856482" cy="3044952"/>
            </a:xfrm>
            <a:custGeom>
              <a:avLst/>
              <a:gdLst/>
              <a:ahLst/>
              <a:cxnLst/>
              <a:rect r="r" b="b" t="t" l="l"/>
              <a:pathLst>
                <a:path h="3044952" w="3856482">
                  <a:moveTo>
                    <a:pt x="0" y="3044952"/>
                  </a:moveTo>
                  <a:lnTo>
                    <a:pt x="3856482" y="3044952"/>
                  </a:lnTo>
                  <a:lnTo>
                    <a:pt x="3856482" y="0"/>
                  </a:lnTo>
                  <a:lnTo>
                    <a:pt x="0" y="0"/>
                  </a:lnTo>
                  <a:close/>
                </a:path>
              </a:pathLst>
            </a:custGeom>
            <a:solidFill>
              <a:srgbClr val="000000">
                <a:alpha val="0"/>
              </a:srgbClr>
            </a:solidFill>
          </p:spPr>
        </p:sp>
      </p:grpSp>
      <p:sp>
        <p:nvSpPr>
          <p:cNvPr name="TextBox 14" id="14"/>
          <p:cNvSpPr txBox="true"/>
          <p:nvPr/>
        </p:nvSpPr>
        <p:spPr>
          <a:xfrm rot="0">
            <a:off x="755952" y="1171080"/>
            <a:ext cx="5386140"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DATA CLEANING AND PREPROCESSING</a:t>
            </a:r>
          </a:p>
        </p:txBody>
      </p:sp>
      <p:sp>
        <p:nvSpPr>
          <p:cNvPr name="TextBox 15" id="15"/>
          <p:cNvSpPr txBox="true"/>
          <p:nvPr/>
        </p:nvSpPr>
        <p:spPr>
          <a:xfrm rot="0">
            <a:off x="623230" y="2919660"/>
            <a:ext cx="5873467" cy="412271"/>
          </a:xfrm>
          <a:prstGeom prst="rect">
            <a:avLst/>
          </a:prstGeom>
        </p:spPr>
        <p:txBody>
          <a:bodyPr anchor="t" rtlCol="false" tIns="0" lIns="0" bIns="0" rIns="0">
            <a:spAutoFit/>
          </a:bodyPr>
          <a:lstStyle/>
          <a:p>
            <a:pPr algn="l">
              <a:lnSpc>
                <a:spcPts val="3349"/>
              </a:lnSpc>
            </a:pPr>
            <a:r>
              <a:rPr lang="en-US" b="true" sz="2392">
                <a:solidFill>
                  <a:srgbClr val="FFFFFF"/>
                </a:solidFill>
                <a:latin typeface="HK Grotesk Medium"/>
                <a:ea typeface="HK Grotesk Medium"/>
                <a:cs typeface="HK Grotesk Medium"/>
                <a:sym typeface="HK Grotesk Medium"/>
              </a:rPr>
              <a:t>3 - Assigning Grades Based on Total Scores</a:t>
            </a:r>
          </a:p>
        </p:txBody>
      </p:sp>
      <p:sp>
        <p:nvSpPr>
          <p:cNvPr name="TextBox 16" id="16"/>
          <p:cNvSpPr txBox="true"/>
          <p:nvPr/>
        </p:nvSpPr>
        <p:spPr>
          <a:xfrm rot="0">
            <a:off x="509102" y="3687928"/>
            <a:ext cx="6694808" cy="2320566"/>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Upon reviewing the initial data, I noticed a critical issue: the 'Grade' column contained incorrect data. This inconsistency raised concerns about data accuracy, prompting me to take a corrective approach. To ensure accuracy, I decided to reconstruct the 'Grade' column entirely, using the 'Total_Score' values and applying the standardized grading criteria through the assign_grade function. This proactive step ensured that the grades reflected the correct scores, eliminating any discrepancies in the dataset. This process not only rectified the errors but also reinforced the integrity of the dataset, laying a reliable foundation for subsequent analysis.</a:t>
            </a:r>
          </a:p>
        </p:txBody>
      </p:sp>
      <p:sp>
        <p:nvSpPr>
          <p:cNvPr name="TextBox 17" id="17"/>
          <p:cNvSpPr txBox="true"/>
          <p:nvPr/>
        </p:nvSpPr>
        <p:spPr>
          <a:xfrm rot="0">
            <a:off x="509102" y="6364062"/>
            <a:ext cx="2924632" cy="3038370"/>
          </a:xfrm>
          <a:prstGeom prst="rect">
            <a:avLst/>
          </a:prstGeom>
        </p:spPr>
        <p:txBody>
          <a:bodyPr anchor="t" rtlCol="false" tIns="0" lIns="0" bIns="0" rIns="0">
            <a:spAutoFit/>
          </a:bodyPr>
          <a:lstStyle/>
          <a:p>
            <a:pPr algn="just">
              <a:lnSpc>
                <a:spcPts val="2400"/>
              </a:lnSpc>
            </a:pPr>
            <a:r>
              <a:rPr lang="en-US" b="true" sz="1499">
                <a:solidFill>
                  <a:srgbClr val="FFFFFF"/>
                </a:solidFill>
                <a:latin typeface="HK Grotesk Medium"/>
                <a:ea typeface="HK Grotesk Medium"/>
                <a:cs typeface="HK Grotesk Medium"/>
                <a:sym typeface="HK Grotesk Medium"/>
              </a:rPr>
              <a:t>The function follows a simple conditional structure: scores of 90 and above receive an 'A', scores between 80 and 89 a 'B', and so forth, with scores below 60 resulting in an 'F'. To integrate this function into the DataFrame, I applied it to the 'Total_Score' column, creating a new 'Grade' column: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755952" y="673913"/>
            <a:ext cx="3573904" cy="28575"/>
          </a:xfrm>
          <a:custGeom>
            <a:avLst/>
            <a:gdLst/>
            <a:ahLst/>
            <a:cxnLst/>
            <a:rect r="r" b="b" t="t" l="l"/>
            <a:pathLst>
              <a:path h="28575" w="3573904">
                <a:moveTo>
                  <a:pt x="0" y="0"/>
                </a:moveTo>
                <a:lnTo>
                  <a:pt x="3573903" y="0"/>
                </a:lnTo>
                <a:lnTo>
                  <a:pt x="3573903" y="28575"/>
                </a:lnTo>
                <a:lnTo>
                  <a:pt x="0" y="28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56297" y="-967397"/>
            <a:ext cx="6676434" cy="4696625"/>
          </a:xfrm>
          <a:custGeom>
            <a:avLst/>
            <a:gdLst/>
            <a:ahLst/>
            <a:cxnLst/>
            <a:rect r="r" b="b" t="t" l="l"/>
            <a:pathLst>
              <a:path h="4696625" w="6676434">
                <a:moveTo>
                  <a:pt x="0" y="0"/>
                </a:moveTo>
                <a:lnTo>
                  <a:pt x="6676435" y="0"/>
                </a:lnTo>
                <a:lnTo>
                  <a:pt x="6676435" y="4696625"/>
                </a:lnTo>
                <a:lnTo>
                  <a:pt x="0" y="469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a:grpSpLocks noChangeAspect="true"/>
          </p:cNvGrpSpPr>
          <p:nvPr/>
        </p:nvGrpSpPr>
        <p:grpSpPr>
          <a:xfrm rot="0">
            <a:off x="4754156" y="3003137"/>
            <a:ext cx="2424589" cy="3779263"/>
            <a:chOff x="0" y="0"/>
            <a:chExt cx="3232785" cy="5039017"/>
          </a:xfrm>
        </p:grpSpPr>
        <p:sp>
          <p:nvSpPr>
            <p:cNvPr name="Freeform 5" id="5"/>
            <p:cNvSpPr/>
            <p:nvPr/>
          </p:nvSpPr>
          <p:spPr>
            <a:xfrm flipH="false" flipV="false" rot="0">
              <a:off x="0" y="0"/>
              <a:ext cx="3232785" cy="5038979"/>
            </a:xfrm>
            <a:custGeom>
              <a:avLst/>
              <a:gdLst/>
              <a:ahLst/>
              <a:cxnLst/>
              <a:rect r="r" b="b" t="t" l="l"/>
              <a:pathLst>
                <a:path h="5038979" w="3232785">
                  <a:moveTo>
                    <a:pt x="533400" y="0"/>
                  </a:moveTo>
                  <a:cubicBezTo>
                    <a:pt x="238760" y="0"/>
                    <a:pt x="0" y="238760"/>
                    <a:pt x="0" y="533400"/>
                  </a:cubicBezTo>
                  <a:lnTo>
                    <a:pt x="0" y="4505579"/>
                  </a:lnTo>
                  <a:cubicBezTo>
                    <a:pt x="0" y="4800219"/>
                    <a:pt x="238760" y="5038979"/>
                    <a:pt x="533400" y="5038979"/>
                  </a:cubicBezTo>
                  <a:lnTo>
                    <a:pt x="2699385" y="5038979"/>
                  </a:lnTo>
                  <a:cubicBezTo>
                    <a:pt x="2994025" y="5038979"/>
                    <a:pt x="3232785" y="4800219"/>
                    <a:pt x="3232785" y="4505579"/>
                  </a:cubicBezTo>
                  <a:lnTo>
                    <a:pt x="3232785" y="533400"/>
                  </a:lnTo>
                  <a:cubicBezTo>
                    <a:pt x="3232785" y="238760"/>
                    <a:pt x="2994025" y="0"/>
                    <a:pt x="2699385" y="0"/>
                  </a:cubicBezTo>
                  <a:close/>
                </a:path>
              </a:pathLst>
            </a:custGeom>
            <a:blipFill>
              <a:blip r:embed="rId6"/>
              <a:stretch>
                <a:fillRect l="0" t="0" r="-176" b="-57"/>
              </a:stretch>
            </a:blipFill>
          </p:spPr>
        </p:sp>
      </p:grpSp>
      <p:grpSp>
        <p:nvGrpSpPr>
          <p:cNvPr name="Group 6" id="6"/>
          <p:cNvGrpSpPr>
            <a:grpSpLocks noChangeAspect="true"/>
          </p:cNvGrpSpPr>
          <p:nvPr/>
        </p:nvGrpSpPr>
        <p:grpSpPr>
          <a:xfrm rot="0">
            <a:off x="534762" y="6649021"/>
            <a:ext cx="4219394" cy="1495425"/>
            <a:chOff x="0" y="0"/>
            <a:chExt cx="5625859" cy="1993900"/>
          </a:xfrm>
        </p:grpSpPr>
        <p:sp>
          <p:nvSpPr>
            <p:cNvPr name="Freeform 7" id="7"/>
            <p:cNvSpPr/>
            <p:nvPr/>
          </p:nvSpPr>
          <p:spPr>
            <a:xfrm flipH="false" flipV="false" rot="0">
              <a:off x="0" y="0"/>
              <a:ext cx="5625973" cy="1993900"/>
            </a:xfrm>
            <a:custGeom>
              <a:avLst/>
              <a:gdLst/>
              <a:ahLst/>
              <a:cxnLst/>
              <a:rect r="r" b="b" t="t" l="l"/>
              <a:pathLst>
                <a:path h="1993900" w="5625973">
                  <a:moveTo>
                    <a:pt x="190500" y="0"/>
                  </a:moveTo>
                  <a:cubicBezTo>
                    <a:pt x="85344" y="0"/>
                    <a:pt x="0" y="85344"/>
                    <a:pt x="0" y="190500"/>
                  </a:cubicBezTo>
                  <a:lnTo>
                    <a:pt x="0" y="1805813"/>
                  </a:lnTo>
                  <a:cubicBezTo>
                    <a:pt x="0" y="1900809"/>
                    <a:pt x="69469" y="1979549"/>
                    <a:pt x="160401" y="1993900"/>
                  </a:cubicBezTo>
                  <a:lnTo>
                    <a:pt x="5465572" y="1993900"/>
                  </a:lnTo>
                  <a:cubicBezTo>
                    <a:pt x="5556504" y="1979422"/>
                    <a:pt x="5625973" y="1900682"/>
                    <a:pt x="5625973" y="1805813"/>
                  </a:cubicBezTo>
                  <a:lnTo>
                    <a:pt x="5625973" y="190500"/>
                  </a:lnTo>
                  <a:cubicBezTo>
                    <a:pt x="5625973" y="85344"/>
                    <a:pt x="5540629" y="0"/>
                    <a:pt x="5435473" y="0"/>
                  </a:cubicBezTo>
                  <a:close/>
                </a:path>
              </a:pathLst>
            </a:custGeom>
            <a:blipFill>
              <a:blip r:embed="rId7"/>
              <a:stretch>
                <a:fillRect l="0" t="0" r="-2" b="0"/>
              </a:stretch>
            </a:blipFill>
          </p:spPr>
        </p:sp>
      </p:grpSp>
      <p:sp>
        <p:nvSpPr>
          <p:cNvPr name="Freeform 8" id="8"/>
          <p:cNvSpPr/>
          <p:nvPr/>
        </p:nvSpPr>
        <p:spPr>
          <a:xfrm flipH="false" flipV="false" rot="0">
            <a:off x="5076120" y="6844313"/>
            <a:ext cx="1438275" cy="1438275"/>
          </a:xfrm>
          <a:custGeom>
            <a:avLst/>
            <a:gdLst/>
            <a:ahLst/>
            <a:cxnLst/>
            <a:rect r="r" b="b" t="t" l="l"/>
            <a:pathLst>
              <a:path h="1438275" w="1438275">
                <a:moveTo>
                  <a:pt x="0" y="0"/>
                </a:moveTo>
                <a:lnTo>
                  <a:pt x="1438275" y="0"/>
                </a:lnTo>
                <a:lnTo>
                  <a:pt x="1438275" y="1438275"/>
                </a:lnTo>
                <a:lnTo>
                  <a:pt x="0" y="1438275"/>
                </a:lnTo>
                <a:lnTo>
                  <a:pt x="0" y="0"/>
                </a:lnTo>
                <a:close/>
              </a:path>
            </a:pathLst>
          </a:custGeom>
          <a:blipFill>
            <a:blip r:embed="rId8"/>
            <a:stretch>
              <a:fillRect l="0" t="0" r="0" b="0"/>
            </a:stretch>
          </a:blipFill>
        </p:spPr>
      </p:sp>
      <p:grpSp>
        <p:nvGrpSpPr>
          <p:cNvPr name="Group 9" id="9"/>
          <p:cNvGrpSpPr>
            <a:grpSpLocks noChangeAspect="true"/>
          </p:cNvGrpSpPr>
          <p:nvPr/>
        </p:nvGrpSpPr>
        <p:grpSpPr>
          <a:xfrm rot="0">
            <a:off x="471259" y="-63503"/>
            <a:ext cx="7155085" cy="8417366"/>
            <a:chOff x="0" y="0"/>
            <a:chExt cx="7155091" cy="8417370"/>
          </a:xfrm>
        </p:grpSpPr>
        <p:sp>
          <p:nvSpPr>
            <p:cNvPr name="Freeform 10" id="10"/>
            <p:cNvSpPr/>
            <p:nvPr/>
          </p:nvSpPr>
          <p:spPr>
            <a:xfrm flipH="false" flipV="false" rot="0">
              <a:off x="3858641" y="63500"/>
              <a:ext cx="3232912" cy="5595493"/>
            </a:xfrm>
            <a:custGeom>
              <a:avLst/>
              <a:gdLst/>
              <a:ahLst/>
              <a:cxnLst/>
              <a:rect r="r" b="b" t="t" l="l"/>
              <a:pathLst>
                <a:path h="5595493" w="3232912">
                  <a:moveTo>
                    <a:pt x="0" y="0"/>
                  </a:moveTo>
                  <a:lnTo>
                    <a:pt x="0" y="5595493"/>
                  </a:lnTo>
                  <a:lnTo>
                    <a:pt x="3232912" y="5595493"/>
                  </a:lnTo>
                  <a:lnTo>
                    <a:pt x="3232912" y="0"/>
                  </a:lnTo>
                  <a:close/>
                </a:path>
              </a:pathLst>
            </a:custGeom>
            <a:solidFill>
              <a:srgbClr val="000000">
                <a:alpha val="0"/>
              </a:srgbClr>
            </a:solidFill>
          </p:spPr>
        </p:sp>
        <p:sp>
          <p:nvSpPr>
            <p:cNvPr name="Freeform 11" id="11"/>
            <p:cNvSpPr/>
            <p:nvPr/>
          </p:nvSpPr>
          <p:spPr>
            <a:xfrm flipH="false" flipV="false" rot="0">
              <a:off x="284734"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2" id="12"/>
            <p:cNvSpPr/>
            <p:nvPr/>
          </p:nvSpPr>
          <p:spPr>
            <a:xfrm flipH="false" flipV="false" rot="0">
              <a:off x="4282948" y="3071241"/>
              <a:ext cx="2424557" cy="3779266"/>
            </a:xfrm>
            <a:custGeom>
              <a:avLst/>
              <a:gdLst/>
              <a:ahLst/>
              <a:cxnLst/>
              <a:rect r="r" b="b" t="t" l="l"/>
              <a:pathLst>
                <a:path h="3779266" w="2424557">
                  <a:moveTo>
                    <a:pt x="0" y="3779266"/>
                  </a:moveTo>
                  <a:lnTo>
                    <a:pt x="2424557" y="3779266"/>
                  </a:lnTo>
                  <a:lnTo>
                    <a:pt x="2424557" y="0"/>
                  </a:lnTo>
                  <a:lnTo>
                    <a:pt x="0" y="0"/>
                  </a:lnTo>
                  <a:close/>
                </a:path>
              </a:pathLst>
            </a:custGeom>
            <a:solidFill>
              <a:srgbClr val="000000">
                <a:alpha val="0"/>
              </a:srgbClr>
            </a:solidFill>
          </p:spPr>
        </p:sp>
        <p:sp>
          <p:nvSpPr>
            <p:cNvPr name="Freeform 13" id="13"/>
            <p:cNvSpPr/>
            <p:nvPr/>
          </p:nvSpPr>
          <p:spPr>
            <a:xfrm flipH="false" flipV="false" rot="0">
              <a:off x="63500" y="6717157"/>
              <a:ext cx="4219448" cy="1497203"/>
            </a:xfrm>
            <a:custGeom>
              <a:avLst/>
              <a:gdLst/>
              <a:ahLst/>
              <a:cxnLst/>
              <a:rect r="r" b="b" t="t" l="l"/>
              <a:pathLst>
                <a:path h="1497203" w="4219448">
                  <a:moveTo>
                    <a:pt x="0" y="1497203"/>
                  </a:moveTo>
                  <a:lnTo>
                    <a:pt x="4219448" y="1497203"/>
                  </a:lnTo>
                  <a:lnTo>
                    <a:pt x="4219448" y="0"/>
                  </a:lnTo>
                  <a:lnTo>
                    <a:pt x="0" y="0"/>
                  </a:lnTo>
                  <a:close/>
                </a:path>
              </a:pathLst>
            </a:custGeom>
            <a:solidFill>
              <a:srgbClr val="000000">
                <a:alpha val="0"/>
              </a:srgbClr>
            </a:solidFill>
          </p:spPr>
        </p:sp>
        <p:sp>
          <p:nvSpPr>
            <p:cNvPr name="Freeform 14" id="14"/>
            <p:cNvSpPr/>
            <p:nvPr/>
          </p:nvSpPr>
          <p:spPr>
            <a:xfrm flipH="false" flipV="false" rot="0">
              <a:off x="4604893" y="6912356"/>
              <a:ext cx="1441450" cy="1441450"/>
            </a:xfrm>
            <a:custGeom>
              <a:avLst/>
              <a:gdLst/>
              <a:ahLst/>
              <a:cxnLst/>
              <a:rect r="r" b="b" t="t" l="l"/>
              <a:pathLst>
                <a:path h="1441450" w="1441450">
                  <a:moveTo>
                    <a:pt x="0" y="1441450"/>
                  </a:moveTo>
                  <a:lnTo>
                    <a:pt x="1441450" y="1441450"/>
                  </a:lnTo>
                  <a:lnTo>
                    <a:pt x="1441450" y="0"/>
                  </a:lnTo>
                  <a:lnTo>
                    <a:pt x="0" y="0"/>
                  </a:lnTo>
                  <a:close/>
                </a:path>
              </a:pathLst>
            </a:custGeom>
            <a:solidFill>
              <a:srgbClr val="000000">
                <a:alpha val="0"/>
              </a:srgbClr>
            </a:solidFill>
          </p:spPr>
        </p:sp>
      </p:grpSp>
      <p:sp>
        <p:nvSpPr>
          <p:cNvPr name="TextBox 15" id="15"/>
          <p:cNvSpPr txBox="true"/>
          <p:nvPr/>
        </p:nvSpPr>
        <p:spPr>
          <a:xfrm rot="0">
            <a:off x="755952" y="1171080"/>
            <a:ext cx="5386140"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DATA CLEANING AND PREPROCESSING</a:t>
            </a:r>
          </a:p>
        </p:txBody>
      </p:sp>
      <p:sp>
        <p:nvSpPr>
          <p:cNvPr name="TextBox 16" id="16"/>
          <p:cNvSpPr txBox="true"/>
          <p:nvPr/>
        </p:nvSpPr>
        <p:spPr>
          <a:xfrm rot="0">
            <a:off x="623230" y="2919660"/>
            <a:ext cx="3683794" cy="412271"/>
          </a:xfrm>
          <a:prstGeom prst="rect">
            <a:avLst/>
          </a:prstGeom>
        </p:spPr>
        <p:txBody>
          <a:bodyPr anchor="t" rtlCol="false" tIns="0" lIns="0" bIns="0" rIns="0">
            <a:spAutoFit/>
          </a:bodyPr>
          <a:lstStyle/>
          <a:p>
            <a:pPr algn="l">
              <a:lnSpc>
                <a:spcPts val="3349"/>
              </a:lnSpc>
            </a:pPr>
            <a:r>
              <a:rPr lang="en-US" b="true" sz="2392">
                <a:solidFill>
                  <a:srgbClr val="FFFFFF"/>
                </a:solidFill>
                <a:latin typeface="HK Grotesk Medium"/>
                <a:ea typeface="HK Grotesk Medium"/>
                <a:cs typeface="HK Grotesk Medium"/>
                <a:sym typeface="HK Grotesk Medium"/>
              </a:rPr>
              <a:t>4- Handling Missing Values</a:t>
            </a:r>
          </a:p>
        </p:txBody>
      </p:sp>
      <p:sp>
        <p:nvSpPr>
          <p:cNvPr name="TextBox 17" id="17"/>
          <p:cNvSpPr txBox="true"/>
          <p:nvPr/>
        </p:nvSpPr>
        <p:spPr>
          <a:xfrm rot="0">
            <a:off x="509102" y="3687928"/>
            <a:ext cx="2459003" cy="212322"/>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Identifying Missing Values</a:t>
            </a:r>
          </a:p>
        </p:txBody>
      </p:sp>
      <p:sp>
        <p:nvSpPr>
          <p:cNvPr name="TextBox 18" id="18"/>
          <p:cNvSpPr txBox="true"/>
          <p:nvPr/>
        </p:nvSpPr>
        <p:spPr>
          <a:xfrm rot="0">
            <a:off x="509102" y="3898744"/>
            <a:ext cx="3706416" cy="212322"/>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To start addressing missing data, I first</a:t>
            </a:r>
          </a:p>
        </p:txBody>
      </p:sp>
      <p:sp>
        <p:nvSpPr>
          <p:cNvPr name="TextBox 19" id="19"/>
          <p:cNvSpPr txBox="true"/>
          <p:nvPr/>
        </p:nvSpPr>
        <p:spPr>
          <a:xfrm rot="0">
            <a:off x="509102" y="4109571"/>
            <a:ext cx="3343418" cy="212322"/>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identified the null values within the</a:t>
            </a:r>
          </a:p>
        </p:txBody>
      </p:sp>
      <p:sp>
        <p:nvSpPr>
          <p:cNvPr name="TextBox 20" id="20"/>
          <p:cNvSpPr txBox="true"/>
          <p:nvPr/>
        </p:nvSpPr>
        <p:spPr>
          <a:xfrm rot="0">
            <a:off x="509102" y="4320397"/>
            <a:ext cx="678237" cy="212322"/>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dataset</a:t>
            </a:r>
          </a:p>
        </p:txBody>
      </p:sp>
      <p:sp>
        <p:nvSpPr>
          <p:cNvPr name="TextBox 21" id="21"/>
          <p:cNvSpPr txBox="true"/>
          <p:nvPr/>
        </p:nvSpPr>
        <p:spPr>
          <a:xfrm rot="0">
            <a:off x="509102" y="4531223"/>
            <a:ext cx="3764709" cy="212322"/>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For better visualization of missing data,</a:t>
            </a:r>
          </a:p>
        </p:txBody>
      </p:sp>
      <p:sp>
        <p:nvSpPr>
          <p:cNvPr name="TextBox 22" id="22"/>
          <p:cNvSpPr txBox="true"/>
          <p:nvPr/>
        </p:nvSpPr>
        <p:spPr>
          <a:xfrm rot="0">
            <a:off x="509102" y="4742050"/>
            <a:ext cx="1589618" cy="212322"/>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I used a heatmap</a:t>
            </a:r>
          </a:p>
        </p:txBody>
      </p:sp>
      <p:sp>
        <p:nvSpPr>
          <p:cNvPr name="TextBox 23" id="23"/>
          <p:cNvSpPr txBox="true"/>
          <p:nvPr/>
        </p:nvSpPr>
        <p:spPr>
          <a:xfrm rot="0">
            <a:off x="328117" y="5263906"/>
            <a:ext cx="4018674" cy="1030538"/>
          </a:xfrm>
          <a:prstGeom prst="rect">
            <a:avLst/>
          </a:prstGeom>
        </p:spPr>
        <p:txBody>
          <a:bodyPr anchor="t" rtlCol="false" tIns="0" lIns="0" bIns="0" rIns="0">
            <a:spAutoFit/>
          </a:bodyPr>
          <a:lstStyle/>
          <a:p>
            <a:pPr algn="ctr">
              <a:lnSpc>
                <a:spcPts val="2775"/>
              </a:lnSpc>
            </a:pPr>
            <a:r>
              <a:rPr lang="en-US" b="true" sz="1699">
                <a:solidFill>
                  <a:srgbClr val="FFFFFF"/>
                </a:solidFill>
                <a:latin typeface="HK Grotesk Medium"/>
                <a:ea typeface="HK Grotesk Medium"/>
                <a:cs typeface="HK Grotesk Medium"/>
                <a:sym typeface="HK Grotesk Medium"/>
              </a:rPr>
              <a:t>To handle missing values effectively, I separated the columns into two groups — numerical and categorical</a:t>
            </a:r>
          </a:p>
        </p:txBody>
      </p:sp>
      <p:sp>
        <p:nvSpPr>
          <p:cNvPr name="TextBox 24" id="24"/>
          <p:cNvSpPr txBox="true"/>
          <p:nvPr/>
        </p:nvSpPr>
        <p:spPr>
          <a:xfrm rot="0">
            <a:off x="364455" y="8445132"/>
            <a:ext cx="6892966" cy="938317"/>
          </a:xfrm>
          <a:prstGeom prst="rect">
            <a:avLst/>
          </a:prstGeom>
        </p:spPr>
        <p:txBody>
          <a:bodyPr anchor="t" rtlCol="false" tIns="0" lIns="0" bIns="0" rIns="0">
            <a:spAutoFit/>
          </a:bodyPr>
          <a:lstStyle/>
          <a:p>
            <a:pPr algn="ctr">
              <a:lnSpc>
                <a:spcPts val="2379"/>
              </a:lnSpc>
            </a:pPr>
            <a:r>
              <a:rPr lang="en-US" b="true" sz="1699">
                <a:solidFill>
                  <a:srgbClr val="FFFFFF"/>
                </a:solidFill>
                <a:latin typeface="HK Grotesk Medium"/>
                <a:ea typeface="HK Grotesk Medium"/>
                <a:cs typeface="HK Grotesk Medium"/>
                <a:sym typeface="HK Grotesk Medium"/>
              </a:rPr>
              <a:t>I chose to use the median to fill in missing values for numerical columns</a:t>
            </a:r>
          </a:p>
          <a:p>
            <a:pPr algn="ctr">
              <a:lnSpc>
                <a:spcPts val="2400"/>
              </a:lnSpc>
            </a:pPr>
            <a:r>
              <a:rPr lang="en-US" b="true" sz="1499">
                <a:solidFill>
                  <a:srgbClr val="FFFFFF"/>
                </a:solidFill>
                <a:latin typeface="HK Grotesk Medium"/>
                <a:ea typeface="HK Grotesk Medium"/>
                <a:cs typeface="HK Grotesk Medium"/>
                <a:sym typeface="HK Grotesk Medium"/>
              </a:rPr>
              <a:t>For categorical columns like 'Parent_Education_Level', I used the most common value (mode) within each 'Family_Income_Level' group to fill in missing values</a:t>
            </a:r>
          </a:p>
        </p:txBody>
      </p:sp>
      <p:sp>
        <p:nvSpPr>
          <p:cNvPr name="TextBox 25" id="25"/>
          <p:cNvSpPr txBox="true"/>
          <p:nvPr/>
        </p:nvSpPr>
        <p:spPr>
          <a:xfrm rot="0">
            <a:off x="494062" y="9635280"/>
            <a:ext cx="6357957" cy="653386"/>
          </a:xfrm>
          <a:prstGeom prst="rect">
            <a:avLst/>
          </a:prstGeom>
        </p:spPr>
        <p:txBody>
          <a:bodyPr anchor="t" rtlCol="false" tIns="0" lIns="0" bIns="0" rIns="0">
            <a:spAutoFit/>
          </a:bodyPr>
          <a:lstStyle/>
          <a:p>
            <a:pPr algn="ctr">
              <a:lnSpc>
                <a:spcPts val="2625"/>
              </a:lnSpc>
            </a:pPr>
            <a:r>
              <a:rPr lang="en-US" b="true" sz="1599">
                <a:solidFill>
                  <a:srgbClr val="FFFFFF"/>
                </a:solidFill>
                <a:latin typeface="HK Grotesk Medium"/>
                <a:ea typeface="HK Grotesk Medium"/>
                <a:cs typeface="HK Grotesk Medium"/>
                <a:sym typeface="HK Grotesk Medium"/>
              </a:rPr>
              <a:t>After implementing the imputation strategies, I verified the absence of missing values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755952" y="673913"/>
            <a:ext cx="3573904" cy="28575"/>
          </a:xfrm>
          <a:custGeom>
            <a:avLst/>
            <a:gdLst/>
            <a:ahLst/>
            <a:cxnLst/>
            <a:rect r="r" b="b" t="t" l="l"/>
            <a:pathLst>
              <a:path h="28575" w="3573904">
                <a:moveTo>
                  <a:pt x="0" y="0"/>
                </a:moveTo>
                <a:lnTo>
                  <a:pt x="3573903" y="0"/>
                </a:lnTo>
                <a:lnTo>
                  <a:pt x="3573903" y="28575"/>
                </a:lnTo>
                <a:lnTo>
                  <a:pt x="0" y="28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56297" y="-967397"/>
            <a:ext cx="6676434" cy="4696625"/>
          </a:xfrm>
          <a:custGeom>
            <a:avLst/>
            <a:gdLst/>
            <a:ahLst/>
            <a:cxnLst/>
            <a:rect r="r" b="b" t="t" l="l"/>
            <a:pathLst>
              <a:path h="4696625" w="6676434">
                <a:moveTo>
                  <a:pt x="0" y="0"/>
                </a:moveTo>
                <a:lnTo>
                  <a:pt x="6676435" y="0"/>
                </a:lnTo>
                <a:lnTo>
                  <a:pt x="6676435" y="4696625"/>
                </a:lnTo>
                <a:lnTo>
                  <a:pt x="0" y="46966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5952" y="5469293"/>
            <a:ext cx="2257425" cy="2257425"/>
          </a:xfrm>
          <a:custGeom>
            <a:avLst/>
            <a:gdLst/>
            <a:ahLst/>
            <a:cxnLst/>
            <a:rect r="r" b="b" t="t" l="l"/>
            <a:pathLst>
              <a:path h="2257425" w="2257425">
                <a:moveTo>
                  <a:pt x="0" y="0"/>
                </a:moveTo>
                <a:lnTo>
                  <a:pt x="2257425" y="0"/>
                </a:lnTo>
                <a:lnTo>
                  <a:pt x="2257425" y="2257425"/>
                </a:lnTo>
                <a:lnTo>
                  <a:pt x="0" y="2257425"/>
                </a:lnTo>
                <a:lnTo>
                  <a:pt x="0" y="0"/>
                </a:lnTo>
                <a:close/>
              </a:path>
            </a:pathLst>
          </a:custGeom>
          <a:blipFill>
            <a:blip r:embed="rId6"/>
            <a:stretch>
              <a:fillRect l="0" t="0" r="0" b="0"/>
            </a:stretch>
          </a:blipFill>
        </p:spPr>
      </p:sp>
      <p:sp>
        <p:nvSpPr>
          <p:cNvPr name="Freeform 5" id="5"/>
          <p:cNvSpPr/>
          <p:nvPr/>
        </p:nvSpPr>
        <p:spPr>
          <a:xfrm flipH="false" flipV="false" rot="0">
            <a:off x="4636341" y="2605183"/>
            <a:ext cx="1257300" cy="1162050"/>
          </a:xfrm>
          <a:custGeom>
            <a:avLst/>
            <a:gdLst/>
            <a:ahLst/>
            <a:cxnLst/>
            <a:rect r="r" b="b" t="t" l="l"/>
            <a:pathLst>
              <a:path h="1162050" w="1257300">
                <a:moveTo>
                  <a:pt x="0" y="0"/>
                </a:moveTo>
                <a:lnTo>
                  <a:pt x="1257300" y="0"/>
                </a:lnTo>
                <a:lnTo>
                  <a:pt x="1257300" y="1162050"/>
                </a:lnTo>
                <a:lnTo>
                  <a:pt x="0" y="1162050"/>
                </a:lnTo>
                <a:lnTo>
                  <a:pt x="0" y="0"/>
                </a:lnTo>
                <a:close/>
              </a:path>
            </a:pathLst>
          </a:custGeom>
          <a:blipFill>
            <a:blip r:embed="rId7"/>
            <a:stretch>
              <a:fillRect l="0" t="0" r="0" b="0"/>
            </a:stretch>
          </a:blipFill>
        </p:spPr>
      </p:sp>
      <p:grpSp>
        <p:nvGrpSpPr>
          <p:cNvPr name="Group 6" id="6"/>
          <p:cNvGrpSpPr>
            <a:grpSpLocks noChangeAspect="true"/>
          </p:cNvGrpSpPr>
          <p:nvPr/>
        </p:nvGrpSpPr>
        <p:grpSpPr>
          <a:xfrm rot="0">
            <a:off x="755952" y="5473865"/>
            <a:ext cx="2254739" cy="2254739"/>
            <a:chOff x="0" y="0"/>
            <a:chExt cx="2254733" cy="2254733"/>
          </a:xfrm>
        </p:grpSpPr>
        <p:sp>
          <p:nvSpPr>
            <p:cNvPr name="Freeform 7" id="7"/>
            <p:cNvSpPr/>
            <p:nvPr/>
          </p:nvSpPr>
          <p:spPr>
            <a:xfrm flipH="false" flipV="false" rot="0">
              <a:off x="0" y="0"/>
              <a:ext cx="2254758" cy="2254758"/>
            </a:xfrm>
            <a:custGeom>
              <a:avLst/>
              <a:gdLst/>
              <a:ahLst/>
              <a:cxnLst/>
              <a:rect r="r" b="b" t="t" l="l"/>
              <a:pathLst>
                <a:path h="2254758" w="2254758">
                  <a:moveTo>
                    <a:pt x="0" y="2254758"/>
                  </a:moveTo>
                  <a:lnTo>
                    <a:pt x="2254758" y="2254758"/>
                  </a:lnTo>
                  <a:lnTo>
                    <a:pt x="2254758" y="0"/>
                  </a:lnTo>
                  <a:lnTo>
                    <a:pt x="0" y="0"/>
                  </a:lnTo>
                  <a:close/>
                </a:path>
              </a:pathLst>
            </a:custGeom>
            <a:solidFill>
              <a:srgbClr val="000000">
                <a:alpha val="0"/>
              </a:srgbClr>
            </a:solidFill>
          </p:spPr>
        </p:sp>
      </p:grpSp>
      <p:grpSp>
        <p:nvGrpSpPr>
          <p:cNvPr name="Group 8" id="8"/>
          <p:cNvGrpSpPr>
            <a:grpSpLocks noChangeAspect="true"/>
          </p:cNvGrpSpPr>
          <p:nvPr/>
        </p:nvGrpSpPr>
        <p:grpSpPr>
          <a:xfrm rot="0">
            <a:off x="692448" y="-63503"/>
            <a:ext cx="6933905" cy="5722487"/>
            <a:chOff x="0" y="0"/>
            <a:chExt cx="6933895" cy="5722480"/>
          </a:xfrm>
        </p:grpSpPr>
        <p:sp>
          <p:nvSpPr>
            <p:cNvPr name="Freeform 9" id="9"/>
            <p:cNvSpPr/>
            <p:nvPr/>
          </p:nvSpPr>
          <p:spPr>
            <a:xfrm flipH="false" flipV="false" rot="0">
              <a:off x="3637407" y="63500"/>
              <a:ext cx="3233039" cy="5595493"/>
            </a:xfrm>
            <a:custGeom>
              <a:avLst/>
              <a:gdLst/>
              <a:ahLst/>
              <a:cxnLst/>
              <a:rect r="r" b="b" t="t" l="l"/>
              <a:pathLst>
                <a:path h="5595493" w="3233039">
                  <a:moveTo>
                    <a:pt x="0" y="0"/>
                  </a:moveTo>
                  <a:lnTo>
                    <a:pt x="0" y="5595493"/>
                  </a:lnTo>
                  <a:lnTo>
                    <a:pt x="3233039" y="5595493"/>
                  </a:lnTo>
                  <a:lnTo>
                    <a:pt x="3233039" y="0"/>
                  </a:lnTo>
                  <a:close/>
                </a:path>
              </a:pathLst>
            </a:custGeom>
            <a:solidFill>
              <a:srgbClr val="000000">
                <a:alpha val="0"/>
              </a:srgbClr>
            </a:solidFill>
          </p:spPr>
        </p:sp>
        <p:sp>
          <p:nvSpPr>
            <p:cNvPr name="Freeform 10" id="10"/>
            <p:cNvSpPr/>
            <p:nvPr/>
          </p:nvSpPr>
          <p:spPr>
            <a:xfrm flipH="false" flipV="false" rot="0">
              <a:off x="3943858" y="2673223"/>
              <a:ext cx="1257554" cy="1158621"/>
            </a:xfrm>
            <a:custGeom>
              <a:avLst/>
              <a:gdLst/>
              <a:ahLst/>
              <a:cxnLst/>
              <a:rect r="r" b="b" t="t" l="l"/>
              <a:pathLst>
                <a:path h="1158621" w="1257554">
                  <a:moveTo>
                    <a:pt x="0" y="1158621"/>
                  </a:moveTo>
                  <a:lnTo>
                    <a:pt x="1257554" y="1158621"/>
                  </a:lnTo>
                  <a:lnTo>
                    <a:pt x="1257554" y="0"/>
                  </a:lnTo>
                  <a:lnTo>
                    <a:pt x="0" y="0"/>
                  </a:lnTo>
                  <a:close/>
                </a:path>
              </a:pathLst>
            </a:custGeom>
            <a:solidFill>
              <a:srgbClr val="000000">
                <a:alpha val="0"/>
              </a:srgbClr>
            </a:solidFill>
          </p:spPr>
        </p:sp>
        <p:sp>
          <p:nvSpPr>
            <p:cNvPr name="Freeform 11" id="11"/>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12" id="12"/>
          <p:cNvSpPr txBox="true"/>
          <p:nvPr/>
        </p:nvSpPr>
        <p:spPr>
          <a:xfrm rot="0">
            <a:off x="755952" y="1171080"/>
            <a:ext cx="5386140"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DATA CLEANING AND PREPROCESSING</a:t>
            </a:r>
          </a:p>
        </p:txBody>
      </p:sp>
      <p:sp>
        <p:nvSpPr>
          <p:cNvPr name="TextBox 13" id="13"/>
          <p:cNvSpPr txBox="true"/>
          <p:nvPr/>
        </p:nvSpPr>
        <p:spPr>
          <a:xfrm rot="0">
            <a:off x="623230" y="2919660"/>
            <a:ext cx="3113913" cy="412271"/>
          </a:xfrm>
          <a:prstGeom prst="rect">
            <a:avLst/>
          </a:prstGeom>
        </p:spPr>
        <p:txBody>
          <a:bodyPr anchor="t" rtlCol="false" tIns="0" lIns="0" bIns="0" rIns="0">
            <a:spAutoFit/>
          </a:bodyPr>
          <a:lstStyle/>
          <a:p>
            <a:pPr algn="l">
              <a:lnSpc>
                <a:spcPts val="3349"/>
              </a:lnSpc>
            </a:pPr>
            <a:r>
              <a:rPr lang="en-US" b="true" sz="2392">
                <a:solidFill>
                  <a:srgbClr val="FFFFFF"/>
                </a:solidFill>
                <a:latin typeface="HK Grotesk Medium"/>
                <a:ea typeface="HK Grotesk Medium"/>
                <a:cs typeface="HK Grotesk Medium"/>
                <a:sym typeface="HK Grotesk Medium"/>
              </a:rPr>
              <a:t>5- Data Cleaning Steps</a:t>
            </a:r>
          </a:p>
        </p:txBody>
      </p:sp>
      <p:sp>
        <p:nvSpPr>
          <p:cNvPr name="TextBox 14" id="14"/>
          <p:cNvSpPr txBox="true"/>
          <p:nvPr/>
        </p:nvSpPr>
        <p:spPr>
          <a:xfrm rot="0">
            <a:off x="509102" y="3687928"/>
            <a:ext cx="6909892" cy="1760153"/>
          </a:xfrm>
          <a:prstGeom prst="rect">
            <a:avLst/>
          </a:prstGeom>
        </p:spPr>
        <p:txBody>
          <a:bodyPr anchor="t" rtlCol="false" tIns="0" lIns="0" bIns="0" rIns="0">
            <a:spAutoFit/>
          </a:bodyPr>
          <a:lstStyle/>
          <a:p>
            <a:pPr algn="l">
              <a:lnSpc>
                <a:spcPts val="1660"/>
              </a:lnSpc>
            </a:pPr>
            <a:r>
              <a:rPr lang="en-US" b="true" sz="1393" spc="125">
                <a:solidFill>
                  <a:srgbClr val="FFFFFF"/>
                </a:solidFill>
                <a:latin typeface="HK Grotesk Medium"/>
                <a:ea typeface="HK Grotesk Medium"/>
                <a:cs typeface="HK Grotesk Medium"/>
                <a:sym typeface="HK Grotesk Medium"/>
              </a:rPr>
              <a:t>Checking for Duplicates The first step in the data cleaning process was to check for duplicate rows, ensuring data integrity by identifying any unnecessary repetitions and confirmed that the dataset contained no duplicate rows.</a:t>
            </a:r>
          </a:p>
          <a:p>
            <a:pPr algn="l">
              <a:lnSpc>
                <a:spcPts val="1800"/>
              </a:lnSpc>
            </a:pPr>
            <a:r>
              <a:rPr lang="en-US" b="true" sz="1587">
                <a:solidFill>
                  <a:srgbClr val="FFFFFF"/>
                </a:solidFill>
                <a:latin typeface="HK Grotesk Medium"/>
                <a:ea typeface="HK Grotesk Medium"/>
                <a:cs typeface="HK Grotesk Medium"/>
                <a:sym typeface="HK Grotesk Medium"/>
              </a:rPr>
              <a:t>Detecting Outliers To identify potential outliers, I used the Z-score method. Data points beyond 3 standard deviations from the mean are typically flagged as outliers</a:t>
            </a:r>
          </a:p>
        </p:txBody>
      </p:sp>
      <p:sp>
        <p:nvSpPr>
          <p:cNvPr name="TextBox 15" id="15"/>
          <p:cNvSpPr txBox="true"/>
          <p:nvPr/>
        </p:nvSpPr>
        <p:spPr>
          <a:xfrm rot="0">
            <a:off x="3456689" y="5581841"/>
            <a:ext cx="3765594" cy="1240088"/>
          </a:xfrm>
          <a:prstGeom prst="rect">
            <a:avLst/>
          </a:prstGeom>
        </p:spPr>
        <p:txBody>
          <a:bodyPr anchor="t" rtlCol="false" tIns="0" lIns="0" bIns="0" rIns="0">
            <a:spAutoFit/>
          </a:bodyPr>
          <a:lstStyle/>
          <a:p>
            <a:pPr algn="just">
              <a:lnSpc>
                <a:spcPts val="1949"/>
              </a:lnSpc>
            </a:pPr>
            <a:r>
              <a:rPr lang="en-US" b="true" sz="1699">
                <a:solidFill>
                  <a:srgbClr val="FFFFFF"/>
                </a:solidFill>
                <a:latin typeface="HK Grotesk Medium"/>
                <a:ea typeface="HK Grotesk Medium"/>
                <a:cs typeface="HK Grotesk Medium"/>
                <a:sym typeface="HK Grotesk Medium"/>
              </a:rPr>
              <a:t>Although Z-scores were used here, I am aware that the Interquartile Range (IQR) method is another robust approach for detecting outliers, especially for skewed data.</a:t>
            </a:r>
          </a:p>
        </p:txBody>
      </p:sp>
      <p:sp>
        <p:nvSpPr>
          <p:cNvPr name="TextBox 16" id="16"/>
          <p:cNvSpPr txBox="true"/>
          <p:nvPr/>
        </p:nvSpPr>
        <p:spPr>
          <a:xfrm rot="0">
            <a:off x="254556" y="7831455"/>
            <a:ext cx="5751500" cy="1855070"/>
          </a:xfrm>
          <a:prstGeom prst="rect">
            <a:avLst/>
          </a:prstGeom>
        </p:spPr>
        <p:txBody>
          <a:bodyPr anchor="t" rtlCol="false" tIns="0" lIns="0" bIns="0" rIns="0">
            <a:spAutoFit/>
          </a:bodyPr>
          <a:lstStyle/>
          <a:p>
            <a:pPr algn="just">
              <a:lnSpc>
                <a:spcPts val="1799"/>
              </a:lnSpc>
            </a:pPr>
            <a:r>
              <a:rPr lang="en-US" b="true" sz="1599">
                <a:solidFill>
                  <a:srgbClr val="FFFFFF"/>
                </a:solidFill>
                <a:latin typeface="HK Grotesk Medium"/>
                <a:ea typeface="HK Grotesk Medium"/>
                <a:cs typeface="HK Grotesk Medium"/>
                <a:sym typeface="HK Grotesk Medium"/>
              </a:rPr>
              <a:t>Dropping Irrelevant Columns Certain columns, such as names, emails, and student IDs, were unnecessary for the analysis and were removed to streamline the dataset</a:t>
            </a:r>
          </a:p>
          <a:p>
            <a:pPr algn="just">
              <a:lnSpc>
                <a:spcPts val="3999"/>
              </a:lnSpc>
            </a:pPr>
            <a:r>
              <a:rPr lang="en-US" b="true" sz="1599">
                <a:solidFill>
                  <a:srgbClr val="FFFFFF"/>
                </a:solidFill>
                <a:latin typeface="HK Grotesk Medium"/>
                <a:ea typeface="HK Grotesk Medium"/>
                <a:cs typeface="HK Grotesk Medium"/>
                <a:sym typeface="HK Grotesk Medium"/>
              </a:rPr>
              <a:t>Renaming Columns</a:t>
            </a:r>
          </a:p>
          <a:p>
            <a:pPr algn="just">
              <a:lnSpc>
                <a:spcPts val="799"/>
              </a:lnSpc>
            </a:pPr>
            <a:r>
              <a:rPr lang="en-US" b="true" sz="1599">
                <a:solidFill>
                  <a:srgbClr val="FFFFFF"/>
                </a:solidFill>
                <a:latin typeface="HK Grotesk Medium"/>
                <a:ea typeface="HK Grotesk Medium"/>
                <a:cs typeface="HK Grotesk Medium"/>
                <a:sym typeface="HK Grotesk Medium"/>
              </a:rPr>
              <a:t>For consistency and ease of use, I also simplified column names.</a:t>
            </a:r>
          </a:p>
          <a:p>
            <a:pPr algn="just">
              <a:lnSpc>
                <a:spcPts val="2799"/>
              </a:lnSpc>
            </a:pPr>
            <a:r>
              <a:rPr lang="en-US" b="true" sz="1599">
                <a:solidFill>
                  <a:srgbClr val="FFFFFF"/>
                </a:solidFill>
                <a:latin typeface="HK Grotesk Medium"/>
                <a:ea typeface="HK Grotesk Medium"/>
                <a:cs typeface="HK Grotesk Medium"/>
                <a:sym typeface="HK Grotesk Medium"/>
              </a:rPr>
              <a:t>Specifically, 'Stress_Level (1-10)' was renamed to 'Stress_Level'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069490" y="3354734"/>
            <a:ext cx="3362325" cy="2657475"/>
          </a:xfrm>
          <a:custGeom>
            <a:avLst/>
            <a:gdLst/>
            <a:ahLst/>
            <a:cxnLst/>
            <a:rect r="r" b="b" t="t" l="l"/>
            <a:pathLst>
              <a:path h="2657475" w="3362325">
                <a:moveTo>
                  <a:pt x="0" y="0"/>
                </a:moveTo>
                <a:lnTo>
                  <a:pt x="3362325" y="0"/>
                </a:lnTo>
                <a:lnTo>
                  <a:pt x="3362325" y="2657475"/>
                </a:lnTo>
                <a:lnTo>
                  <a:pt x="0" y="2657475"/>
                </a:lnTo>
                <a:lnTo>
                  <a:pt x="0" y="0"/>
                </a:lnTo>
                <a:close/>
              </a:path>
            </a:pathLst>
          </a:custGeom>
          <a:blipFill>
            <a:blip r:embed="rId4"/>
            <a:stretch>
              <a:fillRect l="0" t="0" r="0" b="0"/>
            </a:stretch>
          </a:blipFill>
        </p:spPr>
      </p:sp>
      <p:sp>
        <p:nvSpPr>
          <p:cNvPr name="Freeform 4" id="4"/>
          <p:cNvSpPr/>
          <p:nvPr/>
        </p:nvSpPr>
        <p:spPr>
          <a:xfrm flipH="false" flipV="false" rot="0">
            <a:off x="1244298" y="6256001"/>
            <a:ext cx="5343525" cy="4229100"/>
          </a:xfrm>
          <a:custGeom>
            <a:avLst/>
            <a:gdLst/>
            <a:ahLst/>
            <a:cxnLst/>
            <a:rect r="r" b="b" t="t" l="l"/>
            <a:pathLst>
              <a:path h="4229100" w="5343525">
                <a:moveTo>
                  <a:pt x="0" y="0"/>
                </a:moveTo>
                <a:lnTo>
                  <a:pt x="5343525" y="0"/>
                </a:lnTo>
                <a:lnTo>
                  <a:pt x="5343525" y="4229100"/>
                </a:lnTo>
                <a:lnTo>
                  <a:pt x="0" y="4229100"/>
                </a:lnTo>
                <a:lnTo>
                  <a:pt x="0" y="0"/>
                </a:lnTo>
                <a:close/>
              </a:path>
            </a:pathLst>
          </a:custGeom>
          <a:blipFill>
            <a:blip r:embed="rId5"/>
            <a:stretch>
              <a:fillRect l="-865" t="0" r="-381" b="0"/>
            </a:stretch>
          </a:blipFill>
        </p:spPr>
      </p:sp>
      <p:grpSp>
        <p:nvGrpSpPr>
          <p:cNvPr name="Group 5" id="5"/>
          <p:cNvGrpSpPr>
            <a:grpSpLocks noChangeAspect="true"/>
          </p:cNvGrpSpPr>
          <p:nvPr/>
        </p:nvGrpSpPr>
        <p:grpSpPr>
          <a:xfrm rot="0">
            <a:off x="1244298" y="6260582"/>
            <a:ext cx="5339906" cy="4226023"/>
            <a:chOff x="0" y="0"/>
            <a:chExt cx="5339906" cy="4226027"/>
          </a:xfrm>
        </p:grpSpPr>
        <p:sp>
          <p:nvSpPr>
            <p:cNvPr name="Freeform 6" id="6"/>
            <p:cNvSpPr/>
            <p:nvPr/>
          </p:nvSpPr>
          <p:spPr>
            <a:xfrm flipH="false" flipV="false" rot="0">
              <a:off x="0" y="0"/>
              <a:ext cx="5339969" cy="4226052"/>
            </a:xfrm>
            <a:custGeom>
              <a:avLst/>
              <a:gdLst/>
              <a:ahLst/>
              <a:cxnLst/>
              <a:rect r="r" b="b" t="t" l="l"/>
              <a:pathLst>
                <a:path h="4226052" w="5339969">
                  <a:moveTo>
                    <a:pt x="0" y="4226052"/>
                  </a:moveTo>
                  <a:lnTo>
                    <a:pt x="5339969" y="4226052"/>
                  </a:lnTo>
                  <a:lnTo>
                    <a:pt x="5339969" y="0"/>
                  </a:lnTo>
                  <a:lnTo>
                    <a:pt x="0" y="0"/>
                  </a:lnTo>
                  <a:close/>
                </a:path>
              </a:pathLst>
            </a:custGeom>
            <a:solidFill>
              <a:srgbClr val="000000">
                <a:alpha val="0"/>
              </a:srgbClr>
            </a:solidFill>
          </p:spPr>
        </p:sp>
      </p:grpSp>
      <p:grpSp>
        <p:nvGrpSpPr>
          <p:cNvPr name="Group 7" id="7"/>
          <p:cNvGrpSpPr>
            <a:grpSpLocks noChangeAspect="true"/>
          </p:cNvGrpSpPr>
          <p:nvPr/>
        </p:nvGrpSpPr>
        <p:grpSpPr>
          <a:xfrm rot="0">
            <a:off x="692448" y="-63503"/>
            <a:ext cx="6933905" cy="6139929"/>
            <a:chOff x="0" y="0"/>
            <a:chExt cx="6933895" cy="6139929"/>
          </a:xfrm>
        </p:grpSpPr>
        <p:sp>
          <p:nvSpPr>
            <p:cNvPr name="Freeform 8" id="8"/>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9" id="9"/>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0" id="10"/>
            <p:cNvSpPr/>
            <p:nvPr/>
          </p:nvSpPr>
          <p:spPr>
            <a:xfrm flipH="false" flipV="false" rot="0">
              <a:off x="3377057" y="3422777"/>
              <a:ext cx="3366643" cy="2653665"/>
            </a:xfrm>
            <a:custGeom>
              <a:avLst/>
              <a:gdLst/>
              <a:ahLst/>
              <a:cxnLst/>
              <a:rect r="r" b="b" t="t" l="l"/>
              <a:pathLst>
                <a:path h="2653665" w="3366643">
                  <a:moveTo>
                    <a:pt x="0" y="2653665"/>
                  </a:moveTo>
                  <a:lnTo>
                    <a:pt x="3366643" y="2653665"/>
                  </a:lnTo>
                  <a:lnTo>
                    <a:pt x="3366643" y="0"/>
                  </a:lnTo>
                  <a:lnTo>
                    <a:pt x="0" y="0"/>
                  </a:lnTo>
                  <a:close/>
                </a:path>
              </a:pathLst>
            </a:custGeom>
            <a:solidFill>
              <a:srgbClr val="000000">
                <a:alpha val="0"/>
              </a:srgbClr>
            </a:solidFill>
          </p:spPr>
        </p:sp>
      </p:grpSp>
      <p:sp>
        <p:nvSpPr>
          <p:cNvPr name="TextBox 11" id="11"/>
          <p:cNvSpPr txBox="true"/>
          <p:nvPr/>
        </p:nvSpPr>
        <p:spPr>
          <a:xfrm rot="0">
            <a:off x="623345" y="1209418"/>
            <a:ext cx="5836844" cy="1969351"/>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a:p>
            <a:pPr algn="l">
              <a:lnSpc>
                <a:spcPts val="2239"/>
              </a:lnSpc>
            </a:pPr>
            <a:r>
              <a:rPr lang="en-US" b="true" sz="1599">
                <a:solidFill>
                  <a:srgbClr val="FFFFFF"/>
                </a:solidFill>
                <a:latin typeface="HK Grotesk Semi-Bold"/>
                <a:ea typeface="HK Grotesk Semi-Bold"/>
                <a:cs typeface="HK Grotesk Semi-Bold"/>
                <a:sym typeface="HK Grotesk Semi-Bold"/>
              </a:rPr>
              <a:t>NUMBER OF STUDENTS BY DEPARTMEN</a:t>
            </a:r>
            <a:r>
              <a:rPr lang="en-US" b="true" sz="1599">
                <a:solidFill>
                  <a:srgbClr val="2A3652"/>
                </a:solidFill>
                <a:latin typeface="HK Grotesk Bold"/>
                <a:ea typeface="HK Grotesk Bold"/>
                <a:cs typeface="HK Grotesk Bold"/>
                <a:sym typeface="HK Grotesk Bold"/>
              </a:rPr>
              <a:t>0</a:t>
            </a:r>
            <a:r>
              <a:rPr lang="en-US" b="true" sz="1599">
                <a:solidFill>
                  <a:srgbClr val="FFFFFF"/>
                </a:solidFill>
                <a:latin typeface="HK Grotesk Semi-Bold"/>
                <a:ea typeface="HK Grotesk Semi-Bold"/>
                <a:cs typeface="HK Grotesk Semi-Bold"/>
                <a:sym typeface="HK Grotesk Semi-Bold"/>
              </a:rPr>
              <a:t>T</a:t>
            </a:r>
            <a:r>
              <a:rPr lang="en-US" b="true" sz="1599">
                <a:solidFill>
                  <a:srgbClr val="2A3652"/>
                </a:solidFill>
                <a:latin typeface="HK Grotesk Bold"/>
                <a:ea typeface="HK Grotesk Bold"/>
                <a:cs typeface="HK Grotesk Bold"/>
                <a:sym typeface="HK Grotesk Bold"/>
              </a:rPr>
              <a:t>1</a:t>
            </a:r>
            <a:r>
              <a:rPr lang="en-US" b="true" sz="1599">
                <a:solidFill>
                  <a:srgbClr val="FFFFFF"/>
                </a:solidFill>
                <a:latin typeface="HK Grotesk Semi-Bold"/>
                <a:ea typeface="HK Grotesk Semi-Bold"/>
                <a:cs typeface="HK Grotesk Semi-Bold"/>
                <a:sym typeface="HK Grotesk Semi-Bold"/>
              </a:rPr>
              <a:t>S</a:t>
            </a:r>
          </a:p>
        </p:txBody>
      </p:sp>
      <p:sp>
        <p:nvSpPr>
          <p:cNvPr name="TextBox 12" id="12"/>
          <p:cNvSpPr txBox="true"/>
          <p:nvPr/>
        </p:nvSpPr>
        <p:spPr>
          <a:xfrm rot="0">
            <a:off x="701669" y="3428562"/>
            <a:ext cx="3364211" cy="2570245"/>
          </a:xfrm>
          <a:prstGeom prst="rect">
            <a:avLst/>
          </a:prstGeom>
        </p:spPr>
        <p:txBody>
          <a:bodyPr anchor="t" rtlCol="false" tIns="0" lIns="0" bIns="0" rIns="0">
            <a:spAutoFit/>
          </a:bodyPr>
          <a:lstStyle/>
          <a:p>
            <a:pPr algn="ctr">
              <a:lnSpc>
                <a:spcPts val="1439"/>
              </a:lnSpc>
            </a:pPr>
            <a:r>
              <a:rPr lang="en-US" b="true" sz="1211" spc="109">
                <a:solidFill>
                  <a:srgbClr val="FFFFFF"/>
                </a:solidFill>
                <a:latin typeface="HK Grotesk Medium"/>
                <a:ea typeface="HK Grotesk Medium"/>
                <a:cs typeface="HK Grotesk Medium"/>
                <a:sym typeface="HK Grotesk Medium"/>
              </a:rPr>
              <a:t>The distribution of students across departments reveals the following: CS: The largest department, with a near- equal split between male and female students. Business: Slightly fewer students compared to CS, with males being more common. Engineering: Predominantly male students, though the gender gap is not extreme. Mathematics: The smallest department, but also relatively balanced in terms of gender.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92579" y="3509077"/>
            <a:ext cx="3810000" cy="2686050"/>
          </a:xfrm>
          <a:custGeom>
            <a:avLst/>
            <a:gdLst/>
            <a:ahLst/>
            <a:cxnLst/>
            <a:rect r="r" b="b" t="t" l="l"/>
            <a:pathLst>
              <a:path h="2686050" w="3810000">
                <a:moveTo>
                  <a:pt x="0" y="0"/>
                </a:moveTo>
                <a:lnTo>
                  <a:pt x="3810000" y="0"/>
                </a:lnTo>
                <a:lnTo>
                  <a:pt x="3810000" y="2686050"/>
                </a:lnTo>
                <a:lnTo>
                  <a:pt x="0" y="2686050"/>
                </a:lnTo>
                <a:lnTo>
                  <a:pt x="0" y="0"/>
                </a:lnTo>
                <a:close/>
              </a:path>
            </a:pathLst>
          </a:custGeom>
          <a:blipFill>
            <a:blip r:embed="rId4"/>
            <a:stretch>
              <a:fillRect l="0" t="0" r="0" b="0"/>
            </a:stretch>
          </a:blipFill>
        </p:spPr>
      </p:sp>
      <p:sp>
        <p:nvSpPr>
          <p:cNvPr name="Freeform 4" id="4"/>
          <p:cNvSpPr/>
          <p:nvPr/>
        </p:nvSpPr>
        <p:spPr>
          <a:xfrm flipH="false" flipV="false" rot="0">
            <a:off x="373675" y="7024697"/>
            <a:ext cx="3248025" cy="2066925"/>
          </a:xfrm>
          <a:custGeom>
            <a:avLst/>
            <a:gdLst/>
            <a:ahLst/>
            <a:cxnLst/>
            <a:rect r="r" b="b" t="t" l="l"/>
            <a:pathLst>
              <a:path h="2066925" w="3248025">
                <a:moveTo>
                  <a:pt x="0" y="0"/>
                </a:moveTo>
                <a:lnTo>
                  <a:pt x="3248025" y="0"/>
                </a:lnTo>
                <a:lnTo>
                  <a:pt x="3248025" y="2066925"/>
                </a:lnTo>
                <a:lnTo>
                  <a:pt x="0" y="2066925"/>
                </a:lnTo>
                <a:lnTo>
                  <a:pt x="0" y="0"/>
                </a:lnTo>
                <a:close/>
              </a:path>
            </a:pathLst>
          </a:custGeom>
          <a:blipFill>
            <a:blip r:embed="rId5"/>
            <a:stretch>
              <a:fillRect l="0" t="0" r="0" b="0"/>
            </a:stretch>
          </a:blipFill>
        </p:spPr>
      </p:sp>
      <p:grpSp>
        <p:nvGrpSpPr>
          <p:cNvPr name="Group 5" id="5"/>
          <p:cNvGrpSpPr>
            <a:grpSpLocks noChangeAspect="true"/>
          </p:cNvGrpSpPr>
          <p:nvPr/>
        </p:nvGrpSpPr>
        <p:grpSpPr>
          <a:xfrm rot="0">
            <a:off x="373675" y="7029279"/>
            <a:ext cx="3248158" cy="2065696"/>
            <a:chOff x="0" y="0"/>
            <a:chExt cx="3248152" cy="2065693"/>
          </a:xfrm>
        </p:grpSpPr>
        <p:sp>
          <p:nvSpPr>
            <p:cNvPr name="Freeform 6" id="6"/>
            <p:cNvSpPr/>
            <p:nvPr/>
          </p:nvSpPr>
          <p:spPr>
            <a:xfrm flipH="false" flipV="false" rot="0">
              <a:off x="0" y="0"/>
              <a:ext cx="3248152" cy="2065655"/>
            </a:xfrm>
            <a:custGeom>
              <a:avLst/>
              <a:gdLst/>
              <a:ahLst/>
              <a:cxnLst/>
              <a:rect r="r" b="b" t="t" l="l"/>
              <a:pathLst>
                <a:path h="2065655" w="3248152">
                  <a:moveTo>
                    <a:pt x="0" y="2065655"/>
                  </a:moveTo>
                  <a:lnTo>
                    <a:pt x="3248152" y="2065655"/>
                  </a:lnTo>
                  <a:lnTo>
                    <a:pt x="3248152" y="0"/>
                  </a:lnTo>
                  <a:lnTo>
                    <a:pt x="0" y="0"/>
                  </a:lnTo>
                  <a:close/>
                </a:path>
              </a:pathLst>
            </a:custGeom>
            <a:solidFill>
              <a:srgbClr val="000000">
                <a:alpha val="0"/>
              </a:srgbClr>
            </a:solidFill>
          </p:spPr>
        </p:sp>
      </p:grpSp>
      <p:grpSp>
        <p:nvGrpSpPr>
          <p:cNvPr name="Group 7" id="7"/>
          <p:cNvGrpSpPr>
            <a:grpSpLocks noChangeAspect="true"/>
          </p:cNvGrpSpPr>
          <p:nvPr/>
        </p:nvGrpSpPr>
        <p:grpSpPr>
          <a:xfrm rot="0">
            <a:off x="692448" y="-63503"/>
            <a:ext cx="6933905" cy="6322057"/>
            <a:chOff x="0" y="0"/>
            <a:chExt cx="6933895" cy="6322060"/>
          </a:xfrm>
        </p:grpSpPr>
        <p:sp>
          <p:nvSpPr>
            <p:cNvPr name="Freeform 8" id="8"/>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9" id="9"/>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0" id="10"/>
            <p:cNvSpPr/>
            <p:nvPr/>
          </p:nvSpPr>
          <p:spPr>
            <a:xfrm flipH="false" flipV="false" rot="0">
              <a:off x="2800096" y="3577209"/>
              <a:ext cx="3806698" cy="2681351"/>
            </a:xfrm>
            <a:custGeom>
              <a:avLst/>
              <a:gdLst/>
              <a:ahLst/>
              <a:cxnLst/>
              <a:rect r="r" b="b" t="t" l="l"/>
              <a:pathLst>
                <a:path h="2681351" w="3806698">
                  <a:moveTo>
                    <a:pt x="0" y="2681351"/>
                  </a:moveTo>
                  <a:lnTo>
                    <a:pt x="3806698" y="2681351"/>
                  </a:lnTo>
                  <a:lnTo>
                    <a:pt x="3806698" y="0"/>
                  </a:lnTo>
                  <a:lnTo>
                    <a:pt x="0" y="0"/>
                  </a:lnTo>
                  <a:close/>
                </a:path>
              </a:pathLst>
            </a:custGeom>
            <a:solidFill>
              <a:srgbClr val="000000">
                <a:alpha val="0"/>
              </a:srgbClr>
            </a:solidFill>
          </p:spPr>
        </p:sp>
      </p:grpSp>
      <p:sp>
        <p:nvSpPr>
          <p:cNvPr name="TextBox 11" id="11"/>
          <p:cNvSpPr txBox="true"/>
          <p:nvPr/>
        </p:nvSpPr>
        <p:spPr>
          <a:xfrm rot="0">
            <a:off x="623345" y="1209418"/>
            <a:ext cx="5836844"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p:txBody>
      </p:sp>
      <p:sp>
        <p:nvSpPr>
          <p:cNvPr name="TextBox 12" id="12"/>
          <p:cNvSpPr txBox="true"/>
          <p:nvPr/>
        </p:nvSpPr>
        <p:spPr>
          <a:xfrm rot="0">
            <a:off x="403365" y="3492703"/>
            <a:ext cx="3092110" cy="1866348"/>
          </a:xfrm>
          <a:prstGeom prst="rect">
            <a:avLst/>
          </a:prstGeom>
        </p:spPr>
        <p:txBody>
          <a:bodyPr anchor="t" rtlCol="false" tIns="0" lIns="0" bIns="0" rIns="0">
            <a:spAutoFit/>
          </a:bodyPr>
          <a:lstStyle/>
          <a:p>
            <a:pPr algn="l">
              <a:lnSpc>
                <a:spcPts val="1831"/>
              </a:lnSpc>
            </a:pPr>
            <a:r>
              <a:rPr lang="en-US" b="true" sz="1557" spc="140">
                <a:solidFill>
                  <a:srgbClr val="FFFFFF"/>
                </a:solidFill>
                <a:latin typeface="HK Grotesk Medium"/>
                <a:ea typeface="HK Grotesk Medium"/>
                <a:cs typeface="HK Grotesk Medium"/>
                <a:sym typeface="HK Grotesk Medium"/>
              </a:rPr>
              <a:t>From the visualizations, the Business and CS departments shows higher average stress levels compared to other departments. This could be due to the nature of coursework, deadlines, or other external factors.</a:t>
            </a:r>
          </a:p>
        </p:txBody>
      </p:sp>
      <p:sp>
        <p:nvSpPr>
          <p:cNvPr name="TextBox 13" id="13"/>
          <p:cNvSpPr txBox="true"/>
          <p:nvPr/>
        </p:nvSpPr>
        <p:spPr>
          <a:xfrm rot="0">
            <a:off x="3819620" y="7212340"/>
            <a:ext cx="3525793" cy="1633642"/>
          </a:xfrm>
          <a:prstGeom prst="rect">
            <a:avLst/>
          </a:prstGeom>
        </p:spPr>
        <p:txBody>
          <a:bodyPr anchor="t" rtlCol="false" tIns="0" lIns="0" bIns="0" rIns="0">
            <a:spAutoFit/>
          </a:bodyPr>
          <a:lstStyle/>
          <a:p>
            <a:pPr algn="l">
              <a:lnSpc>
                <a:spcPts val="1831"/>
              </a:lnSpc>
            </a:pPr>
            <a:r>
              <a:rPr lang="en-US" b="true" sz="1557" spc="140">
                <a:solidFill>
                  <a:srgbClr val="FFFFFF"/>
                </a:solidFill>
                <a:latin typeface="HK Grotesk Medium"/>
                <a:ea typeface="HK Grotesk Medium"/>
                <a:cs typeface="HK Grotesk Medium"/>
                <a:sym typeface="HK Grotesk Medium"/>
              </a:rPr>
              <a:t>Across departments, most students fall within the 18 to 25 age range. The age distribution is fairly uniform, with small variations depending on the department, but the majority remain within this range.</a:t>
            </a:r>
          </a:p>
        </p:txBody>
      </p:sp>
      <p:sp>
        <p:nvSpPr>
          <p:cNvPr name="TextBox 14" id="14"/>
          <p:cNvSpPr txBox="true"/>
          <p:nvPr/>
        </p:nvSpPr>
        <p:spPr>
          <a:xfrm rot="0">
            <a:off x="382991" y="2896886"/>
            <a:ext cx="4882486" cy="281911"/>
          </a:xfrm>
          <a:prstGeom prst="rect">
            <a:avLst/>
          </a:prstGeom>
        </p:spPr>
        <p:txBody>
          <a:bodyPr anchor="t" rtlCol="false" tIns="0" lIns="0" bIns="0" rIns="0">
            <a:spAutoFit/>
          </a:bodyPr>
          <a:lstStyle/>
          <a:p>
            <a:pPr algn="l">
              <a:lnSpc>
                <a:spcPts val="2239"/>
              </a:lnSpc>
            </a:pPr>
            <a:r>
              <a:rPr lang="en-US" b="true" sz="1599">
                <a:solidFill>
                  <a:srgbClr val="FFFFFF"/>
                </a:solidFill>
                <a:latin typeface="HK Grotesk Semi-Bold"/>
                <a:ea typeface="HK Grotesk Semi-Bold"/>
                <a:cs typeface="HK Grotesk Semi-Bold"/>
                <a:sym typeface="HK Grotesk Semi-Bold"/>
              </a:rPr>
              <a:t>STRESS LEVEL DISTRIBUTION BY DEPARTM</a:t>
            </a:r>
            <a:r>
              <a:rPr lang="en-US" b="true" sz="1599">
                <a:solidFill>
                  <a:srgbClr val="2A3652"/>
                </a:solidFill>
                <a:latin typeface="HK Grotesk Bold"/>
                <a:ea typeface="HK Grotesk Bold"/>
                <a:cs typeface="HK Grotesk Bold"/>
                <a:sym typeface="HK Grotesk Bold"/>
              </a:rPr>
              <a:t>01</a:t>
            </a:r>
            <a:r>
              <a:rPr lang="en-US" b="true" sz="1599">
                <a:solidFill>
                  <a:srgbClr val="FFFFFF"/>
                </a:solidFill>
                <a:latin typeface="HK Grotesk Semi-Bold"/>
                <a:ea typeface="HK Grotesk Semi-Bold"/>
                <a:cs typeface="HK Grotesk Semi-Bold"/>
                <a:sym typeface="HK Grotesk Semi-Bold"/>
              </a:rPr>
              <a:t>ENT</a:t>
            </a:r>
          </a:p>
        </p:txBody>
      </p:sp>
      <p:sp>
        <p:nvSpPr>
          <p:cNvPr name="TextBox 15" id="15"/>
          <p:cNvSpPr txBox="true"/>
          <p:nvPr/>
        </p:nvSpPr>
        <p:spPr>
          <a:xfrm rot="0">
            <a:off x="3017834" y="6476762"/>
            <a:ext cx="3832422"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AGE DISTRIBUTION BY DEPARTMENT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4139" y="3288411"/>
            <a:ext cx="2990850" cy="2057400"/>
          </a:xfrm>
          <a:custGeom>
            <a:avLst/>
            <a:gdLst/>
            <a:ahLst/>
            <a:cxnLst/>
            <a:rect r="r" b="b" t="t" l="l"/>
            <a:pathLst>
              <a:path h="2057400" w="2990850">
                <a:moveTo>
                  <a:pt x="0" y="0"/>
                </a:moveTo>
                <a:lnTo>
                  <a:pt x="2990850" y="0"/>
                </a:lnTo>
                <a:lnTo>
                  <a:pt x="2990850" y="2057400"/>
                </a:lnTo>
                <a:lnTo>
                  <a:pt x="0" y="2057400"/>
                </a:lnTo>
                <a:lnTo>
                  <a:pt x="0" y="0"/>
                </a:lnTo>
                <a:close/>
              </a:path>
            </a:pathLst>
          </a:custGeom>
          <a:blipFill>
            <a:blip r:embed="rId4"/>
            <a:stretch>
              <a:fillRect l="0" t="0" r="-3821" b="0"/>
            </a:stretch>
          </a:blipFill>
        </p:spPr>
      </p:sp>
      <p:sp>
        <p:nvSpPr>
          <p:cNvPr name="Freeform 4" id="4"/>
          <p:cNvSpPr/>
          <p:nvPr/>
        </p:nvSpPr>
        <p:spPr>
          <a:xfrm flipH="false" flipV="false" rot="0">
            <a:off x="2304117" y="8523370"/>
            <a:ext cx="4457700" cy="1047750"/>
          </a:xfrm>
          <a:custGeom>
            <a:avLst/>
            <a:gdLst/>
            <a:ahLst/>
            <a:cxnLst/>
            <a:rect r="r" b="b" t="t" l="l"/>
            <a:pathLst>
              <a:path h="1047750" w="4457700">
                <a:moveTo>
                  <a:pt x="0" y="0"/>
                </a:moveTo>
                <a:lnTo>
                  <a:pt x="4457700" y="0"/>
                </a:lnTo>
                <a:lnTo>
                  <a:pt x="4457700" y="1047750"/>
                </a:lnTo>
                <a:lnTo>
                  <a:pt x="0" y="1047750"/>
                </a:lnTo>
                <a:lnTo>
                  <a:pt x="0" y="0"/>
                </a:lnTo>
                <a:close/>
              </a:path>
            </a:pathLst>
          </a:custGeom>
          <a:blipFill>
            <a:blip r:embed="rId5"/>
            <a:stretch>
              <a:fillRect l="0" t="0" r="0" b="0"/>
            </a:stretch>
          </a:blipFill>
        </p:spPr>
      </p:sp>
      <p:grpSp>
        <p:nvGrpSpPr>
          <p:cNvPr name="Group 5" id="5"/>
          <p:cNvGrpSpPr>
            <a:grpSpLocks noChangeAspect="true"/>
          </p:cNvGrpSpPr>
          <p:nvPr/>
        </p:nvGrpSpPr>
        <p:grpSpPr>
          <a:xfrm rot="0">
            <a:off x="721366" y="6425279"/>
            <a:ext cx="49016" cy="49016"/>
            <a:chOff x="0" y="0"/>
            <a:chExt cx="49009" cy="49009"/>
          </a:xfrm>
        </p:grpSpPr>
        <p:sp>
          <p:nvSpPr>
            <p:cNvPr name="Freeform 6" id="6"/>
            <p:cNvSpPr/>
            <p:nvPr/>
          </p:nvSpPr>
          <p:spPr>
            <a:xfrm flipH="false" flipV="false" rot="0">
              <a:off x="0" y="0"/>
              <a:ext cx="49149" cy="49149"/>
            </a:xfrm>
            <a:custGeom>
              <a:avLst/>
              <a:gdLst/>
              <a:ahLst/>
              <a:cxnLst/>
              <a:rect r="r" b="b" t="t" l="l"/>
              <a:pathLst>
                <a:path h="49149" w="49149">
                  <a:moveTo>
                    <a:pt x="49022" y="24511"/>
                  </a:moveTo>
                  <a:cubicBezTo>
                    <a:pt x="49022" y="27813"/>
                    <a:pt x="48387" y="30861"/>
                    <a:pt x="47117" y="33909"/>
                  </a:cubicBezTo>
                  <a:cubicBezTo>
                    <a:pt x="45847" y="36957"/>
                    <a:pt x="44069" y="39624"/>
                    <a:pt x="41783" y="41910"/>
                  </a:cubicBezTo>
                  <a:cubicBezTo>
                    <a:pt x="39497" y="44196"/>
                    <a:pt x="36830" y="45974"/>
                    <a:pt x="33782" y="47244"/>
                  </a:cubicBezTo>
                  <a:cubicBezTo>
                    <a:pt x="30734" y="48514"/>
                    <a:pt x="27686" y="49149"/>
                    <a:pt x="24384" y="49149"/>
                  </a:cubicBezTo>
                  <a:cubicBezTo>
                    <a:pt x="21082" y="49149"/>
                    <a:pt x="18034" y="48514"/>
                    <a:pt x="14986" y="47244"/>
                  </a:cubicBezTo>
                  <a:cubicBezTo>
                    <a:pt x="11938" y="45974"/>
                    <a:pt x="9271" y="44196"/>
                    <a:pt x="6985" y="41910"/>
                  </a:cubicBezTo>
                  <a:cubicBezTo>
                    <a:pt x="4699" y="39624"/>
                    <a:pt x="3048" y="36830"/>
                    <a:pt x="1905" y="33909"/>
                  </a:cubicBezTo>
                  <a:cubicBezTo>
                    <a:pt x="762" y="30988"/>
                    <a:pt x="0" y="27813"/>
                    <a:pt x="0" y="24511"/>
                  </a:cubicBezTo>
                  <a:cubicBezTo>
                    <a:pt x="0" y="21209"/>
                    <a:pt x="635" y="18161"/>
                    <a:pt x="1905" y="15113"/>
                  </a:cubicBezTo>
                  <a:cubicBezTo>
                    <a:pt x="3175" y="12065"/>
                    <a:pt x="4826" y="9525"/>
                    <a:pt x="7239" y="7239"/>
                  </a:cubicBezTo>
                  <a:cubicBezTo>
                    <a:pt x="9652" y="4953"/>
                    <a:pt x="12065" y="3048"/>
                    <a:pt x="15113" y="1905"/>
                  </a:cubicBezTo>
                  <a:cubicBezTo>
                    <a:pt x="18161" y="762"/>
                    <a:pt x="21209" y="0"/>
                    <a:pt x="24511" y="0"/>
                  </a:cubicBezTo>
                  <a:cubicBezTo>
                    <a:pt x="27813" y="0"/>
                    <a:pt x="30861" y="635"/>
                    <a:pt x="33909" y="1905"/>
                  </a:cubicBezTo>
                  <a:cubicBezTo>
                    <a:pt x="36957" y="3175"/>
                    <a:pt x="39624" y="4953"/>
                    <a:pt x="41910" y="7239"/>
                  </a:cubicBezTo>
                  <a:cubicBezTo>
                    <a:pt x="44196" y="9525"/>
                    <a:pt x="45974" y="12192"/>
                    <a:pt x="47244" y="15240"/>
                  </a:cubicBezTo>
                  <a:cubicBezTo>
                    <a:pt x="48514" y="18288"/>
                    <a:pt x="49149" y="21336"/>
                    <a:pt x="49149" y="24638"/>
                  </a:cubicBezTo>
                  <a:close/>
                </a:path>
              </a:pathLst>
            </a:custGeom>
            <a:solidFill>
              <a:srgbClr val="FFFFFF"/>
            </a:solidFill>
          </p:spPr>
        </p:sp>
      </p:grpSp>
      <p:grpSp>
        <p:nvGrpSpPr>
          <p:cNvPr name="Group 7" id="7"/>
          <p:cNvGrpSpPr>
            <a:grpSpLocks noChangeAspect="true"/>
          </p:cNvGrpSpPr>
          <p:nvPr/>
        </p:nvGrpSpPr>
        <p:grpSpPr>
          <a:xfrm rot="0">
            <a:off x="721366" y="6797764"/>
            <a:ext cx="49016" cy="49016"/>
            <a:chOff x="0" y="0"/>
            <a:chExt cx="49009" cy="49009"/>
          </a:xfrm>
        </p:grpSpPr>
        <p:sp>
          <p:nvSpPr>
            <p:cNvPr name="Freeform 8" id="8"/>
            <p:cNvSpPr/>
            <p:nvPr/>
          </p:nvSpPr>
          <p:spPr>
            <a:xfrm flipH="false" flipV="false" rot="0">
              <a:off x="0" y="0"/>
              <a:ext cx="49149" cy="49149"/>
            </a:xfrm>
            <a:custGeom>
              <a:avLst/>
              <a:gdLst/>
              <a:ahLst/>
              <a:cxnLst/>
              <a:rect r="r" b="b" t="t" l="l"/>
              <a:pathLst>
                <a:path h="49149" w="49149">
                  <a:moveTo>
                    <a:pt x="49022" y="24511"/>
                  </a:moveTo>
                  <a:cubicBezTo>
                    <a:pt x="49022" y="27813"/>
                    <a:pt x="48387" y="30861"/>
                    <a:pt x="47117" y="33909"/>
                  </a:cubicBezTo>
                  <a:cubicBezTo>
                    <a:pt x="45847" y="36957"/>
                    <a:pt x="44069" y="39624"/>
                    <a:pt x="41783" y="41910"/>
                  </a:cubicBezTo>
                  <a:cubicBezTo>
                    <a:pt x="39497" y="44196"/>
                    <a:pt x="36830" y="45974"/>
                    <a:pt x="33782" y="47244"/>
                  </a:cubicBezTo>
                  <a:cubicBezTo>
                    <a:pt x="30734" y="48514"/>
                    <a:pt x="27686" y="49149"/>
                    <a:pt x="24384" y="49149"/>
                  </a:cubicBezTo>
                  <a:cubicBezTo>
                    <a:pt x="21082" y="49149"/>
                    <a:pt x="18034" y="48514"/>
                    <a:pt x="14986" y="47244"/>
                  </a:cubicBezTo>
                  <a:cubicBezTo>
                    <a:pt x="11938" y="45974"/>
                    <a:pt x="9271" y="44196"/>
                    <a:pt x="6985" y="41910"/>
                  </a:cubicBezTo>
                  <a:cubicBezTo>
                    <a:pt x="4699" y="39624"/>
                    <a:pt x="3048" y="36830"/>
                    <a:pt x="1905" y="33909"/>
                  </a:cubicBezTo>
                  <a:cubicBezTo>
                    <a:pt x="762" y="30988"/>
                    <a:pt x="0" y="27813"/>
                    <a:pt x="0" y="24511"/>
                  </a:cubicBezTo>
                  <a:cubicBezTo>
                    <a:pt x="0" y="21209"/>
                    <a:pt x="635" y="18161"/>
                    <a:pt x="1905" y="15113"/>
                  </a:cubicBezTo>
                  <a:cubicBezTo>
                    <a:pt x="3175" y="12065"/>
                    <a:pt x="4826" y="9525"/>
                    <a:pt x="7239" y="7239"/>
                  </a:cubicBezTo>
                  <a:cubicBezTo>
                    <a:pt x="9652" y="4953"/>
                    <a:pt x="12065" y="3048"/>
                    <a:pt x="15113" y="1905"/>
                  </a:cubicBezTo>
                  <a:cubicBezTo>
                    <a:pt x="18161" y="762"/>
                    <a:pt x="21209" y="0"/>
                    <a:pt x="24511" y="0"/>
                  </a:cubicBezTo>
                  <a:cubicBezTo>
                    <a:pt x="27813" y="0"/>
                    <a:pt x="30861" y="635"/>
                    <a:pt x="33909" y="1905"/>
                  </a:cubicBezTo>
                  <a:cubicBezTo>
                    <a:pt x="36957" y="3175"/>
                    <a:pt x="39624" y="4953"/>
                    <a:pt x="41910" y="7239"/>
                  </a:cubicBezTo>
                  <a:cubicBezTo>
                    <a:pt x="44196" y="9525"/>
                    <a:pt x="45974" y="12192"/>
                    <a:pt x="47244" y="15240"/>
                  </a:cubicBezTo>
                  <a:cubicBezTo>
                    <a:pt x="48514" y="18288"/>
                    <a:pt x="49149" y="21336"/>
                    <a:pt x="49149" y="24638"/>
                  </a:cubicBezTo>
                  <a:close/>
                </a:path>
              </a:pathLst>
            </a:custGeom>
            <a:solidFill>
              <a:srgbClr val="FFFFFF"/>
            </a:solidFill>
          </p:spPr>
        </p:sp>
      </p:grpSp>
      <p:grpSp>
        <p:nvGrpSpPr>
          <p:cNvPr name="Group 9" id="9"/>
          <p:cNvGrpSpPr>
            <a:grpSpLocks noChangeAspect="true"/>
          </p:cNvGrpSpPr>
          <p:nvPr/>
        </p:nvGrpSpPr>
        <p:grpSpPr>
          <a:xfrm rot="0">
            <a:off x="721366" y="7170249"/>
            <a:ext cx="49016" cy="49016"/>
            <a:chOff x="0" y="0"/>
            <a:chExt cx="49009" cy="49009"/>
          </a:xfrm>
        </p:grpSpPr>
        <p:sp>
          <p:nvSpPr>
            <p:cNvPr name="Freeform 10" id="10"/>
            <p:cNvSpPr/>
            <p:nvPr/>
          </p:nvSpPr>
          <p:spPr>
            <a:xfrm flipH="false" flipV="false" rot="0">
              <a:off x="0" y="0"/>
              <a:ext cx="49149" cy="49149"/>
            </a:xfrm>
            <a:custGeom>
              <a:avLst/>
              <a:gdLst/>
              <a:ahLst/>
              <a:cxnLst/>
              <a:rect r="r" b="b" t="t" l="l"/>
              <a:pathLst>
                <a:path h="49149" w="49149">
                  <a:moveTo>
                    <a:pt x="49022" y="24511"/>
                  </a:moveTo>
                  <a:cubicBezTo>
                    <a:pt x="49022" y="27813"/>
                    <a:pt x="48387" y="30861"/>
                    <a:pt x="47117" y="33909"/>
                  </a:cubicBezTo>
                  <a:cubicBezTo>
                    <a:pt x="45847" y="36957"/>
                    <a:pt x="44069" y="39624"/>
                    <a:pt x="41783" y="41910"/>
                  </a:cubicBezTo>
                  <a:cubicBezTo>
                    <a:pt x="39497" y="44196"/>
                    <a:pt x="36830" y="45974"/>
                    <a:pt x="33782" y="47244"/>
                  </a:cubicBezTo>
                  <a:cubicBezTo>
                    <a:pt x="30734" y="48514"/>
                    <a:pt x="27686" y="49149"/>
                    <a:pt x="24384" y="49149"/>
                  </a:cubicBezTo>
                  <a:cubicBezTo>
                    <a:pt x="21082" y="49149"/>
                    <a:pt x="18034" y="48514"/>
                    <a:pt x="14986" y="47244"/>
                  </a:cubicBezTo>
                  <a:cubicBezTo>
                    <a:pt x="11938" y="45974"/>
                    <a:pt x="9271" y="44196"/>
                    <a:pt x="6985" y="41910"/>
                  </a:cubicBezTo>
                  <a:cubicBezTo>
                    <a:pt x="4699" y="39624"/>
                    <a:pt x="3048" y="36830"/>
                    <a:pt x="1905" y="33909"/>
                  </a:cubicBezTo>
                  <a:cubicBezTo>
                    <a:pt x="762" y="30988"/>
                    <a:pt x="0" y="27813"/>
                    <a:pt x="0" y="24511"/>
                  </a:cubicBezTo>
                  <a:cubicBezTo>
                    <a:pt x="0" y="21209"/>
                    <a:pt x="635" y="18161"/>
                    <a:pt x="1905" y="15113"/>
                  </a:cubicBezTo>
                  <a:cubicBezTo>
                    <a:pt x="3175" y="12065"/>
                    <a:pt x="4826" y="9525"/>
                    <a:pt x="7239" y="7239"/>
                  </a:cubicBezTo>
                  <a:cubicBezTo>
                    <a:pt x="9652" y="4953"/>
                    <a:pt x="12065" y="3048"/>
                    <a:pt x="15113" y="1905"/>
                  </a:cubicBezTo>
                  <a:cubicBezTo>
                    <a:pt x="18161" y="762"/>
                    <a:pt x="21209" y="0"/>
                    <a:pt x="24511" y="0"/>
                  </a:cubicBezTo>
                  <a:cubicBezTo>
                    <a:pt x="27813" y="0"/>
                    <a:pt x="30861" y="635"/>
                    <a:pt x="33909" y="1905"/>
                  </a:cubicBezTo>
                  <a:cubicBezTo>
                    <a:pt x="36957" y="3175"/>
                    <a:pt x="39624" y="4953"/>
                    <a:pt x="41910" y="7239"/>
                  </a:cubicBezTo>
                  <a:cubicBezTo>
                    <a:pt x="44196" y="9525"/>
                    <a:pt x="45974" y="12192"/>
                    <a:pt x="47244" y="15240"/>
                  </a:cubicBezTo>
                  <a:cubicBezTo>
                    <a:pt x="48514" y="18288"/>
                    <a:pt x="49149" y="21336"/>
                    <a:pt x="49149" y="24638"/>
                  </a:cubicBezTo>
                  <a:close/>
                </a:path>
              </a:pathLst>
            </a:custGeom>
            <a:solidFill>
              <a:srgbClr val="FFFFFF"/>
            </a:solidFill>
          </p:spPr>
        </p:sp>
      </p:grpSp>
      <p:grpSp>
        <p:nvGrpSpPr>
          <p:cNvPr name="Group 11" id="11"/>
          <p:cNvGrpSpPr>
            <a:grpSpLocks noChangeAspect="true"/>
          </p:cNvGrpSpPr>
          <p:nvPr/>
        </p:nvGrpSpPr>
        <p:grpSpPr>
          <a:xfrm rot="0">
            <a:off x="721366" y="7356491"/>
            <a:ext cx="49016" cy="49016"/>
            <a:chOff x="0" y="0"/>
            <a:chExt cx="49009" cy="49009"/>
          </a:xfrm>
        </p:grpSpPr>
        <p:sp>
          <p:nvSpPr>
            <p:cNvPr name="Freeform 12" id="12"/>
            <p:cNvSpPr/>
            <p:nvPr/>
          </p:nvSpPr>
          <p:spPr>
            <a:xfrm flipH="false" flipV="false" rot="0">
              <a:off x="0" y="0"/>
              <a:ext cx="49149" cy="49149"/>
            </a:xfrm>
            <a:custGeom>
              <a:avLst/>
              <a:gdLst/>
              <a:ahLst/>
              <a:cxnLst/>
              <a:rect r="r" b="b" t="t" l="l"/>
              <a:pathLst>
                <a:path h="49149" w="49149">
                  <a:moveTo>
                    <a:pt x="49022" y="24511"/>
                  </a:moveTo>
                  <a:cubicBezTo>
                    <a:pt x="49022" y="27813"/>
                    <a:pt x="48387" y="30861"/>
                    <a:pt x="47117" y="33909"/>
                  </a:cubicBezTo>
                  <a:cubicBezTo>
                    <a:pt x="45847" y="36957"/>
                    <a:pt x="44069" y="39624"/>
                    <a:pt x="41783" y="41910"/>
                  </a:cubicBezTo>
                  <a:cubicBezTo>
                    <a:pt x="39497" y="44196"/>
                    <a:pt x="36830" y="45974"/>
                    <a:pt x="33782" y="47244"/>
                  </a:cubicBezTo>
                  <a:cubicBezTo>
                    <a:pt x="30734" y="48514"/>
                    <a:pt x="27686" y="49149"/>
                    <a:pt x="24384" y="49149"/>
                  </a:cubicBezTo>
                  <a:cubicBezTo>
                    <a:pt x="21082" y="49149"/>
                    <a:pt x="18034" y="48514"/>
                    <a:pt x="14986" y="47244"/>
                  </a:cubicBezTo>
                  <a:cubicBezTo>
                    <a:pt x="11938" y="45974"/>
                    <a:pt x="9271" y="44196"/>
                    <a:pt x="6985" y="41910"/>
                  </a:cubicBezTo>
                  <a:cubicBezTo>
                    <a:pt x="4699" y="39624"/>
                    <a:pt x="3048" y="36830"/>
                    <a:pt x="1905" y="33909"/>
                  </a:cubicBezTo>
                  <a:cubicBezTo>
                    <a:pt x="762" y="30988"/>
                    <a:pt x="0" y="27813"/>
                    <a:pt x="0" y="24511"/>
                  </a:cubicBezTo>
                  <a:cubicBezTo>
                    <a:pt x="0" y="21209"/>
                    <a:pt x="635" y="18161"/>
                    <a:pt x="1905" y="15113"/>
                  </a:cubicBezTo>
                  <a:cubicBezTo>
                    <a:pt x="3175" y="12065"/>
                    <a:pt x="4826" y="9525"/>
                    <a:pt x="7239" y="7239"/>
                  </a:cubicBezTo>
                  <a:cubicBezTo>
                    <a:pt x="9652" y="4953"/>
                    <a:pt x="12065" y="3048"/>
                    <a:pt x="15113" y="1905"/>
                  </a:cubicBezTo>
                  <a:cubicBezTo>
                    <a:pt x="18161" y="762"/>
                    <a:pt x="21209" y="0"/>
                    <a:pt x="24511" y="0"/>
                  </a:cubicBezTo>
                  <a:cubicBezTo>
                    <a:pt x="27813" y="0"/>
                    <a:pt x="30861" y="635"/>
                    <a:pt x="33909" y="1905"/>
                  </a:cubicBezTo>
                  <a:cubicBezTo>
                    <a:pt x="36957" y="3175"/>
                    <a:pt x="39624" y="4953"/>
                    <a:pt x="41910" y="7239"/>
                  </a:cubicBezTo>
                  <a:cubicBezTo>
                    <a:pt x="44196" y="9525"/>
                    <a:pt x="45974" y="12192"/>
                    <a:pt x="47244" y="15240"/>
                  </a:cubicBezTo>
                  <a:cubicBezTo>
                    <a:pt x="48514" y="18288"/>
                    <a:pt x="49149" y="21336"/>
                    <a:pt x="49149" y="24638"/>
                  </a:cubicBezTo>
                  <a:close/>
                </a:path>
              </a:pathLst>
            </a:custGeom>
            <a:solidFill>
              <a:srgbClr val="FFFFFF"/>
            </a:solidFill>
          </p:spPr>
        </p:sp>
      </p:grpSp>
      <p:grpSp>
        <p:nvGrpSpPr>
          <p:cNvPr name="Group 13" id="13"/>
          <p:cNvGrpSpPr>
            <a:grpSpLocks noChangeAspect="true"/>
          </p:cNvGrpSpPr>
          <p:nvPr/>
        </p:nvGrpSpPr>
        <p:grpSpPr>
          <a:xfrm rot="0">
            <a:off x="721366" y="7542733"/>
            <a:ext cx="49016" cy="49016"/>
            <a:chOff x="0" y="0"/>
            <a:chExt cx="49009" cy="49009"/>
          </a:xfrm>
        </p:grpSpPr>
        <p:sp>
          <p:nvSpPr>
            <p:cNvPr name="Freeform 14" id="14"/>
            <p:cNvSpPr/>
            <p:nvPr/>
          </p:nvSpPr>
          <p:spPr>
            <a:xfrm flipH="false" flipV="false" rot="0">
              <a:off x="0" y="0"/>
              <a:ext cx="49149" cy="49149"/>
            </a:xfrm>
            <a:custGeom>
              <a:avLst/>
              <a:gdLst/>
              <a:ahLst/>
              <a:cxnLst/>
              <a:rect r="r" b="b" t="t" l="l"/>
              <a:pathLst>
                <a:path h="49149" w="49149">
                  <a:moveTo>
                    <a:pt x="49022" y="24511"/>
                  </a:moveTo>
                  <a:cubicBezTo>
                    <a:pt x="49022" y="27813"/>
                    <a:pt x="48387" y="30861"/>
                    <a:pt x="47117" y="33909"/>
                  </a:cubicBezTo>
                  <a:cubicBezTo>
                    <a:pt x="45847" y="36957"/>
                    <a:pt x="44069" y="39624"/>
                    <a:pt x="41783" y="41910"/>
                  </a:cubicBezTo>
                  <a:cubicBezTo>
                    <a:pt x="39497" y="44196"/>
                    <a:pt x="36830" y="45974"/>
                    <a:pt x="33782" y="47244"/>
                  </a:cubicBezTo>
                  <a:cubicBezTo>
                    <a:pt x="30734" y="48514"/>
                    <a:pt x="27686" y="49149"/>
                    <a:pt x="24384" y="49149"/>
                  </a:cubicBezTo>
                  <a:cubicBezTo>
                    <a:pt x="21082" y="49149"/>
                    <a:pt x="18034" y="48514"/>
                    <a:pt x="14986" y="47244"/>
                  </a:cubicBezTo>
                  <a:cubicBezTo>
                    <a:pt x="11938" y="45974"/>
                    <a:pt x="9271" y="44196"/>
                    <a:pt x="6985" y="41910"/>
                  </a:cubicBezTo>
                  <a:cubicBezTo>
                    <a:pt x="4699" y="39624"/>
                    <a:pt x="3048" y="36830"/>
                    <a:pt x="1905" y="33909"/>
                  </a:cubicBezTo>
                  <a:cubicBezTo>
                    <a:pt x="762" y="30988"/>
                    <a:pt x="0" y="27813"/>
                    <a:pt x="0" y="24511"/>
                  </a:cubicBezTo>
                  <a:cubicBezTo>
                    <a:pt x="0" y="21209"/>
                    <a:pt x="635" y="18161"/>
                    <a:pt x="1905" y="15113"/>
                  </a:cubicBezTo>
                  <a:cubicBezTo>
                    <a:pt x="3175" y="12065"/>
                    <a:pt x="4826" y="9525"/>
                    <a:pt x="7239" y="7239"/>
                  </a:cubicBezTo>
                  <a:cubicBezTo>
                    <a:pt x="9652" y="4953"/>
                    <a:pt x="12065" y="3048"/>
                    <a:pt x="15113" y="1905"/>
                  </a:cubicBezTo>
                  <a:cubicBezTo>
                    <a:pt x="18161" y="762"/>
                    <a:pt x="21209" y="0"/>
                    <a:pt x="24511" y="0"/>
                  </a:cubicBezTo>
                  <a:cubicBezTo>
                    <a:pt x="27813" y="0"/>
                    <a:pt x="30861" y="635"/>
                    <a:pt x="33909" y="1905"/>
                  </a:cubicBezTo>
                  <a:cubicBezTo>
                    <a:pt x="36957" y="3175"/>
                    <a:pt x="39624" y="4953"/>
                    <a:pt x="41910" y="7239"/>
                  </a:cubicBezTo>
                  <a:cubicBezTo>
                    <a:pt x="44196" y="9525"/>
                    <a:pt x="45974" y="12192"/>
                    <a:pt x="47244" y="15240"/>
                  </a:cubicBezTo>
                  <a:cubicBezTo>
                    <a:pt x="48514" y="18288"/>
                    <a:pt x="49149" y="21336"/>
                    <a:pt x="49149" y="24638"/>
                  </a:cubicBezTo>
                  <a:close/>
                </a:path>
              </a:pathLst>
            </a:custGeom>
            <a:solidFill>
              <a:srgbClr val="FFFFFF"/>
            </a:solidFill>
          </p:spPr>
        </p:sp>
      </p:grpSp>
      <p:grpSp>
        <p:nvGrpSpPr>
          <p:cNvPr name="Group 15" id="15"/>
          <p:cNvGrpSpPr>
            <a:grpSpLocks noChangeAspect="true"/>
          </p:cNvGrpSpPr>
          <p:nvPr/>
        </p:nvGrpSpPr>
        <p:grpSpPr>
          <a:xfrm rot="0">
            <a:off x="2304117" y="8527942"/>
            <a:ext cx="4457633" cy="1048855"/>
            <a:chOff x="0" y="0"/>
            <a:chExt cx="4457624" cy="1048855"/>
          </a:xfrm>
        </p:grpSpPr>
        <p:sp>
          <p:nvSpPr>
            <p:cNvPr name="Freeform 16" id="16"/>
            <p:cNvSpPr/>
            <p:nvPr/>
          </p:nvSpPr>
          <p:spPr>
            <a:xfrm flipH="false" flipV="false" rot="0">
              <a:off x="0" y="0"/>
              <a:ext cx="4457573" cy="1048893"/>
            </a:xfrm>
            <a:custGeom>
              <a:avLst/>
              <a:gdLst/>
              <a:ahLst/>
              <a:cxnLst/>
              <a:rect r="r" b="b" t="t" l="l"/>
              <a:pathLst>
                <a:path h="1048893" w="4457573">
                  <a:moveTo>
                    <a:pt x="0" y="1048893"/>
                  </a:moveTo>
                  <a:lnTo>
                    <a:pt x="4457573" y="1048893"/>
                  </a:lnTo>
                  <a:lnTo>
                    <a:pt x="4457573" y="0"/>
                  </a:lnTo>
                  <a:lnTo>
                    <a:pt x="0" y="0"/>
                  </a:lnTo>
                  <a:close/>
                </a:path>
              </a:pathLst>
            </a:custGeom>
            <a:solidFill>
              <a:srgbClr val="000000">
                <a:alpha val="0"/>
              </a:srgbClr>
            </a:solidFill>
          </p:spPr>
        </p:sp>
      </p:grpSp>
      <p:grpSp>
        <p:nvGrpSpPr>
          <p:cNvPr name="Group 17" id="17"/>
          <p:cNvGrpSpPr>
            <a:grpSpLocks noChangeAspect="true"/>
          </p:cNvGrpSpPr>
          <p:nvPr/>
        </p:nvGrpSpPr>
        <p:grpSpPr>
          <a:xfrm rot="0">
            <a:off x="130645" y="-63503"/>
            <a:ext cx="7495708" cy="5477570"/>
            <a:chOff x="0" y="0"/>
            <a:chExt cx="7495705" cy="5477574"/>
          </a:xfrm>
        </p:grpSpPr>
        <p:sp>
          <p:nvSpPr>
            <p:cNvPr name="Freeform 18" id="18"/>
            <p:cNvSpPr/>
            <p:nvPr/>
          </p:nvSpPr>
          <p:spPr>
            <a:xfrm flipH="false" flipV="false" rot="0">
              <a:off x="3299334" y="3945636"/>
              <a:ext cx="50799" cy="50799"/>
            </a:xfrm>
            <a:custGeom>
              <a:avLst/>
              <a:gdLst/>
              <a:ahLst/>
              <a:cxnLst/>
              <a:rect r="r" b="b" t="t" l="l"/>
              <a:pathLst>
                <a:path h="50799" w="50799">
                  <a:moveTo>
                    <a:pt x="50799" y="25400"/>
                  </a:moveTo>
                  <a:cubicBezTo>
                    <a:pt x="50799" y="28829"/>
                    <a:pt x="50164" y="32004"/>
                    <a:pt x="48894" y="35179"/>
                  </a:cubicBezTo>
                  <a:cubicBezTo>
                    <a:pt x="47624" y="38354"/>
                    <a:pt x="45719" y="41021"/>
                    <a:pt x="43433" y="43434"/>
                  </a:cubicBezTo>
                  <a:cubicBezTo>
                    <a:pt x="41147" y="45847"/>
                    <a:pt x="38353" y="47625"/>
                    <a:pt x="35178" y="48895"/>
                  </a:cubicBezTo>
                  <a:cubicBezTo>
                    <a:pt x="32003" y="50165"/>
                    <a:pt x="28828" y="50800"/>
                    <a:pt x="25399" y="50800"/>
                  </a:cubicBezTo>
                  <a:cubicBezTo>
                    <a:pt x="21971" y="50800"/>
                    <a:pt x="18796" y="50165"/>
                    <a:pt x="15621" y="48895"/>
                  </a:cubicBezTo>
                  <a:cubicBezTo>
                    <a:pt x="12446" y="47625"/>
                    <a:pt x="9779" y="45720"/>
                    <a:pt x="7366" y="43434"/>
                  </a:cubicBezTo>
                  <a:cubicBezTo>
                    <a:pt x="4953" y="41148"/>
                    <a:pt x="3175" y="38354"/>
                    <a:pt x="1905" y="35179"/>
                  </a:cubicBezTo>
                  <a:cubicBezTo>
                    <a:pt x="635" y="32004"/>
                    <a:pt x="0" y="28829"/>
                    <a:pt x="0" y="25400"/>
                  </a:cubicBezTo>
                  <a:cubicBezTo>
                    <a:pt x="0" y="21971"/>
                    <a:pt x="635" y="18796"/>
                    <a:pt x="1905" y="15621"/>
                  </a:cubicBezTo>
                  <a:cubicBezTo>
                    <a:pt x="3175" y="12446"/>
                    <a:pt x="5080" y="9779"/>
                    <a:pt x="7366" y="7366"/>
                  </a:cubicBezTo>
                  <a:cubicBezTo>
                    <a:pt x="9652" y="4953"/>
                    <a:pt x="12446" y="3175"/>
                    <a:pt x="15621" y="1905"/>
                  </a:cubicBezTo>
                  <a:cubicBezTo>
                    <a:pt x="18796" y="635"/>
                    <a:pt x="21971" y="0"/>
                    <a:pt x="25399" y="0"/>
                  </a:cubicBezTo>
                  <a:cubicBezTo>
                    <a:pt x="28828" y="0"/>
                    <a:pt x="32003" y="635"/>
                    <a:pt x="35178" y="1905"/>
                  </a:cubicBezTo>
                  <a:cubicBezTo>
                    <a:pt x="38353" y="3175"/>
                    <a:pt x="41020" y="5080"/>
                    <a:pt x="43433" y="7366"/>
                  </a:cubicBezTo>
                  <a:cubicBezTo>
                    <a:pt x="45846" y="9652"/>
                    <a:pt x="47624" y="12446"/>
                    <a:pt x="48894" y="15621"/>
                  </a:cubicBezTo>
                  <a:cubicBezTo>
                    <a:pt x="50164" y="18796"/>
                    <a:pt x="50799" y="21971"/>
                    <a:pt x="50799" y="25400"/>
                  </a:cubicBezTo>
                  <a:close/>
                </a:path>
              </a:pathLst>
            </a:custGeom>
            <a:solidFill>
              <a:srgbClr val="FFFFFF"/>
            </a:solidFill>
          </p:spPr>
        </p:sp>
        <p:sp>
          <p:nvSpPr>
            <p:cNvPr name="Freeform 19" id="19"/>
            <p:cNvSpPr/>
            <p:nvPr/>
          </p:nvSpPr>
          <p:spPr>
            <a:xfrm flipH="false" flipV="false" rot="0">
              <a:off x="3299334" y="4524756"/>
              <a:ext cx="50799" cy="50799"/>
            </a:xfrm>
            <a:custGeom>
              <a:avLst/>
              <a:gdLst/>
              <a:ahLst/>
              <a:cxnLst/>
              <a:rect r="r" b="b" t="t" l="l"/>
              <a:pathLst>
                <a:path h="50799" w="50799">
                  <a:moveTo>
                    <a:pt x="50799" y="25400"/>
                  </a:moveTo>
                  <a:cubicBezTo>
                    <a:pt x="50799" y="28829"/>
                    <a:pt x="50164" y="32004"/>
                    <a:pt x="48894" y="35179"/>
                  </a:cubicBezTo>
                  <a:cubicBezTo>
                    <a:pt x="47624" y="38354"/>
                    <a:pt x="45719" y="41021"/>
                    <a:pt x="43433" y="43434"/>
                  </a:cubicBezTo>
                  <a:cubicBezTo>
                    <a:pt x="41147" y="45847"/>
                    <a:pt x="38353" y="47625"/>
                    <a:pt x="35178" y="48895"/>
                  </a:cubicBezTo>
                  <a:cubicBezTo>
                    <a:pt x="32003" y="50165"/>
                    <a:pt x="28828" y="50800"/>
                    <a:pt x="25399" y="50800"/>
                  </a:cubicBezTo>
                  <a:cubicBezTo>
                    <a:pt x="21971" y="50800"/>
                    <a:pt x="18796" y="50165"/>
                    <a:pt x="15621" y="48895"/>
                  </a:cubicBezTo>
                  <a:cubicBezTo>
                    <a:pt x="12446" y="47625"/>
                    <a:pt x="9779" y="45720"/>
                    <a:pt x="7366" y="43434"/>
                  </a:cubicBezTo>
                  <a:cubicBezTo>
                    <a:pt x="4953" y="41148"/>
                    <a:pt x="3175" y="38354"/>
                    <a:pt x="1905" y="35179"/>
                  </a:cubicBezTo>
                  <a:cubicBezTo>
                    <a:pt x="635" y="32004"/>
                    <a:pt x="0" y="28829"/>
                    <a:pt x="0" y="25400"/>
                  </a:cubicBezTo>
                  <a:cubicBezTo>
                    <a:pt x="0" y="21971"/>
                    <a:pt x="635" y="18796"/>
                    <a:pt x="1905" y="15621"/>
                  </a:cubicBezTo>
                  <a:cubicBezTo>
                    <a:pt x="3175" y="12446"/>
                    <a:pt x="5080" y="9779"/>
                    <a:pt x="7366" y="7366"/>
                  </a:cubicBezTo>
                  <a:cubicBezTo>
                    <a:pt x="9652" y="4953"/>
                    <a:pt x="12446" y="3175"/>
                    <a:pt x="15621" y="1905"/>
                  </a:cubicBezTo>
                  <a:cubicBezTo>
                    <a:pt x="18796" y="635"/>
                    <a:pt x="21971" y="0"/>
                    <a:pt x="25399" y="0"/>
                  </a:cubicBezTo>
                  <a:cubicBezTo>
                    <a:pt x="28828" y="0"/>
                    <a:pt x="32003" y="635"/>
                    <a:pt x="35178" y="1905"/>
                  </a:cubicBezTo>
                  <a:cubicBezTo>
                    <a:pt x="38353" y="3175"/>
                    <a:pt x="41020" y="5080"/>
                    <a:pt x="43433" y="7366"/>
                  </a:cubicBezTo>
                  <a:cubicBezTo>
                    <a:pt x="45846" y="9652"/>
                    <a:pt x="47624" y="12446"/>
                    <a:pt x="48894" y="15621"/>
                  </a:cubicBezTo>
                  <a:cubicBezTo>
                    <a:pt x="50164" y="18796"/>
                    <a:pt x="50799" y="21971"/>
                    <a:pt x="50799" y="25400"/>
                  </a:cubicBezTo>
                  <a:close/>
                </a:path>
              </a:pathLst>
            </a:custGeom>
            <a:solidFill>
              <a:srgbClr val="FFFFFF"/>
            </a:solidFill>
          </p:spPr>
        </p:sp>
        <p:sp>
          <p:nvSpPr>
            <p:cNvPr name="Freeform 20" id="20"/>
            <p:cNvSpPr/>
            <p:nvPr/>
          </p:nvSpPr>
          <p:spPr>
            <a:xfrm flipH="false" flipV="false" rot="0">
              <a:off x="1896745"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21" id="21"/>
            <p:cNvSpPr/>
            <p:nvPr/>
          </p:nvSpPr>
          <p:spPr>
            <a:xfrm flipH="false" flipV="false" rot="0">
              <a:off x="625348"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22" id="22"/>
            <p:cNvSpPr/>
            <p:nvPr/>
          </p:nvSpPr>
          <p:spPr>
            <a:xfrm flipH="false" flipV="false" rot="0">
              <a:off x="63500" y="3356483"/>
              <a:ext cx="2994406" cy="2057654"/>
            </a:xfrm>
            <a:custGeom>
              <a:avLst/>
              <a:gdLst/>
              <a:ahLst/>
              <a:cxnLst/>
              <a:rect r="r" b="b" t="t" l="l"/>
              <a:pathLst>
                <a:path h="2057654" w="2994406">
                  <a:moveTo>
                    <a:pt x="0" y="2057654"/>
                  </a:moveTo>
                  <a:lnTo>
                    <a:pt x="2994406" y="2057654"/>
                  </a:lnTo>
                  <a:lnTo>
                    <a:pt x="2994406" y="0"/>
                  </a:lnTo>
                  <a:lnTo>
                    <a:pt x="0" y="0"/>
                  </a:lnTo>
                  <a:close/>
                </a:path>
              </a:pathLst>
            </a:custGeom>
            <a:solidFill>
              <a:srgbClr val="000000">
                <a:alpha val="0"/>
              </a:srgbClr>
            </a:solidFill>
          </p:spPr>
        </p:sp>
      </p:grpSp>
      <p:sp>
        <p:nvSpPr>
          <p:cNvPr name="TextBox 23" id="23"/>
          <p:cNvSpPr txBox="true"/>
          <p:nvPr/>
        </p:nvSpPr>
        <p:spPr>
          <a:xfrm rot="0">
            <a:off x="623345" y="1209418"/>
            <a:ext cx="5836844"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p:txBody>
      </p:sp>
      <p:sp>
        <p:nvSpPr>
          <p:cNvPr name="TextBox 24" id="24"/>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25" id="25"/>
          <p:cNvSpPr txBox="true"/>
          <p:nvPr/>
        </p:nvSpPr>
        <p:spPr>
          <a:xfrm rot="0">
            <a:off x="3328359" y="3412007"/>
            <a:ext cx="3733048" cy="399479"/>
          </a:xfrm>
          <a:prstGeom prst="rect">
            <a:avLst/>
          </a:prstGeom>
        </p:spPr>
        <p:txBody>
          <a:bodyPr anchor="t" rtlCol="false" tIns="0" lIns="0" bIns="0" rIns="0">
            <a:spAutoFit/>
          </a:bodyPr>
          <a:lstStyle/>
          <a:p>
            <a:pPr algn="l">
              <a:lnSpc>
                <a:spcPts val="1519"/>
              </a:lnSpc>
            </a:pPr>
            <a:r>
              <a:rPr lang="en-US" b="true" sz="1292" spc="116">
                <a:solidFill>
                  <a:srgbClr val="FFFFFF"/>
                </a:solidFill>
                <a:latin typeface="HK Grotesk Medium"/>
                <a:ea typeface="HK Grotesk Medium"/>
                <a:cs typeface="HK Grotesk Medium"/>
                <a:sym typeface="HK Grotesk Medium"/>
              </a:rPr>
              <a:t>The heatmaps for Midterm vs Final Scores by department show no strong correlation.</a:t>
            </a:r>
          </a:p>
        </p:txBody>
      </p:sp>
      <p:sp>
        <p:nvSpPr>
          <p:cNvPr name="TextBox 26" id="26"/>
          <p:cNvSpPr txBox="true"/>
          <p:nvPr/>
        </p:nvSpPr>
        <p:spPr>
          <a:xfrm rot="0">
            <a:off x="3607441" y="3798084"/>
            <a:ext cx="3398310" cy="978598"/>
          </a:xfrm>
          <a:prstGeom prst="rect">
            <a:avLst/>
          </a:prstGeom>
        </p:spPr>
        <p:txBody>
          <a:bodyPr anchor="t" rtlCol="false" tIns="0" lIns="0" bIns="0" rIns="0">
            <a:spAutoFit/>
          </a:bodyPr>
          <a:lstStyle/>
          <a:p>
            <a:pPr algn="l">
              <a:lnSpc>
                <a:spcPts val="1519"/>
              </a:lnSpc>
            </a:pPr>
            <a:r>
              <a:rPr lang="en-US" b="true" sz="1292" spc="116">
                <a:solidFill>
                  <a:srgbClr val="FFFFFF"/>
                </a:solidFill>
                <a:latin typeface="HK Grotesk Medium"/>
                <a:ea typeface="HK Grotesk Medium"/>
                <a:cs typeface="HK Grotesk Medium"/>
                <a:sym typeface="HK Grotesk Medium"/>
              </a:rPr>
              <a:t>Some students improved their final scores compared to their midterm results. Others performed consistently, while a few saw a decline in their final scores.</a:t>
            </a:r>
          </a:p>
        </p:txBody>
      </p:sp>
      <p:sp>
        <p:nvSpPr>
          <p:cNvPr name="TextBox 27" id="27"/>
          <p:cNvSpPr txBox="true"/>
          <p:nvPr/>
        </p:nvSpPr>
        <p:spPr>
          <a:xfrm rot="0">
            <a:off x="3328359" y="4763291"/>
            <a:ext cx="3872836" cy="785555"/>
          </a:xfrm>
          <a:prstGeom prst="rect">
            <a:avLst/>
          </a:prstGeom>
        </p:spPr>
        <p:txBody>
          <a:bodyPr anchor="t" rtlCol="false" tIns="0" lIns="0" bIns="0" rIns="0">
            <a:spAutoFit/>
          </a:bodyPr>
          <a:lstStyle/>
          <a:p>
            <a:pPr algn="l">
              <a:lnSpc>
                <a:spcPts val="1519"/>
              </a:lnSpc>
            </a:pPr>
            <a:r>
              <a:rPr lang="en-US" b="true" sz="1292" spc="116">
                <a:solidFill>
                  <a:srgbClr val="FFFFFF"/>
                </a:solidFill>
                <a:latin typeface="HK Grotesk Medium"/>
                <a:ea typeface="HK Grotesk Medium"/>
                <a:cs typeface="HK Grotesk Medium"/>
                <a:sym typeface="HK Grotesk Medium"/>
              </a:rPr>
              <a:t>This indicates that midterm performance does not strongly predict final performance, suggesting various factors may influence the final outcome.</a:t>
            </a:r>
          </a:p>
        </p:txBody>
      </p:sp>
      <p:sp>
        <p:nvSpPr>
          <p:cNvPr name="TextBox 28" id="28"/>
          <p:cNvSpPr txBox="true"/>
          <p:nvPr/>
        </p:nvSpPr>
        <p:spPr>
          <a:xfrm rot="0">
            <a:off x="442274" y="5704503"/>
            <a:ext cx="4635151"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STUDY HOURS AND STRESS LEVEL ANALYSIS</a:t>
            </a:r>
          </a:p>
        </p:txBody>
      </p:sp>
      <p:sp>
        <p:nvSpPr>
          <p:cNvPr name="TextBox 29" id="29"/>
          <p:cNvSpPr txBox="true"/>
          <p:nvPr/>
        </p:nvSpPr>
        <p:spPr>
          <a:xfrm rot="0">
            <a:off x="2935262" y="2813237"/>
            <a:ext cx="4000786"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MIDTERM VS FINAL SCORES ANALYSIS</a:t>
            </a:r>
          </a:p>
        </p:txBody>
      </p:sp>
      <p:sp>
        <p:nvSpPr>
          <p:cNvPr name="TextBox 30" id="30"/>
          <p:cNvSpPr txBox="true"/>
          <p:nvPr/>
        </p:nvSpPr>
        <p:spPr>
          <a:xfrm rot="0">
            <a:off x="623345" y="6167114"/>
            <a:ext cx="3882076" cy="189976"/>
          </a:xfrm>
          <a:prstGeom prst="rect">
            <a:avLst/>
          </a:prstGeom>
        </p:spPr>
        <p:txBody>
          <a:bodyPr anchor="t" rtlCol="false" tIns="0" lIns="0" bIns="0" rIns="0">
            <a:spAutoFit/>
          </a:bodyPr>
          <a:lstStyle/>
          <a:p>
            <a:pPr algn="l">
              <a:lnSpc>
                <a:spcPts val="1465"/>
              </a:lnSpc>
            </a:pPr>
            <a:r>
              <a:rPr lang="en-US" b="true" sz="1246" spc="112">
                <a:solidFill>
                  <a:srgbClr val="FFFFFF"/>
                </a:solidFill>
                <a:latin typeface="HK Grotesk Medium"/>
                <a:ea typeface="HK Grotesk Medium"/>
                <a:cs typeface="HK Grotesk Medium"/>
                <a:sym typeface="HK Grotesk Medium"/>
              </a:rPr>
              <a:t>Study Hours Binned (Sample of 500 students):</a:t>
            </a:r>
          </a:p>
        </p:txBody>
      </p:sp>
      <p:sp>
        <p:nvSpPr>
          <p:cNvPr name="TextBox 31" id="31"/>
          <p:cNvSpPr txBox="true"/>
          <p:nvPr/>
        </p:nvSpPr>
        <p:spPr>
          <a:xfrm rot="0">
            <a:off x="892597" y="6353366"/>
            <a:ext cx="5549389" cy="1307430"/>
          </a:xfrm>
          <a:prstGeom prst="rect">
            <a:avLst/>
          </a:prstGeom>
        </p:spPr>
        <p:txBody>
          <a:bodyPr anchor="t" rtlCol="false" tIns="0" lIns="0" bIns="0" rIns="0">
            <a:spAutoFit/>
          </a:bodyPr>
          <a:lstStyle/>
          <a:p>
            <a:pPr algn="l">
              <a:lnSpc>
                <a:spcPts val="1465"/>
              </a:lnSpc>
            </a:pPr>
            <a:r>
              <a:rPr lang="en-US" b="true" sz="1246" spc="112">
                <a:solidFill>
                  <a:srgbClr val="FFFFFF"/>
                </a:solidFill>
                <a:latin typeface="HK Grotesk Medium"/>
                <a:ea typeface="HK Grotesk Medium"/>
                <a:cs typeface="HK Grotesk Medium"/>
                <a:sym typeface="HK Grotesk Medium"/>
              </a:rPr>
              <a:t>5-10 hours: Moderate number of students, stress levels relatively stable. 10-15 hours: Slightly fewer students, no major stress level changes. 15-20 hours: Noticeable drop in total score. 20-25 hours: Further score decline. 25-30 hours: The lowest total scores observed.</a:t>
            </a:r>
          </a:p>
        </p:txBody>
      </p:sp>
      <p:sp>
        <p:nvSpPr>
          <p:cNvPr name="TextBox 32" id="32"/>
          <p:cNvSpPr txBox="true"/>
          <p:nvPr/>
        </p:nvSpPr>
        <p:spPr>
          <a:xfrm rot="0">
            <a:off x="623345" y="7657062"/>
            <a:ext cx="5942447" cy="748703"/>
          </a:xfrm>
          <a:prstGeom prst="rect">
            <a:avLst/>
          </a:prstGeom>
        </p:spPr>
        <p:txBody>
          <a:bodyPr anchor="t" rtlCol="false" tIns="0" lIns="0" bIns="0" rIns="0">
            <a:spAutoFit/>
          </a:bodyPr>
          <a:lstStyle/>
          <a:p>
            <a:pPr algn="l">
              <a:lnSpc>
                <a:spcPts val="1465"/>
              </a:lnSpc>
            </a:pPr>
            <a:r>
              <a:rPr lang="en-US" b="true" sz="1246" spc="112">
                <a:solidFill>
                  <a:srgbClr val="FFFFFF"/>
                </a:solidFill>
                <a:latin typeface="HK Grotesk Medium"/>
                <a:ea typeface="HK Grotesk Medium"/>
                <a:cs typeface="HK Grotesk Medium"/>
                <a:sym typeface="HK Grotesk Medium"/>
              </a:rPr>
              <a:t>Interestingly, a negative correlation emerges between study hours and final scores — as study hours increase, final scores decrease. This counterintuitive finding might suggest over-studying without effective strategies or burnout.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17622" y="3031455"/>
            <a:ext cx="3200400" cy="2162175"/>
          </a:xfrm>
          <a:custGeom>
            <a:avLst/>
            <a:gdLst/>
            <a:ahLst/>
            <a:cxnLst/>
            <a:rect r="r" b="b" t="t" l="l"/>
            <a:pathLst>
              <a:path h="2162175" w="3200400">
                <a:moveTo>
                  <a:pt x="0" y="0"/>
                </a:moveTo>
                <a:lnTo>
                  <a:pt x="3200400" y="0"/>
                </a:lnTo>
                <a:lnTo>
                  <a:pt x="3200400" y="2162175"/>
                </a:lnTo>
                <a:lnTo>
                  <a:pt x="0" y="2162175"/>
                </a:lnTo>
                <a:lnTo>
                  <a:pt x="0" y="0"/>
                </a:lnTo>
                <a:close/>
              </a:path>
            </a:pathLst>
          </a:custGeom>
          <a:blipFill>
            <a:blip r:embed="rId4"/>
            <a:stretch>
              <a:fillRect l="0" t="0" r="0" b="0"/>
            </a:stretch>
          </a:blipFill>
        </p:spPr>
      </p:sp>
      <p:sp>
        <p:nvSpPr>
          <p:cNvPr name="Freeform 4" id="4"/>
          <p:cNvSpPr/>
          <p:nvPr/>
        </p:nvSpPr>
        <p:spPr>
          <a:xfrm flipH="false" flipV="false" rot="0">
            <a:off x="870604" y="6925818"/>
            <a:ext cx="5581650" cy="3514725"/>
          </a:xfrm>
          <a:custGeom>
            <a:avLst/>
            <a:gdLst/>
            <a:ahLst/>
            <a:cxnLst/>
            <a:rect r="r" b="b" t="t" l="l"/>
            <a:pathLst>
              <a:path h="3514725" w="5581650">
                <a:moveTo>
                  <a:pt x="0" y="0"/>
                </a:moveTo>
                <a:lnTo>
                  <a:pt x="5581650" y="0"/>
                </a:lnTo>
                <a:lnTo>
                  <a:pt x="5581650" y="3514725"/>
                </a:lnTo>
                <a:lnTo>
                  <a:pt x="0" y="3514725"/>
                </a:lnTo>
                <a:lnTo>
                  <a:pt x="0" y="0"/>
                </a:lnTo>
                <a:close/>
              </a:path>
            </a:pathLst>
          </a:custGeom>
          <a:blipFill>
            <a:blip r:embed="rId5"/>
            <a:stretch>
              <a:fillRect l="0" t="0" r="0" b="0"/>
            </a:stretch>
          </a:blipFill>
        </p:spPr>
      </p:sp>
      <p:grpSp>
        <p:nvGrpSpPr>
          <p:cNvPr name="Group 5" id="5"/>
          <p:cNvGrpSpPr>
            <a:grpSpLocks noChangeAspect="true"/>
          </p:cNvGrpSpPr>
          <p:nvPr/>
        </p:nvGrpSpPr>
        <p:grpSpPr>
          <a:xfrm rot="0">
            <a:off x="497453" y="3333407"/>
            <a:ext cx="50797" cy="50797"/>
            <a:chOff x="0" y="0"/>
            <a:chExt cx="50800" cy="50800"/>
          </a:xfrm>
        </p:grpSpPr>
        <p:sp>
          <p:nvSpPr>
            <p:cNvPr name="Freeform 6" id="6"/>
            <p:cNvSpPr/>
            <p:nvPr/>
          </p:nvSpPr>
          <p:spPr>
            <a:xfrm flipH="false" flipV="false" rot="0">
              <a:off x="0" y="0"/>
              <a:ext cx="50800" cy="50800"/>
            </a:xfrm>
            <a:custGeom>
              <a:avLst/>
              <a:gdLst/>
              <a:ahLst/>
              <a:cxnLst/>
              <a:rect r="r" b="b" t="t" l="l"/>
              <a:pathLst>
                <a:path h="50800" w="50800">
                  <a:moveTo>
                    <a:pt x="50800" y="25400"/>
                  </a:moveTo>
                  <a:cubicBezTo>
                    <a:pt x="50800" y="28829"/>
                    <a:pt x="50165" y="32004"/>
                    <a:pt x="48895" y="35179"/>
                  </a:cubicBezTo>
                  <a:cubicBezTo>
                    <a:pt x="47625" y="38354"/>
                    <a:pt x="45720" y="41021"/>
                    <a:pt x="43434" y="43434"/>
                  </a:cubicBezTo>
                  <a:cubicBezTo>
                    <a:pt x="41148" y="45847"/>
                    <a:pt x="38354" y="47625"/>
                    <a:pt x="35179" y="48895"/>
                  </a:cubicBezTo>
                  <a:cubicBezTo>
                    <a:pt x="32004" y="50165"/>
                    <a:pt x="28829" y="50800"/>
                    <a:pt x="25400" y="50800"/>
                  </a:cubicBezTo>
                  <a:cubicBezTo>
                    <a:pt x="21971" y="50800"/>
                    <a:pt x="18796" y="50165"/>
                    <a:pt x="15621" y="48895"/>
                  </a:cubicBezTo>
                  <a:cubicBezTo>
                    <a:pt x="12446" y="47625"/>
                    <a:pt x="9779" y="45720"/>
                    <a:pt x="7493" y="43307"/>
                  </a:cubicBezTo>
                  <a:cubicBezTo>
                    <a:pt x="5207" y="40894"/>
                    <a:pt x="3175" y="38227"/>
                    <a:pt x="1905" y="35179"/>
                  </a:cubicBezTo>
                  <a:cubicBezTo>
                    <a:pt x="635" y="32131"/>
                    <a:pt x="0" y="28829"/>
                    <a:pt x="0" y="25400"/>
                  </a:cubicBezTo>
                  <a:cubicBezTo>
                    <a:pt x="0" y="21971"/>
                    <a:pt x="635" y="18796"/>
                    <a:pt x="1905" y="15621"/>
                  </a:cubicBezTo>
                  <a:cubicBezTo>
                    <a:pt x="3175" y="12446"/>
                    <a:pt x="5080" y="9779"/>
                    <a:pt x="7493" y="7493"/>
                  </a:cubicBezTo>
                  <a:cubicBezTo>
                    <a:pt x="9906" y="5207"/>
                    <a:pt x="12573" y="3175"/>
                    <a:pt x="15621" y="1905"/>
                  </a:cubicBezTo>
                  <a:cubicBezTo>
                    <a:pt x="18669" y="635"/>
                    <a:pt x="21971" y="0"/>
                    <a:pt x="25400" y="0"/>
                  </a:cubicBezTo>
                  <a:cubicBezTo>
                    <a:pt x="28829" y="0"/>
                    <a:pt x="32004" y="635"/>
                    <a:pt x="35179" y="1905"/>
                  </a:cubicBezTo>
                  <a:cubicBezTo>
                    <a:pt x="38354" y="3175"/>
                    <a:pt x="41021" y="5080"/>
                    <a:pt x="43434" y="7366"/>
                  </a:cubicBezTo>
                  <a:cubicBezTo>
                    <a:pt x="45847" y="9652"/>
                    <a:pt x="47625" y="12446"/>
                    <a:pt x="48895" y="15621"/>
                  </a:cubicBezTo>
                  <a:cubicBezTo>
                    <a:pt x="50165" y="18796"/>
                    <a:pt x="50800" y="21971"/>
                    <a:pt x="50800" y="25400"/>
                  </a:cubicBezTo>
                  <a:close/>
                </a:path>
              </a:pathLst>
            </a:custGeom>
            <a:solidFill>
              <a:srgbClr val="FFFFFF"/>
            </a:solidFill>
          </p:spPr>
        </p:sp>
      </p:grpSp>
      <p:grpSp>
        <p:nvGrpSpPr>
          <p:cNvPr name="Group 7" id="7"/>
          <p:cNvGrpSpPr>
            <a:grpSpLocks noChangeAspect="true"/>
          </p:cNvGrpSpPr>
          <p:nvPr/>
        </p:nvGrpSpPr>
        <p:grpSpPr>
          <a:xfrm rot="0">
            <a:off x="497453" y="3526450"/>
            <a:ext cx="50797" cy="50797"/>
            <a:chOff x="0" y="0"/>
            <a:chExt cx="50800" cy="50800"/>
          </a:xfrm>
        </p:grpSpPr>
        <p:sp>
          <p:nvSpPr>
            <p:cNvPr name="Freeform 8" id="8"/>
            <p:cNvSpPr/>
            <p:nvPr/>
          </p:nvSpPr>
          <p:spPr>
            <a:xfrm flipH="false" flipV="false" rot="0">
              <a:off x="0" y="0"/>
              <a:ext cx="50800" cy="50800"/>
            </a:xfrm>
            <a:custGeom>
              <a:avLst/>
              <a:gdLst/>
              <a:ahLst/>
              <a:cxnLst/>
              <a:rect r="r" b="b" t="t" l="l"/>
              <a:pathLst>
                <a:path h="50800" w="50800">
                  <a:moveTo>
                    <a:pt x="50800" y="25400"/>
                  </a:moveTo>
                  <a:cubicBezTo>
                    <a:pt x="50800" y="28829"/>
                    <a:pt x="50165" y="32004"/>
                    <a:pt x="48895" y="35179"/>
                  </a:cubicBezTo>
                  <a:cubicBezTo>
                    <a:pt x="47625" y="38354"/>
                    <a:pt x="45720" y="41021"/>
                    <a:pt x="43434" y="43434"/>
                  </a:cubicBezTo>
                  <a:cubicBezTo>
                    <a:pt x="41148" y="45847"/>
                    <a:pt x="38354" y="47625"/>
                    <a:pt x="35179" y="48895"/>
                  </a:cubicBezTo>
                  <a:cubicBezTo>
                    <a:pt x="32004" y="50165"/>
                    <a:pt x="28829" y="50800"/>
                    <a:pt x="25400" y="50800"/>
                  </a:cubicBezTo>
                  <a:cubicBezTo>
                    <a:pt x="21971" y="50800"/>
                    <a:pt x="18796" y="50165"/>
                    <a:pt x="15621" y="48895"/>
                  </a:cubicBezTo>
                  <a:cubicBezTo>
                    <a:pt x="12446" y="47625"/>
                    <a:pt x="9779" y="45720"/>
                    <a:pt x="7493" y="43307"/>
                  </a:cubicBezTo>
                  <a:cubicBezTo>
                    <a:pt x="5207" y="40894"/>
                    <a:pt x="3175" y="38227"/>
                    <a:pt x="1905" y="35179"/>
                  </a:cubicBezTo>
                  <a:cubicBezTo>
                    <a:pt x="635" y="32131"/>
                    <a:pt x="0" y="28829"/>
                    <a:pt x="0" y="25400"/>
                  </a:cubicBezTo>
                  <a:cubicBezTo>
                    <a:pt x="0" y="21971"/>
                    <a:pt x="635" y="18796"/>
                    <a:pt x="1905" y="15621"/>
                  </a:cubicBezTo>
                  <a:cubicBezTo>
                    <a:pt x="3175" y="12446"/>
                    <a:pt x="5080" y="9779"/>
                    <a:pt x="7493" y="7493"/>
                  </a:cubicBezTo>
                  <a:cubicBezTo>
                    <a:pt x="9906" y="5207"/>
                    <a:pt x="12573" y="3175"/>
                    <a:pt x="15621" y="1905"/>
                  </a:cubicBezTo>
                  <a:cubicBezTo>
                    <a:pt x="18669" y="635"/>
                    <a:pt x="21971" y="0"/>
                    <a:pt x="25400" y="0"/>
                  </a:cubicBezTo>
                  <a:cubicBezTo>
                    <a:pt x="28829" y="0"/>
                    <a:pt x="32004" y="635"/>
                    <a:pt x="35179" y="1905"/>
                  </a:cubicBezTo>
                  <a:cubicBezTo>
                    <a:pt x="38354" y="3175"/>
                    <a:pt x="41021" y="5080"/>
                    <a:pt x="43434" y="7366"/>
                  </a:cubicBezTo>
                  <a:cubicBezTo>
                    <a:pt x="45847" y="9652"/>
                    <a:pt x="47625" y="12446"/>
                    <a:pt x="48895" y="15621"/>
                  </a:cubicBezTo>
                  <a:cubicBezTo>
                    <a:pt x="50165" y="18796"/>
                    <a:pt x="50800" y="21971"/>
                    <a:pt x="50800" y="25400"/>
                  </a:cubicBezTo>
                  <a:close/>
                </a:path>
              </a:pathLst>
            </a:custGeom>
            <a:solidFill>
              <a:srgbClr val="FFFFFF"/>
            </a:solidFill>
          </p:spPr>
        </p:sp>
      </p:grpSp>
      <p:grpSp>
        <p:nvGrpSpPr>
          <p:cNvPr name="Group 9" id="9"/>
          <p:cNvGrpSpPr>
            <a:grpSpLocks noChangeAspect="true"/>
          </p:cNvGrpSpPr>
          <p:nvPr/>
        </p:nvGrpSpPr>
        <p:grpSpPr>
          <a:xfrm rot="0">
            <a:off x="497453" y="3912527"/>
            <a:ext cx="50797" cy="50797"/>
            <a:chOff x="0" y="0"/>
            <a:chExt cx="50800" cy="50800"/>
          </a:xfrm>
        </p:grpSpPr>
        <p:sp>
          <p:nvSpPr>
            <p:cNvPr name="Freeform 10" id="10"/>
            <p:cNvSpPr/>
            <p:nvPr/>
          </p:nvSpPr>
          <p:spPr>
            <a:xfrm flipH="false" flipV="false" rot="0">
              <a:off x="0" y="0"/>
              <a:ext cx="50800" cy="50800"/>
            </a:xfrm>
            <a:custGeom>
              <a:avLst/>
              <a:gdLst/>
              <a:ahLst/>
              <a:cxnLst/>
              <a:rect r="r" b="b" t="t" l="l"/>
              <a:pathLst>
                <a:path h="50800" w="50800">
                  <a:moveTo>
                    <a:pt x="50800" y="25400"/>
                  </a:moveTo>
                  <a:cubicBezTo>
                    <a:pt x="50800" y="28829"/>
                    <a:pt x="50165" y="32004"/>
                    <a:pt x="48895" y="35179"/>
                  </a:cubicBezTo>
                  <a:cubicBezTo>
                    <a:pt x="47625" y="38354"/>
                    <a:pt x="45720" y="41021"/>
                    <a:pt x="43434" y="43434"/>
                  </a:cubicBezTo>
                  <a:cubicBezTo>
                    <a:pt x="41148" y="45847"/>
                    <a:pt x="38354" y="47625"/>
                    <a:pt x="35179" y="48895"/>
                  </a:cubicBezTo>
                  <a:cubicBezTo>
                    <a:pt x="32004" y="50165"/>
                    <a:pt x="28829" y="50800"/>
                    <a:pt x="25400" y="50800"/>
                  </a:cubicBezTo>
                  <a:cubicBezTo>
                    <a:pt x="21971" y="50800"/>
                    <a:pt x="18796" y="50165"/>
                    <a:pt x="15621" y="48895"/>
                  </a:cubicBezTo>
                  <a:cubicBezTo>
                    <a:pt x="12446" y="47625"/>
                    <a:pt x="9779" y="45720"/>
                    <a:pt x="7493" y="43307"/>
                  </a:cubicBezTo>
                  <a:cubicBezTo>
                    <a:pt x="5207" y="40894"/>
                    <a:pt x="3175" y="38227"/>
                    <a:pt x="1905" y="35179"/>
                  </a:cubicBezTo>
                  <a:cubicBezTo>
                    <a:pt x="635" y="32131"/>
                    <a:pt x="0" y="28829"/>
                    <a:pt x="0" y="25400"/>
                  </a:cubicBezTo>
                  <a:cubicBezTo>
                    <a:pt x="0" y="21971"/>
                    <a:pt x="635" y="18796"/>
                    <a:pt x="1905" y="15621"/>
                  </a:cubicBezTo>
                  <a:cubicBezTo>
                    <a:pt x="3175" y="12446"/>
                    <a:pt x="5080" y="9779"/>
                    <a:pt x="7493" y="7493"/>
                  </a:cubicBezTo>
                  <a:cubicBezTo>
                    <a:pt x="9906" y="5207"/>
                    <a:pt x="12573" y="3175"/>
                    <a:pt x="15621" y="1905"/>
                  </a:cubicBezTo>
                  <a:cubicBezTo>
                    <a:pt x="18669" y="635"/>
                    <a:pt x="21971" y="0"/>
                    <a:pt x="25400" y="0"/>
                  </a:cubicBezTo>
                  <a:cubicBezTo>
                    <a:pt x="28829" y="0"/>
                    <a:pt x="32004" y="635"/>
                    <a:pt x="35179" y="1905"/>
                  </a:cubicBezTo>
                  <a:cubicBezTo>
                    <a:pt x="38354" y="3175"/>
                    <a:pt x="41021" y="5080"/>
                    <a:pt x="43434" y="7366"/>
                  </a:cubicBezTo>
                  <a:cubicBezTo>
                    <a:pt x="45847" y="9652"/>
                    <a:pt x="47625" y="12446"/>
                    <a:pt x="48895" y="15621"/>
                  </a:cubicBezTo>
                  <a:cubicBezTo>
                    <a:pt x="50165" y="18796"/>
                    <a:pt x="50800" y="21971"/>
                    <a:pt x="50800" y="25400"/>
                  </a:cubicBezTo>
                  <a:close/>
                </a:path>
              </a:pathLst>
            </a:custGeom>
            <a:solidFill>
              <a:srgbClr val="FFFFFF"/>
            </a:solidFill>
          </p:spPr>
        </p:sp>
      </p:grpSp>
      <p:grpSp>
        <p:nvGrpSpPr>
          <p:cNvPr name="Group 11" id="11"/>
          <p:cNvGrpSpPr>
            <a:grpSpLocks noChangeAspect="true"/>
          </p:cNvGrpSpPr>
          <p:nvPr/>
        </p:nvGrpSpPr>
        <p:grpSpPr>
          <a:xfrm rot="0">
            <a:off x="611095" y="5929532"/>
            <a:ext cx="52111" cy="52111"/>
            <a:chOff x="0" y="0"/>
            <a:chExt cx="52108" cy="52108"/>
          </a:xfrm>
        </p:grpSpPr>
        <p:sp>
          <p:nvSpPr>
            <p:cNvPr name="Freeform 12" id="12"/>
            <p:cNvSpPr/>
            <p:nvPr/>
          </p:nvSpPr>
          <p:spPr>
            <a:xfrm flipH="false" flipV="false" rot="0">
              <a:off x="0" y="0"/>
              <a:ext cx="52197" cy="52197"/>
            </a:xfrm>
            <a:custGeom>
              <a:avLst/>
              <a:gdLst/>
              <a:ahLst/>
              <a:cxnLst/>
              <a:rect r="r" b="b" t="t" l="l"/>
              <a:pathLst>
                <a:path h="52197" w="52197">
                  <a:moveTo>
                    <a:pt x="52070" y="26035"/>
                  </a:moveTo>
                  <a:cubicBezTo>
                    <a:pt x="52070" y="29464"/>
                    <a:pt x="51435" y="32766"/>
                    <a:pt x="50038" y="36068"/>
                  </a:cubicBezTo>
                  <a:cubicBezTo>
                    <a:pt x="48641" y="39370"/>
                    <a:pt x="46863" y="42037"/>
                    <a:pt x="44450" y="44577"/>
                  </a:cubicBezTo>
                  <a:cubicBezTo>
                    <a:pt x="42037" y="47117"/>
                    <a:pt x="39243" y="48895"/>
                    <a:pt x="35941" y="50165"/>
                  </a:cubicBezTo>
                  <a:cubicBezTo>
                    <a:pt x="32639" y="51435"/>
                    <a:pt x="29464" y="52197"/>
                    <a:pt x="25908" y="52197"/>
                  </a:cubicBezTo>
                  <a:cubicBezTo>
                    <a:pt x="22352" y="52197"/>
                    <a:pt x="19177" y="51562"/>
                    <a:pt x="15875" y="50165"/>
                  </a:cubicBezTo>
                  <a:cubicBezTo>
                    <a:pt x="12573" y="48768"/>
                    <a:pt x="10033" y="46863"/>
                    <a:pt x="7620" y="44450"/>
                  </a:cubicBezTo>
                  <a:cubicBezTo>
                    <a:pt x="5207" y="42037"/>
                    <a:pt x="3302" y="39243"/>
                    <a:pt x="2032" y="36068"/>
                  </a:cubicBezTo>
                  <a:cubicBezTo>
                    <a:pt x="762" y="32893"/>
                    <a:pt x="0" y="29464"/>
                    <a:pt x="0" y="26035"/>
                  </a:cubicBezTo>
                  <a:cubicBezTo>
                    <a:pt x="0" y="22606"/>
                    <a:pt x="635" y="19304"/>
                    <a:pt x="2032" y="16002"/>
                  </a:cubicBezTo>
                  <a:cubicBezTo>
                    <a:pt x="3429" y="12700"/>
                    <a:pt x="5207" y="10033"/>
                    <a:pt x="7620" y="7620"/>
                  </a:cubicBezTo>
                  <a:cubicBezTo>
                    <a:pt x="10033" y="5207"/>
                    <a:pt x="12827" y="3302"/>
                    <a:pt x="16129" y="2032"/>
                  </a:cubicBezTo>
                  <a:cubicBezTo>
                    <a:pt x="19431" y="762"/>
                    <a:pt x="22606" y="0"/>
                    <a:pt x="26035" y="0"/>
                  </a:cubicBezTo>
                  <a:cubicBezTo>
                    <a:pt x="29464" y="0"/>
                    <a:pt x="32766" y="635"/>
                    <a:pt x="36068" y="2032"/>
                  </a:cubicBezTo>
                  <a:cubicBezTo>
                    <a:pt x="39370" y="3429"/>
                    <a:pt x="42037" y="5207"/>
                    <a:pt x="44577" y="7620"/>
                  </a:cubicBezTo>
                  <a:cubicBezTo>
                    <a:pt x="47117" y="10033"/>
                    <a:pt x="48895" y="12827"/>
                    <a:pt x="50165" y="16129"/>
                  </a:cubicBezTo>
                  <a:cubicBezTo>
                    <a:pt x="51435" y="19431"/>
                    <a:pt x="52197" y="22606"/>
                    <a:pt x="52197" y="26162"/>
                  </a:cubicBezTo>
                  <a:close/>
                </a:path>
              </a:pathLst>
            </a:custGeom>
            <a:solidFill>
              <a:srgbClr val="FFFFFF"/>
            </a:solidFill>
          </p:spPr>
        </p:sp>
      </p:grpSp>
      <p:grpSp>
        <p:nvGrpSpPr>
          <p:cNvPr name="Group 13" id="13"/>
          <p:cNvGrpSpPr>
            <a:grpSpLocks noChangeAspect="true"/>
          </p:cNvGrpSpPr>
          <p:nvPr/>
        </p:nvGrpSpPr>
        <p:grpSpPr>
          <a:xfrm rot="0">
            <a:off x="870604" y="6930400"/>
            <a:ext cx="5581126" cy="3516116"/>
            <a:chOff x="0" y="0"/>
            <a:chExt cx="5581129" cy="3516109"/>
          </a:xfrm>
        </p:grpSpPr>
        <p:sp>
          <p:nvSpPr>
            <p:cNvPr name="Freeform 14" id="14"/>
            <p:cNvSpPr/>
            <p:nvPr/>
          </p:nvSpPr>
          <p:spPr>
            <a:xfrm flipH="false" flipV="false" rot="0">
              <a:off x="0" y="0"/>
              <a:ext cx="5581142" cy="3516122"/>
            </a:xfrm>
            <a:custGeom>
              <a:avLst/>
              <a:gdLst/>
              <a:ahLst/>
              <a:cxnLst/>
              <a:rect r="r" b="b" t="t" l="l"/>
              <a:pathLst>
                <a:path h="3516122" w="5581142">
                  <a:moveTo>
                    <a:pt x="0" y="3516122"/>
                  </a:moveTo>
                  <a:lnTo>
                    <a:pt x="5581142" y="3516122"/>
                  </a:lnTo>
                  <a:lnTo>
                    <a:pt x="5581142" y="0"/>
                  </a:lnTo>
                  <a:lnTo>
                    <a:pt x="0" y="0"/>
                  </a:lnTo>
                  <a:close/>
                </a:path>
              </a:pathLst>
            </a:custGeom>
            <a:solidFill>
              <a:srgbClr val="000000">
                <a:alpha val="0"/>
              </a:srgbClr>
            </a:solidFill>
          </p:spPr>
        </p:sp>
      </p:grpSp>
      <p:grpSp>
        <p:nvGrpSpPr>
          <p:cNvPr name="Group 15" id="15"/>
          <p:cNvGrpSpPr>
            <a:grpSpLocks noChangeAspect="true"/>
          </p:cNvGrpSpPr>
          <p:nvPr/>
        </p:nvGrpSpPr>
        <p:grpSpPr>
          <a:xfrm rot="0">
            <a:off x="692448" y="-63503"/>
            <a:ext cx="6933905" cy="5321522"/>
            <a:chOff x="0" y="0"/>
            <a:chExt cx="6933895" cy="5321529"/>
          </a:xfrm>
        </p:grpSpPr>
        <p:sp>
          <p:nvSpPr>
            <p:cNvPr name="Freeform 16" id="16"/>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7" id="17"/>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8" id="18"/>
            <p:cNvSpPr/>
            <p:nvPr/>
          </p:nvSpPr>
          <p:spPr>
            <a:xfrm flipH="false" flipV="false" rot="0">
              <a:off x="3525139" y="3099562"/>
              <a:ext cx="3203702" cy="2158492"/>
            </a:xfrm>
            <a:custGeom>
              <a:avLst/>
              <a:gdLst/>
              <a:ahLst/>
              <a:cxnLst/>
              <a:rect r="r" b="b" t="t" l="l"/>
              <a:pathLst>
                <a:path h="2158492" w="3203702">
                  <a:moveTo>
                    <a:pt x="0" y="2158492"/>
                  </a:moveTo>
                  <a:lnTo>
                    <a:pt x="3203702" y="2158492"/>
                  </a:lnTo>
                  <a:lnTo>
                    <a:pt x="3203702" y="0"/>
                  </a:lnTo>
                  <a:lnTo>
                    <a:pt x="0" y="0"/>
                  </a:lnTo>
                  <a:close/>
                </a:path>
              </a:pathLst>
            </a:custGeom>
            <a:solidFill>
              <a:srgbClr val="000000">
                <a:alpha val="0"/>
              </a:srgbClr>
            </a:solidFill>
          </p:spPr>
        </p:sp>
      </p:grpSp>
      <p:sp>
        <p:nvSpPr>
          <p:cNvPr name="TextBox 19" id="19"/>
          <p:cNvSpPr txBox="true"/>
          <p:nvPr/>
        </p:nvSpPr>
        <p:spPr>
          <a:xfrm rot="0">
            <a:off x="623345" y="1209418"/>
            <a:ext cx="5836844"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p:txBody>
      </p:sp>
      <p:sp>
        <p:nvSpPr>
          <p:cNvPr name="TextBox 20" id="20"/>
          <p:cNvSpPr txBox="true"/>
          <p:nvPr/>
        </p:nvSpPr>
        <p:spPr>
          <a:xfrm rot="0">
            <a:off x="395849" y="3056296"/>
            <a:ext cx="1689183" cy="206435"/>
          </a:xfrm>
          <a:prstGeom prst="rect">
            <a:avLst/>
          </a:prstGeom>
        </p:spPr>
        <p:txBody>
          <a:bodyPr anchor="t" rtlCol="false" tIns="0" lIns="0" bIns="0" rIns="0">
            <a:spAutoFit/>
          </a:bodyPr>
          <a:lstStyle/>
          <a:p>
            <a:pPr algn="l">
              <a:lnSpc>
                <a:spcPts val="1519"/>
              </a:lnSpc>
            </a:pPr>
            <a:r>
              <a:rPr lang="en-US" b="true" sz="1292" spc="116">
                <a:solidFill>
                  <a:srgbClr val="FFFFFF"/>
                </a:solidFill>
                <a:latin typeface="HK Grotesk Medium"/>
                <a:ea typeface="HK Grotesk Medium"/>
                <a:cs typeface="HK Grotesk Medium"/>
                <a:sym typeface="HK Grotesk Medium"/>
              </a:rPr>
              <a:t>Grade Distribution:</a:t>
            </a:r>
          </a:p>
        </p:txBody>
      </p:sp>
      <p:sp>
        <p:nvSpPr>
          <p:cNvPr name="TextBox 21" id="21"/>
          <p:cNvSpPr txBox="true"/>
          <p:nvPr/>
        </p:nvSpPr>
        <p:spPr>
          <a:xfrm rot="0">
            <a:off x="674932" y="3249339"/>
            <a:ext cx="3539128" cy="978598"/>
          </a:xfrm>
          <a:prstGeom prst="rect">
            <a:avLst/>
          </a:prstGeom>
        </p:spPr>
        <p:txBody>
          <a:bodyPr anchor="t" rtlCol="false" tIns="0" lIns="0" bIns="0" rIns="0">
            <a:spAutoFit/>
          </a:bodyPr>
          <a:lstStyle/>
          <a:p>
            <a:pPr algn="l">
              <a:lnSpc>
                <a:spcPts val="1519"/>
              </a:lnSpc>
            </a:pPr>
            <a:r>
              <a:rPr lang="en-US" b="true" sz="1292" spc="116">
                <a:solidFill>
                  <a:srgbClr val="FFFFFF"/>
                </a:solidFill>
                <a:latin typeface="HK Grotesk Medium"/>
                <a:ea typeface="HK Grotesk Medium"/>
                <a:cs typeface="HK Grotesk Medium"/>
                <a:sym typeface="HK Grotesk Medium"/>
              </a:rPr>
              <a:t>Most students received B and C grades. A grades were less common, while D and F grades had smaller counts. Gender differences in grades were minimal.</a:t>
            </a:r>
          </a:p>
        </p:txBody>
      </p:sp>
      <p:sp>
        <p:nvSpPr>
          <p:cNvPr name="TextBox 22" id="22"/>
          <p:cNvSpPr txBox="true"/>
          <p:nvPr/>
        </p:nvSpPr>
        <p:spPr>
          <a:xfrm rot="0">
            <a:off x="405013" y="4938065"/>
            <a:ext cx="3608651"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FEATURE CORRELATION HEATMAP</a:t>
            </a:r>
          </a:p>
        </p:txBody>
      </p:sp>
      <p:sp>
        <p:nvSpPr>
          <p:cNvPr name="TextBox 23" id="23"/>
          <p:cNvSpPr txBox="true"/>
          <p:nvPr/>
        </p:nvSpPr>
        <p:spPr>
          <a:xfrm rot="0">
            <a:off x="399764" y="2691955"/>
            <a:ext cx="3884800"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ACADEMIC PERFORMANCE ANALYSIS</a:t>
            </a:r>
          </a:p>
        </p:txBody>
      </p:sp>
      <p:sp>
        <p:nvSpPr>
          <p:cNvPr name="TextBox 24" id="24"/>
          <p:cNvSpPr txBox="true"/>
          <p:nvPr/>
        </p:nvSpPr>
        <p:spPr>
          <a:xfrm rot="0">
            <a:off x="506873" y="5447481"/>
            <a:ext cx="4049878" cy="409556"/>
          </a:xfrm>
          <a:prstGeom prst="rect">
            <a:avLst/>
          </a:prstGeom>
        </p:spPr>
        <p:txBody>
          <a:bodyPr anchor="t" rtlCol="false" tIns="0" lIns="0" bIns="0" rIns="0">
            <a:spAutoFit/>
          </a:bodyPr>
          <a:lstStyle/>
          <a:p>
            <a:pPr algn="l">
              <a:lnSpc>
                <a:spcPts val="1558"/>
              </a:lnSpc>
            </a:pPr>
            <a:r>
              <a:rPr lang="en-US" b="true" sz="1325" spc="119">
                <a:solidFill>
                  <a:srgbClr val="FFFFFF"/>
                </a:solidFill>
                <a:latin typeface="HK Grotesk Medium"/>
                <a:ea typeface="HK Grotesk Medium"/>
                <a:cs typeface="HK Grotesk Medium"/>
                <a:sym typeface="HK Grotesk Medium"/>
              </a:rPr>
              <a:t>A heatmap of feature correlations shows that most relationships are weakly correlated.</a:t>
            </a:r>
          </a:p>
        </p:txBody>
      </p:sp>
      <p:sp>
        <p:nvSpPr>
          <p:cNvPr name="TextBox 25" id="25"/>
          <p:cNvSpPr txBox="true"/>
          <p:nvPr/>
        </p:nvSpPr>
        <p:spPr>
          <a:xfrm rot="0">
            <a:off x="793175" y="5843540"/>
            <a:ext cx="3792198" cy="607590"/>
          </a:xfrm>
          <a:prstGeom prst="rect">
            <a:avLst/>
          </a:prstGeom>
        </p:spPr>
        <p:txBody>
          <a:bodyPr anchor="t" rtlCol="false" tIns="0" lIns="0" bIns="0" rIns="0">
            <a:spAutoFit/>
          </a:bodyPr>
          <a:lstStyle/>
          <a:p>
            <a:pPr algn="l">
              <a:lnSpc>
                <a:spcPts val="1558"/>
              </a:lnSpc>
            </a:pPr>
            <a:r>
              <a:rPr lang="en-US" b="true" sz="1325" spc="119">
                <a:solidFill>
                  <a:srgbClr val="FFFFFF"/>
                </a:solidFill>
                <a:latin typeface="HK Grotesk Medium"/>
                <a:ea typeface="HK Grotesk Medium"/>
                <a:cs typeface="HK Grotesk Medium"/>
                <a:sym typeface="HK Grotesk Medium"/>
              </a:rPr>
              <a:t>There are no strong linear relationships among key features like attendance, study hours, and scores.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32503" y="2953360"/>
            <a:ext cx="2600325" cy="1562100"/>
          </a:xfrm>
          <a:custGeom>
            <a:avLst/>
            <a:gdLst/>
            <a:ahLst/>
            <a:cxnLst/>
            <a:rect r="r" b="b" t="t" l="l"/>
            <a:pathLst>
              <a:path h="1562100" w="2600325">
                <a:moveTo>
                  <a:pt x="0" y="0"/>
                </a:moveTo>
                <a:lnTo>
                  <a:pt x="2600325" y="0"/>
                </a:lnTo>
                <a:lnTo>
                  <a:pt x="2600325" y="1562100"/>
                </a:lnTo>
                <a:lnTo>
                  <a:pt x="0" y="1562100"/>
                </a:lnTo>
                <a:lnTo>
                  <a:pt x="0" y="0"/>
                </a:lnTo>
                <a:close/>
              </a:path>
            </a:pathLst>
          </a:custGeom>
          <a:blipFill>
            <a:blip r:embed="rId4"/>
            <a:stretch>
              <a:fillRect l="0" t="0" r="0" b="0"/>
            </a:stretch>
          </a:blipFill>
        </p:spPr>
      </p:sp>
      <p:sp>
        <p:nvSpPr>
          <p:cNvPr name="Freeform 4" id="4"/>
          <p:cNvSpPr/>
          <p:nvPr/>
        </p:nvSpPr>
        <p:spPr>
          <a:xfrm flipH="false" flipV="false" rot="0">
            <a:off x="2752725" y="7420470"/>
            <a:ext cx="4381500" cy="2333625"/>
          </a:xfrm>
          <a:custGeom>
            <a:avLst/>
            <a:gdLst/>
            <a:ahLst/>
            <a:cxnLst/>
            <a:rect r="r" b="b" t="t" l="l"/>
            <a:pathLst>
              <a:path h="2333625" w="4381500">
                <a:moveTo>
                  <a:pt x="0" y="0"/>
                </a:moveTo>
                <a:lnTo>
                  <a:pt x="4381500" y="0"/>
                </a:lnTo>
                <a:lnTo>
                  <a:pt x="4381500" y="2333625"/>
                </a:lnTo>
                <a:lnTo>
                  <a:pt x="0" y="2333625"/>
                </a:lnTo>
                <a:lnTo>
                  <a:pt x="0" y="0"/>
                </a:lnTo>
                <a:close/>
              </a:path>
            </a:pathLst>
          </a:custGeom>
          <a:blipFill>
            <a:blip r:embed="rId5"/>
            <a:stretch>
              <a:fillRect l="0" t="0" r="0" b="0"/>
            </a:stretch>
          </a:blipFill>
        </p:spPr>
      </p:sp>
      <p:grpSp>
        <p:nvGrpSpPr>
          <p:cNvPr name="Group 5" id="5"/>
          <p:cNvGrpSpPr>
            <a:grpSpLocks noChangeAspect="true"/>
          </p:cNvGrpSpPr>
          <p:nvPr/>
        </p:nvGrpSpPr>
        <p:grpSpPr>
          <a:xfrm rot="0">
            <a:off x="2752725" y="7425042"/>
            <a:ext cx="4377033" cy="2332453"/>
            <a:chOff x="0" y="0"/>
            <a:chExt cx="4377030" cy="2332444"/>
          </a:xfrm>
        </p:grpSpPr>
        <p:sp>
          <p:nvSpPr>
            <p:cNvPr name="Freeform 6" id="6"/>
            <p:cNvSpPr/>
            <p:nvPr/>
          </p:nvSpPr>
          <p:spPr>
            <a:xfrm flipH="false" flipV="false" rot="0">
              <a:off x="0" y="0"/>
              <a:ext cx="4377055" cy="2332482"/>
            </a:xfrm>
            <a:custGeom>
              <a:avLst/>
              <a:gdLst/>
              <a:ahLst/>
              <a:cxnLst/>
              <a:rect r="r" b="b" t="t" l="l"/>
              <a:pathLst>
                <a:path h="2332482" w="4377055">
                  <a:moveTo>
                    <a:pt x="0" y="2332482"/>
                  </a:moveTo>
                  <a:lnTo>
                    <a:pt x="4377055" y="2332482"/>
                  </a:lnTo>
                  <a:lnTo>
                    <a:pt x="4377055" y="0"/>
                  </a:lnTo>
                  <a:lnTo>
                    <a:pt x="0" y="0"/>
                  </a:lnTo>
                  <a:close/>
                </a:path>
              </a:pathLst>
            </a:custGeom>
            <a:solidFill>
              <a:srgbClr val="000000">
                <a:alpha val="0"/>
              </a:srgbClr>
            </a:solidFill>
          </p:spPr>
        </p:sp>
      </p:grpSp>
      <p:grpSp>
        <p:nvGrpSpPr>
          <p:cNvPr name="Group 7" id="7"/>
          <p:cNvGrpSpPr>
            <a:grpSpLocks noChangeAspect="true"/>
          </p:cNvGrpSpPr>
          <p:nvPr/>
        </p:nvGrpSpPr>
        <p:grpSpPr>
          <a:xfrm rot="0">
            <a:off x="692448" y="-63503"/>
            <a:ext cx="6933905" cy="4644714"/>
            <a:chOff x="0" y="0"/>
            <a:chExt cx="6933895" cy="4644708"/>
          </a:xfrm>
        </p:grpSpPr>
        <p:sp>
          <p:nvSpPr>
            <p:cNvPr name="Freeform 8" id="8"/>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9" id="9"/>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0" id="10"/>
            <p:cNvSpPr/>
            <p:nvPr/>
          </p:nvSpPr>
          <p:spPr>
            <a:xfrm flipH="false" flipV="false" rot="0">
              <a:off x="3640074" y="3021457"/>
              <a:ext cx="2604135" cy="1559814"/>
            </a:xfrm>
            <a:custGeom>
              <a:avLst/>
              <a:gdLst/>
              <a:ahLst/>
              <a:cxnLst/>
              <a:rect r="r" b="b" t="t" l="l"/>
              <a:pathLst>
                <a:path h="1559814" w="2604135">
                  <a:moveTo>
                    <a:pt x="0" y="1559814"/>
                  </a:moveTo>
                  <a:lnTo>
                    <a:pt x="2604135" y="1559814"/>
                  </a:lnTo>
                  <a:lnTo>
                    <a:pt x="2604135" y="0"/>
                  </a:lnTo>
                  <a:lnTo>
                    <a:pt x="0" y="0"/>
                  </a:lnTo>
                  <a:close/>
                </a:path>
              </a:pathLst>
            </a:custGeom>
            <a:solidFill>
              <a:srgbClr val="000000">
                <a:alpha val="0"/>
              </a:srgbClr>
            </a:solidFill>
          </p:spPr>
        </p:sp>
      </p:grpSp>
      <p:sp>
        <p:nvSpPr>
          <p:cNvPr name="TextBox 11" id="11"/>
          <p:cNvSpPr txBox="true"/>
          <p:nvPr/>
        </p:nvSpPr>
        <p:spPr>
          <a:xfrm rot="0">
            <a:off x="623345" y="1209418"/>
            <a:ext cx="5836844"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p:txBody>
      </p:sp>
      <p:sp>
        <p:nvSpPr>
          <p:cNvPr name="TextBox 12" id="12"/>
          <p:cNvSpPr txBox="true"/>
          <p:nvPr/>
        </p:nvSpPr>
        <p:spPr>
          <a:xfrm rot="0">
            <a:off x="395849" y="3056296"/>
            <a:ext cx="3613718" cy="978598"/>
          </a:xfrm>
          <a:prstGeom prst="rect">
            <a:avLst/>
          </a:prstGeom>
        </p:spPr>
        <p:txBody>
          <a:bodyPr anchor="t" rtlCol="false" tIns="0" lIns="0" bIns="0" rIns="0">
            <a:spAutoFit/>
          </a:bodyPr>
          <a:lstStyle/>
          <a:p>
            <a:pPr algn="l">
              <a:lnSpc>
                <a:spcPts val="1519"/>
              </a:lnSpc>
            </a:pPr>
            <a:r>
              <a:rPr lang="en-US" b="true" sz="1292" spc="116">
                <a:solidFill>
                  <a:srgbClr val="FFFFFF"/>
                </a:solidFill>
                <a:latin typeface="HK Grotesk Medium"/>
                <a:ea typeface="HK Grotesk Medium"/>
                <a:cs typeface="HK Grotesk Medium"/>
                <a:sym typeface="HK Grotesk Medium"/>
              </a:rPr>
              <a:t>A trend line suggests a slight positive correlation between attendance and total score — students with higher attendance tend to perform slightly better. However, the relationship remains weak.</a:t>
            </a:r>
          </a:p>
        </p:txBody>
      </p:sp>
      <p:sp>
        <p:nvSpPr>
          <p:cNvPr name="TextBox 13" id="13"/>
          <p:cNvSpPr txBox="true"/>
          <p:nvPr/>
        </p:nvSpPr>
        <p:spPr>
          <a:xfrm rot="0">
            <a:off x="404870" y="2687193"/>
            <a:ext cx="3456823"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ATTENDANCE AND TOTAL SCORE</a:t>
            </a:r>
          </a:p>
        </p:txBody>
      </p:sp>
      <p:sp>
        <p:nvSpPr>
          <p:cNvPr name="TextBox 14" id="14"/>
          <p:cNvSpPr txBox="true"/>
          <p:nvPr/>
        </p:nvSpPr>
        <p:spPr>
          <a:xfrm rot="0">
            <a:off x="255175" y="5705132"/>
            <a:ext cx="4399150" cy="447570"/>
          </a:xfrm>
          <a:prstGeom prst="rect">
            <a:avLst/>
          </a:prstGeom>
        </p:spPr>
        <p:txBody>
          <a:bodyPr anchor="t" rtlCol="false" tIns="0" lIns="0" bIns="0" rIns="0">
            <a:spAutoFit/>
          </a:bodyPr>
          <a:lstStyle/>
          <a:p>
            <a:pPr algn="l">
              <a:lnSpc>
                <a:spcPts val="1725"/>
              </a:lnSpc>
            </a:pPr>
            <a:r>
              <a:rPr lang="en-US" b="true" sz="1499" spc="134">
                <a:solidFill>
                  <a:srgbClr val="FFFFFF"/>
                </a:solidFill>
                <a:latin typeface="HK Grotesk Semi-Bold"/>
                <a:ea typeface="HK Grotesk Semi-Bold"/>
                <a:cs typeface="HK Grotesk Semi-Bold"/>
                <a:sym typeface="HK Grotesk Semi-Bold"/>
              </a:rPr>
              <a:t>PARENT EDUCATION LEVEL AND STUDENT PERFORMANCE</a:t>
            </a:r>
          </a:p>
        </p:txBody>
      </p:sp>
      <p:sp>
        <p:nvSpPr>
          <p:cNvPr name="TextBox 15" id="15"/>
          <p:cNvSpPr txBox="true"/>
          <p:nvPr/>
        </p:nvSpPr>
        <p:spPr>
          <a:xfrm rot="0">
            <a:off x="277016" y="6262164"/>
            <a:ext cx="4087387" cy="805615"/>
          </a:xfrm>
          <a:prstGeom prst="rect">
            <a:avLst/>
          </a:prstGeom>
        </p:spPr>
        <p:txBody>
          <a:bodyPr anchor="t" rtlCol="false" tIns="0" lIns="0" bIns="0" rIns="0">
            <a:spAutoFit/>
          </a:bodyPr>
          <a:lstStyle/>
          <a:p>
            <a:pPr algn="l">
              <a:lnSpc>
                <a:spcPts val="1558"/>
              </a:lnSpc>
            </a:pPr>
            <a:r>
              <a:rPr lang="en-US" b="true" sz="1325" spc="119">
                <a:solidFill>
                  <a:srgbClr val="FFFFFF"/>
                </a:solidFill>
                <a:latin typeface="HK Grotesk Medium"/>
                <a:ea typeface="HK Grotesk Medium"/>
                <a:cs typeface="HK Grotesk Medium"/>
                <a:sym typeface="HK Grotesk Medium"/>
              </a:rPr>
              <a:t>Students' total scores show minimal variance across parent education levels. This implies parental education may not directly influence student scores.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525847" y="4280697"/>
            <a:ext cx="61236" cy="61236"/>
            <a:chOff x="0" y="0"/>
            <a:chExt cx="61239" cy="61239"/>
          </a:xfrm>
        </p:grpSpPr>
        <p:sp>
          <p:nvSpPr>
            <p:cNvPr name="Freeform 3" id="3"/>
            <p:cNvSpPr/>
            <p:nvPr/>
          </p:nvSpPr>
          <p:spPr>
            <a:xfrm flipH="false" flipV="false" rot="0">
              <a:off x="0" y="127"/>
              <a:ext cx="61214" cy="60960"/>
            </a:xfrm>
            <a:custGeom>
              <a:avLst/>
              <a:gdLst/>
              <a:ahLst/>
              <a:cxnLst/>
              <a:rect r="r" b="b" t="t" l="l"/>
              <a:pathLst>
                <a:path h="60960" w="61214">
                  <a:moveTo>
                    <a:pt x="61214" y="30480"/>
                  </a:moveTo>
                  <a:cubicBezTo>
                    <a:pt x="61214" y="34544"/>
                    <a:pt x="60452" y="38481"/>
                    <a:pt x="58928" y="42164"/>
                  </a:cubicBezTo>
                  <a:cubicBezTo>
                    <a:pt x="57404" y="45847"/>
                    <a:pt x="55118" y="49276"/>
                    <a:pt x="52324" y="52070"/>
                  </a:cubicBezTo>
                  <a:cubicBezTo>
                    <a:pt x="49530" y="54864"/>
                    <a:pt x="46101" y="57150"/>
                    <a:pt x="42418" y="58674"/>
                  </a:cubicBezTo>
                  <a:cubicBezTo>
                    <a:pt x="38735" y="60198"/>
                    <a:pt x="34798" y="60960"/>
                    <a:pt x="30734" y="60960"/>
                  </a:cubicBezTo>
                  <a:cubicBezTo>
                    <a:pt x="26670" y="60960"/>
                    <a:pt x="22733" y="60198"/>
                    <a:pt x="19050" y="58674"/>
                  </a:cubicBezTo>
                  <a:cubicBezTo>
                    <a:pt x="15367" y="57150"/>
                    <a:pt x="11938" y="54864"/>
                    <a:pt x="9144" y="52070"/>
                  </a:cubicBezTo>
                  <a:cubicBezTo>
                    <a:pt x="6350" y="49276"/>
                    <a:pt x="4064" y="45847"/>
                    <a:pt x="2540" y="42164"/>
                  </a:cubicBezTo>
                  <a:cubicBezTo>
                    <a:pt x="1016" y="38481"/>
                    <a:pt x="0" y="34544"/>
                    <a:pt x="0" y="30480"/>
                  </a:cubicBezTo>
                  <a:cubicBezTo>
                    <a:pt x="0" y="26416"/>
                    <a:pt x="762" y="22479"/>
                    <a:pt x="2286" y="18796"/>
                  </a:cubicBezTo>
                  <a:cubicBezTo>
                    <a:pt x="3810" y="15113"/>
                    <a:pt x="6096" y="11684"/>
                    <a:pt x="9017" y="8890"/>
                  </a:cubicBezTo>
                  <a:cubicBezTo>
                    <a:pt x="11938" y="6096"/>
                    <a:pt x="15240" y="3810"/>
                    <a:pt x="18923" y="2286"/>
                  </a:cubicBezTo>
                  <a:cubicBezTo>
                    <a:pt x="22606" y="762"/>
                    <a:pt x="26543" y="0"/>
                    <a:pt x="30607" y="0"/>
                  </a:cubicBezTo>
                  <a:cubicBezTo>
                    <a:pt x="34671" y="0"/>
                    <a:pt x="38608" y="762"/>
                    <a:pt x="42291" y="2286"/>
                  </a:cubicBezTo>
                  <a:cubicBezTo>
                    <a:pt x="45974" y="3810"/>
                    <a:pt x="49403" y="6096"/>
                    <a:pt x="52197" y="8890"/>
                  </a:cubicBezTo>
                  <a:cubicBezTo>
                    <a:pt x="54991" y="11684"/>
                    <a:pt x="57277" y="15113"/>
                    <a:pt x="58801" y="18796"/>
                  </a:cubicBezTo>
                  <a:cubicBezTo>
                    <a:pt x="60325" y="22479"/>
                    <a:pt x="61087" y="26416"/>
                    <a:pt x="61087" y="30480"/>
                  </a:cubicBezTo>
                  <a:close/>
                </a:path>
              </a:pathLst>
            </a:custGeom>
            <a:solidFill>
              <a:srgbClr val="FFFFFF"/>
            </a:solidFill>
          </p:spPr>
        </p:sp>
      </p:grpSp>
      <p:grpSp>
        <p:nvGrpSpPr>
          <p:cNvPr name="Group 4" id="4"/>
          <p:cNvGrpSpPr>
            <a:grpSpLocks noChangeAspect="true"/>
          </p:cNvGrpSpPr>
          <p:nvPr/>
        </p:nvGrpSpPr>
        <p:grpSpPr>
          <a:xfrm rot="0">
            <a:off x="525847" y="4746117"/>
            <a:ext cx="61236" cy="61236"/>
            <a:chOff x="0" y="0"/>
            <a:chExt cx="61239" cy="61239"/>
          </a:xfrm>
        </p:grpSpPr>
        <p:sp>
          <p:nvSpPr>
            <p:cNvPr name="Freeform 5" id="5"/>
            <p:cNvSpPr/>
            <p:nvPr/>
          </p:nvSpPr>
          <p:spPr>
            <a:xfrm flipH="false" flipV="false" rot="0">
              <a:off x="0" y="127"/>
              <a:ext cx="61214" cy="60960"/>
            </a:xfrm>
            <a:custGeom>
              <a:avLst/>
              <a:gdLst/>
              <a:ahLst/>
              <a:cxnLst/>
              <a:rect r="r" b="b" t="t" l="l"/>
              <a:pathLst>
                <a:path h="60960" w="61214">
                  <a:moveTo>
                    <a:pt x="61214" y="30480"/>
                  </a:moveTo>
                  <a:cubicBezTo>
                    <a:pt x="61214" y="34544"/>
                    <a:pt x="60452" y="38481"/>
                    <a:pt x="58928" y="42164"/>
                  </a:cubicBezTo>
                  <a:cubicBezTo>
                    <a:pt x="57404" y="45847"/>
                    <a:pt x="55118" y="49276"/>
                    <a:pt x="52324" y="52070"/>
                  </a:cubicBezTo>
                  <a:cubicBezTo>
                    <a:pt x="49530" y="54864"/>
                    <a:pt x="46101" y="57150"/>
                    <a:pt x="42418" y="58674"/>
                  </a:cubicBezTo>
                  <a:cubicBezTo>
                    <a:pt x="38735" y="60198"/>
                    <a:pt x="34798" y="60960"/>
                    <a:pt x="30734" y="60960"/>
                  </a:cubicBezTo>
                  <a:cubicBezTo>
                    <a:pt x="26670" y="60960"/>
                    <a:pt x="22733" y="60198"/>
                    <a:pt x="19050" y="58674"/>
                  </a:cubicBezTo>
                  <a:cubicBezTo>
                    <a:pt x="15367" y="57150"/>
                    <a:pt x="11938" y="54864"/>
                    <a:pt x="9144" y="52070"/>
                  </a:cubicBezTo>
                  <a:cubicBezTo>
                    <a:pt x="6350" y="49276"/>
                    <a:pt x="4064" y="45847"/>
                    <a:pt x="2540" y="42164"/>
                  </a:cubicBezTo>
                  <a:cubicBezTo>
                    <a:pt x="1016" y="38481"/>
                    <a:pt x="0" y="34544"/>
                    <a:pt x="0" y="30480"/>
                  </a:cubicBezTo>
                  <a:cubicBezTo>
                    <a:pt x="0" y="26416"/>
                    <a:pt x="762" y="22479"/>
                    <a:pt x="2286" y="18796"/>
                  </a:cubicBezTo>
                  <a:cubicBezTo>
                    <a:pt x="3810" y="15113"/>
                    <a:pt x="6096" y="11684"/>
                    <a:pt x="9017" y="8890"/>
                  </a:cubicBezTo>
                  <a:cubicBezTo>
                    <a:pt x="11938" y="6096"/>
                    <a:pt x="15240" y="3810"/>
                    <a:pt x="18923" y="2286"/>
                  </a:cubicBezTo>
                  <a:cubicBezTo>
                    <a:pt x="22606" y="762"/>
                    <a:pt x="26543" y="0"/>
                    <a:pt x="30607" y="0"/>
                  </a:cubicBezTo>
                  <a:cubicBezTo>
                    <a:pt x="34671" y="0"/>
                    <a:pt x="38608" y="762"/>
                    <a:pt x="42291" y="2286"/>
                  </a:cubicBezTo>
                  <a:cubicBezTo>
                    <a:pt x="45974" y="3810"/>
                    <a:pt x="49403" y="6096"/>
                    <a:pt x="52197" y="8890"/>
                  </a:cubicBezTo>
                  <a:cubicBezTo>
                    <a:pt x="54991" y="11684"/>
                    <a:pt x="57277" y="15113"/>
                    <a:pt x="58801" y="18796"/>
                  </a:cubicBezTo>
                  <a:cubicBezTo>
                    <a:pt x="60325" y="22479"/>
                    <a:pt x="61087" y="26416"/>
                    <a:pt x="61087" y="30480"/>
                  </a:cubicBezTo>
                  <a:close/>
                </a:path>
              </a:pathLst>
            </a:custGeom>
            <a:solidFill>
              <a:srgbClr val="FFFFFF"/>
            </a:solidFill>
          </p:spPr>
        </p:sp>
      </p:grpSp>
      <p:grpSp>
        <p:nvGrpSpPr>
          <p:cNvPr name="Group 6" id="6"/>
          <p:cNvGrpSpPr>
            <a:grpSpLocks noChangeAspect="true"/>
          </p:cNvGrpSpPr>
          <p:nvPr/>
        </p:nvGrpSpPr>
        <p:grpSpPr>
          <a:xfrm rot="0">
            <a:off x="562004" y="6869316"/>
            <a:ext cx="2996927" cy="2812733"/>
            <a:chOff x="0" y="0"/>
            <a:chExt cx="2996933" cy="2812732"/>
          </a:xfrm>
        </p:grpSpPr>
        <p:sp>
          <p:nvSpPr>
            <p:cNvPr name="Freeform 7" id="7"/>
            <p:cNvSpPr/>
            <p:nvPr/>
          </p:nvSpPr>
          <p:spPr>
            <a:xfrm flipH="false" flipV="false" rot="0">
              <a:off x="1007491" y="138303"/>
              <a:ext cx="165735" cy="165735"/>
            </a:xfrm>
            <a:custGeom>
              <a:avLst/>
              <a:gdLst/>
              <a:ahLst/>
              <a:cxnLst/>
              <a:rect r="r" b="b" t="t" l="l"/>
              <a:pathLst>
                <a:path h="165735" w="165735">
                  <a:moveTo>
                    <a:pt x="3937" y="0"/>
                  </a:moveTo>
                  <a:lnTo>
                    <a:pt x="161798" y="0"/>
                  </a:lnTo>
                  <a:cubicBezTo>
                    <a:pt x="162941" y="0"/>
                    <a:pt x="163830" y="381"/>
                    <a:pt x="164592" y="1143"/>
                  </a:cubicBezTo>
                  <a:cubicBezTo>
                    <a:pt x="165354" y="1905"/>
                    <a:pt x="165735" y="2794"/>
                    <a:pt x="165735" y="3937"/>
                  </a:cubicBezTo>
                  <a:lnTo>
                    <a:pt x="165735" y="161798"/>
                  </a:lnTo>
                  <a:cubicBezTo>
                    <a:pt x="165735" y="162941"/>
                    <a:pt x="165354" y="163830"/>
                    <a:pt x="164592" y="164592"/>
                  </a:cubicBezTo>
                  <a:cubicBezTo>
                    <a:pt x="163830" y="165354"/>
                    <a:pt x="162941" y="165735"/>
                    <a:pt x="161798" y="165735"/>
                  </a:cubicBezTo>
                  <a:lnTo>
                    <a:pt x="3937" y="165735"/>
                  </a:lnTo>
                  <a:cubicBezTo>
                    <a:pt x="2794" y="165735"/>
                    <a:pt x="1905" y="165354"/>
                    <a:pt x="1143" y="164592"/>
                  </a:cubicBezTo>
                  <a:cubicBezTo>
                    <a:pt x="381" y="163830"/>
                    <a:pt x="0" y="162941"/>
                    <a:pt x="0" y="161798"/>
                  </a:cubicBezTo>
                  <a:lnTo>
                    <a:pt x="0" y="3937"/>
                  </a:lnTo>
                  <a:cubicBezTo>
                    <a:pt x="0" y="2794"/>
                    <a:pt x="381" y="1905"/>
                    <a:pt x="1143" y="1143"/>
                  </a:cubicBezTo>
                  <a:cubicBezTo>
                    <a:pt x="1905" y="381"/>
                    <a:pt x="2794" y="0"/>
                    <a:pt x="3937" y="0"/>
                  </a:cubicBezTo>
                  <a:close/>
                </a:path>
              </a:pathLst>
            </a:custGeom>
            <a:solidFill>
              <a:srgbClr val="76BEDD"/>
            </a:solidFill>
          </p:spPr>
        </p:sp>
        <p:sp>
          <p:nvSpPr>
            <p:cNvPr name="Freeform 8" id="8"/>
            <p:cNvSpPr/>
            <p:nvPr/>
          </p:nvSpPr>
          <p:spPr>
            <a:xfrm flipH="false" flipV="false" rot="0">
              <a:off x="1542161" y="138303"/>
              <a:ext cx="165735" cy="165735"/>
            </a:xfrm>
            <a:custGeom>
              <a:avLst/>
              <a:gdLst/>
              <a:ahLst/>
              <a:cxnLst/>
              <a:rect r="r" b="b" t="t" l="l"/>
              <a:pathLst>
                <a:path h="165735" w="165735">
                  <a:moveTo>
                    <a:pt x="3937" y="0"/>
                  </a:moveTo>
                  <a:lnTo>
                    <a:pt x="161798" y="0"/>
                  </a:lnTo>
                  <a:cubicBezTo>
                    <a:pt x="162941" y="0"/>
                    <a:pt x="163830" y="381"/>
                    <a:pt x="164592" y="1143"/>
                  </a:cubicBezTo>
                  <a:cubicBezTo>
                    <a:pt x="165354" y="1905"/>
                    <a:pt x="165735" y="2794"/>
                    <a:pt x="165735" y="3937"/>
                  </a:cubicBezTo>
                  <a:lnTo>
                    <a:pt x="165735" y="161798"/>
                  </a:lnTo>
                  <a:cubicBezTo>
                    <a:pt x="165735" y="162941"/>
                    <a:pt x="165354" y="163830"/>
                    <a:pt x="164592" y="164592"/>
                  </a:cubicBezTo>
                  <a:cubicBezTo>
                    <a:pt x="163830" y="165354"/>
                    <a:pt x="162941" y="165735"/>
                    <a:pt x="161798" y="165735"/>
                  </a:cubicBezTo>
                  <a:lnTo>
                    <a:pt x="3937" y="165735"/>
                  </a:lnTo>
                  <a:cubicBezTo>
                    <a:pt x="2794" y="165735"/>
                    <a:pt x="1905" y="165354"/>
                    <a:pt x="1143" y="164592"/>
                  </a:cubicBezTo>
                  <a:cubicBezTo>
                    <a:pt x="381" y="163830"/>
                    <a:pt x="0" y="162941"/>
                    <a:pt x="0" y="161798"/>
                  </a:cubicBezTo>
                  <a:lnTo>
                    <a:pt x="0" y="3937"/>
                  </a:lnTo>
                  <a:cubicBezTo>
                    <a:pt x="0" y="2794"/>
                    <a:pt x="381" y="1905"/>
                    <a:pt x="1143" y="1143"/>
                  </a:cubicBezTo>
                  <a:cubicBezTo>
                    <a:pt x="1905" y="381"/>
                    <a:pt x="2794" y="0"/>
                    <a:pt x="3937" y="0"/>
                  </a:cubicBezTo>
                  <a:close/>
                </a:path>
              </a:pathLst>
            </a:custGeom>
            <a:solidFill>
              <a:srgbClr val="488687"/>
            </a:solidFill>
          </p:spPr>
        </p:sp>
        <p:sp>
          <p:nvSpPr>
            <p:cNvPr name="Freeform 9" id="9"/>
            <p:cNvSpPr/>
            <p:nvPr/>
          </p:nvSpPr>
          <p:spPr>
            <a:xfrm flipH="false" flipV="false" rot="0">
              <a:off x="1452499" y="383413"/>
              <a:ext cx="1204849" cy="2361311"/>
            </a:xfrm>
            <a:custGeom>
              <a:avLst/>
              <a:gdLst/>
              <a:ahLst/>
              <a:cxnLst/>
              <a:rect r="r" b="b" t="t" l="l"/>
              <a:pathLst>
                <a:path h="2361311" w="1204849">
                  <a:moveTo>
                    <a:pt x="24130" y="0"/>
                  </a:moveTo>
                  <a:cubicBezTo>
                    <a:pt x="43561" y="0"/>
                    <a:pt x="62992" y="508"/>
                    <a:pt x="82423" y="1397"/>
                  </a:cubicBezTo>
                  <a:cubicBezTo>
                    <a:pt x="101854" y="2286"/>
                    <a:pt x="121285" y="3810"/>
                    <a:pt x="140589" y="5715"/>
                  </a:cubicBezTo>
                  <a:cubicBezTo>
                    <a:pt x="159893" y="7620"/>
                    <a:pt x="179197" y="10033"/>
                    <a:pt x="198501" y="12954"/>
                  </a:cubicBezTo>
                  <a:cubicBezTo>
                    <a:pt x="217805" y="15875"/>
                    <a:pt x="236855" y="19177"/>
                    <a:pt x="255905" y="22987"/>
                  </a:cubicBezTo>
                  <a:cubicBezTo>
                    <a:pt x="274955" y="26797"/>
                    <a:pt x="293878" y="31115"/>
                    <a:pt x="312801" y="35814"/>
                  </a:cubicBezTo>
                  <a:cubicBezTo>
                    <a:pt x="331724" y="40513"/>
                    <a:pt x="350393" y="45847"/>
                    <a:pt x="368935" y="51435"/>
                  </a:cubicBezTo>
                  <a:cubicBezTo>
                    <a:pt x="387477" y="57023"/>
                    <a:pt x="406019" y="63246"/>
                    <a:pt x="424307" y="69850"/>
                  </a:cubicBezTo>
                  <a:cubicBezTo>
                    <a:pt x="442595" y="76454"/>
                    <a:pt x="460756" y="83439"/>
                    <a:pt x="478663" y="90932"/>
                  </a:cubicBezTo>
                  <a:cubicBezTo>
                    <a:pt x="496570" y="98425"/>
                    <a:pt x="514350" y="106299"/>
                    <a:pt x="531876" y="114681"/>
                  </a:cubicBezTo>
                  <a:cubicBezTo>
                    <a:pt x="549402" y="123063"/>
                    <a:pt x="566801" y="131826"/>
                    <a:pt x="583946" y="141097"/>
                  </a:cubicBezTo>
                  <a:cubicBezTo>
                    <a:pt x="601091" y="150368"/>
                    <a:pt x="617982" y="159893"/>
                    <a:pt x="634619" y="170053"/>
                  </a:cubicBezTo>
                  <a:cubicBezTo>
                    <a:pt x="651256" y="180213"/>
                    <a:pt x="667639" y="190627"/>
                    <a:pt x="683768" y="201422"/>
                  </a:cubicBezTo>
                  <a:cubicBezTo>
                    <a:pt x="699897" y="212217"/>
                    <a:pt x="715772" y="223520"/>
                    <a:pt x="731266" y="235204"/>
                  </a:cubicBezTo>
                  <a:cubicBezTo>
                    <a:pt x="746760" y="246888"/>
                    <a:pt x="762127" y="258826"/>
                    <a:pt x="777113" y="271272"/>
                  </a:cubicBezTo>
                  <a:cubicBezTo>
                    <a:pt x="792099" y="283718"/>
                    <a:pt x="806704" y="296418"/>
                    <a:pt x="821055" y="309626"/>
                  </a:cubicBezTo>
                  <a:cubicBezTo>
                    <a:pt x="835406" y="322834"/>
                    <a:pt x="849376" y="336169"/>
                    <a:pt x="863092" y="350012"/>
                  </a:cubicBezTo>
                  <a:cubicBezTo>
                    <a:pt x="876808" y="363855"/>
                    <a:pt x="890143" y="377952"/>
                    <a:pt x="903097" y="392430"/>
                  </a:cubicBezTo>
                  <a:cubicBezTo>
                    <a:pt x="916051" y="406908"/>
                    <a:pt x="928751" y="421640"/>
                    <a:pt x="940943" y="436753"/>
                  </a:cubicBezTo>
                  <a:cubicBezTo>
                    <a:pt x="953135" y="451866"/>
                    <a:pt x="965073" y="467233"/>
                    <a:pt x="976503" y="482981"/>
                  </a:cubicBezTo>
                  <a:cubicBezTo>
                    <a:pt x="987933" y="498729"/>
                    <a:pt x="999109" y="514604"/>
                    <a:pt x="1009777" y="530860"/>
                  </a:cubicBezTo>
                  <a:cubicBezTo>
                    <a:pt x="1020445" y="547116"/>
                    <a:pt x="1030732" y="563626"/>
                    <a:pt x="1040638" y="580390"/>
                  </a:cubicBezTo>
                  <a:cubicBezTo>
                    <a:pt x="1050544" y="597154"/>
                    <a:pt x="1059942" y="614172"/>
                    <a:pt x="1069086" y="631317"/>
                  </a:cubicBezTo>
                  <a:cubicBezTo>
                    <a:pt x="1078230" y="648462"/>
                    <a:pt x="1086739" y="665988"/>
                    <a:pt x="1094994" y="683641"/>
                  </a:cubicBezTo>
                  <a:cubicBezTo>
                    <a:pt x="1103249" y="701294"/>
                    <a:pt x="1110869" y="719074"/>
                    <a:pt x="1118235" y="737108"/>
                  </a:cubicBezTo>
                  <a:cubicBezTo>
                    <a:pt x="1125601" y="755142"/>
                    <a:pt x="1132459" y="773303"/>
                    <a:pt x="1138809" y="791718"/>
                  </a:cubicBezTo>
                  <a:cubicBezTo>
                    <a:pt x="1145159" y="810133"/>
                    <a:pt x="1151128" y="828548"/>
                    <a:pt x="1156716" y="847217"/>
                  </a:cubicBezTo>
                  <a:cubicBezTo>
                    <a:pt x="1162304" y="865886"/>
                    <a:pt x="1167257" y="884682"/>
                    <a:pt x="1171829" y="903605"/>
                  </a:cubicBezTo>
                  <a:cubicBezTo>
                    <a:pt x="1176401" y="922528"/>
                    <a:pt x="1180465" y="941451"/>
                    <a:pt x="1184148" y="960628"/>
                  </a:cubicBezTo>
                  <a:cubicBezTo>
                    <a:pt x="1187831" y="979805"/>
                    <a:pt x="1190879" y="998855"/>
                    <a:pt x="1193546" y="1018159"/>
                  </a:cubicBezTo>
                  <a:cubicBezTo>
                    <a:pt x="1196213" y="1037463"/>
                    <a:pt x="1198372" y="1056767"/>
                    <a:pt x="1200150" y="1076071"/>
                  </a:cubicBezTo>
                  <a:cubicBezTo>
                    <a:pt x="1201928" y="1095375"/>
                    <a:pt x="1203071" y="1114806"/>
                    <a:pt x="1203833" y="1134237"/>
                  </a:cubicBezTo>
                  <a:cubicBezTo>
                    <a:pt x="1204595" y="1153668"/>
                    <a:pt x="1204849" y="1173099"/>
                    <a:pt x="1204722" y="1192530"/>
                  </a:cubicBezTo>
                  <a:cubicBezTo>
                    <a:pt x="1204595" y="1211961"/>
                    <a:pt x="1203833" y="1231392"/>
                    <a:pt x="1202690" y="1250823"/>
                  </a:cubicBezTo>
                  <a:cubicBezTo>
                    <a:pt x="1201547" y="1270254"/>
                    <a:pt x="1199896" y="1289558"/>
                    <a:pt x="1197737" y="1308989"/>
                  </a:cubicBezTo>
                  <a:cubicBezTo>
                    <a:pt x="1195578" y="1328420"/>
                    <a:pt x="1193038" y="1347597"/>
                    <a:pt x="1189990" y="1366774"/>
                  </a:cubicBezTo>
                  <a:cubicBezTo>
                    <a:pt x="1186942" y="1385951"/>
                    <a:pt x="1183386" y="1405128"/>
                    <a:pt x="1179322" y="1424178"/>
                  </a:cubicBezTo>
                  <a:cubicBezTo>
                    <a:pt x="1175258" y="1443228"/>
                    <a:pt x="1170813" y="1462151"/>
                    <a:pt x="1165860" y="1480947"/>
                  </a:cubicBezTo>
                  <a:cubicBezTo>
                    <a:pt x="1160907" y="1499743"/>
                    <a:pt x="1155573" y="1518412"/>
                    <a:pt x="1149604" y="1536954"/>
                  </a:cubicBezTo>
                  <a:cubicBezTo>
                    <a:pt x="1143635" y="1555496"/>
                    <a:pt x="1137412" y="1573911"/>
                    <a:pt x="1130681" y="1592072"/>
                  </a:cubicBezTo>
                  <a:cubicBezTo>
                    <a:pt x="1123950" y="1610233"/>
                    <a:pt x="1116711" y="1628394"/>
                    <a:pt x="1108964" y="1646174"/>
                  </a:cubicBezTo>
                  <a:cubicBezTo>
                    <a:pt x="1101217" y="1663954"/>
                    <a:pt x="1093216" y="1681734"/>
                    <a:pt x="1084707" y="1699133"/>
                  </a:cubicBezTo>
                  <a:cubicBezTo>
                    <a:pt x="1076198" y="1716532"/>
                    <a:pt x="1067181" y="1733804"/>
                    <a:pt x="1057783" y="1750822"/>
                  </a:cubicBezTo>
                  <a:cubicBezTo>
                    <a:pt x="1048385" y="1767840"/>
                    <a:pt x="1038606" y="1784604"/>
                    <a:pt x="1028319" y="1801114"/>
                  </a:cubicBezTo>
                  <a:cubicBezTo>
                    <a:pt x="1018032" y="1817624"/>
                    <a:pt x="1007491" y="1833880"/>
                    <a:pt x="996442" y="1850009"/>
                  </a:cubicBezTo>
                  <a:cubicBezTo>
                    <a:pt x="985393" y="1866138"/>
                    <a:pt x="973963" y="1881759"/>
                    <a:pt x="962152" y="1897253"/>
                  </a:cubicBezTo>
                  <a:cubicBezTo>
                    <a:pt x="950341" y="1912747"/>
                    <a:pt x="938149" y="1927860"/>
                    <a:pt x="925576" y="1942719"/>
                  </a:cubicBezTo>
                  <a:cubicBezTo>
                    <a:pt x="913003" y="1957578"/>
                    <a:pt x="900049" y="1972056"/>
                    <a:pt x="886841" y="1986280"/>
                  </a:cubicBezTo>
                  <a:cubicBezTo>
                    <a:pt x="873633" y="2000504"/>
                    <a:pt x="859917" y="2014347"/>
                    <a:pt x="845947" y="2027936"/>
                  </a:cubicBezTo>
                  <a:cubicBezTo>
                    <a:pt x="831977" y="2041525"/>
                    <a:pt x="817753" y="2054606"/>
                    <a:pt x="803148" y="2067560"/>
                  </a:cubicBezTo>
                  <a:cubicBezTo>
                    <a:pt x="788543" y="2080514"/>
                    <a:pt x="773684" y="2092833"/>
                    <a:pt x="758444" y="2104898"/>
                  </a:cubicBezTo>
                  <a:cubicBezTo>
                    <a:pt x="743204" y="2116963"/>
                    <a:pt x="727710" y="2128774"/>
                    <a:pt x="711962" y="2140077"/>
                  </a:cubicBezTo>
                  <a:cubicBezTo>
                    <a:pt x="696214" y="2151380"/>
                    <a:pt x="680085" y="2162302"/>
                    <a:pt x="663702" y="2172843"/>
                  </a:cubicBezTo>
                  <a:cubicBezTo>
                    <a:pt x="647319" y="2183384"/>
                    <a:pt x="630809" y="2193544"/>
                    <a:pt x="613918" y="2203196"/>
                  </a:cubicBezTo>
                  <a:cubicBezTo>
                    <a:pt x="597027" y="2212848"/>
                    <a:pt x="580009" y="2222246"/>
                    <a:pt x="562737" y="2231136"/>
                  </a:cubicBezTo>
                  <a:cubicBezTo>
                    <a:pt x="545465" y="2240026"/>
                    <a:pt x="527939" y="2248408"/>
                    <a:pt x="510159" y="2256409"/>
                  </a:cubicBezTo>
                  <a:cubicBezTo>
                    <a:pt x="492379" y="2264410"/>
                    <a:pt x="474472" y="2272030"/>
                    <a:pt x="456438" y="2279142"/>
                  </a:cubicBezTo>
                  <a:cubicBezTo>
                    <a:pt x="438404" y="2286254"/>
                    <a:pt x="420116" y="2292985"/>
                    <a:pt x="401701" y="2299208"/>
                  </a:cubicBezTo>
                  <a:cubicBezTo>
                    <a:pt x="383286" y="2305431"/>
                    <a:pt x="364744" y="2311146"/>
                    <a:pt x="345948" y="2316480"/>
                  </a:cubicBezTo>
                  <a:cubicBezTo>
                    <a:pt x="327152" y="2321814"/>
                    <a:pt x="308356" y="2326640"/>
                    <a:pt x="289433" y="2330958"/>
                  </a:cubicBezTo>
                  <a:cubicBezTo>
                    <a:pt x="270510" y="2335276"/>
                    <a:pt x="251460" y="2339213"/>
                    <a:pt x="232283" y="2342642"/>
                  </a:cubicBezTo>
                  <a:cubicBezTo>
                    <a:pt x="213106" y="2346071"/>
                    <a:pt x="193929" y="2348992"/>
                    <a:pt x="174625" y="2351532"/>
                  </a:cubicBezTo>
                  <a:cubicBezTo>
                    <a:pt x="155321" y="2354072"/>
                    <a:pt x="136017" y="2355977"/>
                    <a:pt x="116586" y="2357501"/>
                  </a:cubicBezTo>
                  <a:cubicBezTo>
                    <a:pt x="97155" y="2359025"/>
                    <a:pt x="77851" y="2360041"/>
                    <a:pt x="58293" y="2360676"/>
                  </a:cubicBezTo>
                  <a:cubicBezTo>
                    <a:pt x="38735" y="2361311"/>
                    <a:pt x="19431" y="2361311"/>
                    <a:pt x="0" y="2360930"/>
                  </a:cubicBezTo>
                  <a:lnTo>
                    <a:pt x="23749" y="1180465"/>
                  </a:lnTo>
                  <a:lnTo>
                    <a:pt x="23749" y="0"/>
                  </a:lnTo>
                  <a:close/>
                </a:path>
              </a:pathLst>
            </a:custGeom>
            <a:solidFill>
              <a:srgbClr val="76BEDD"/>
            </a:solidFill>
          </p:spPr>
        </p:sp>
        <p:sp>
          <p:nvSpPr>
            <p:cNvPr name="Freeform 10" id="10"/>
            <p:cNvSpPr/>
            <p:nvPr/>
          </p:nvSpPr>
          <p:spPr>
            <a:xfrm flipH="false" flipV="false" rot="0">
              <a:off x="295656" y="383413"/>
              <a:ext cx="1180973" cy="2361057"/>
            </a:xfrm>
            <a:custGeom>
              <a:avLst/>
              <a:gdLst/>
              <a:ahLst/>
              <a:cxnLst/>
              <a:rect r="r" b="b" t="t" l="l"/>
              <a:pathLst>
                <a:path h="2361057" w="1180973">
                  <a:moveTo>
                    <a:pt x="1157224" y="2361057"/>
                  </a:moveTo>
                  <a:cubicBezTo>
                    <a:pt x="1138047" y="2360676"/>
                    <a:pt x="1118870" y="2359787"/>
                    <a:pt x="1099693" y="2358517"/>
                  </a:cubicBezTo>
                  <a:cubicBezTo>
                    <a:pt x="1080516" y="2357247"/>
                    <a:pt x="1061466" y="2355469"/>
                    <a:pt x="1042416" y="2353183"/>
                  </a:cubicBezTo>
                  <a:cubicBezTo>
                    <a:pt x="1023366" y="2350897"/>
                    <a:pt x="1004316" y="2348230"/>
                    <a:pt x="985393" y="2345055"/>
                  </a:cubicBezTo>
                  <a:cubicBezTo>
                    <a:pt x="966470" y="2341880"/>
                    <a:pt x="947674" y="2338197"/>
                    <a:pt x="928878" y="2334133"/>
                  </a:cubicBezTo>
                  <a:cubicBezTo>
                    <a:pt x="910082" y="2330069"/>
                    <a:pt x="891540" y="2325497"/>
                    <a:pt x="872998" y="2320417"/>
                  </a:cubicBezTo>
                  <a:cubicBezTo>
                    <a:pt x="854456" y="2315337"/>
                    <a:pt x="836041" y="2310003"/>
                    <a:pt x="817753" y="2304034"/>
                  </a:cubicBezTo>
                  <a:cubicBezTo>
                    <a:pt x="799465" y="2298065"/>
                    <a:pt x="781431" y="2291842"/>
                    <a:pt x="763397" y="2284984"/>
                  </a:cubicBezTo>
                  <a:cubicBezTo>
                    <a:pt x="745363" y="2278126"/>
                    <a:pt x="727710" y="2271014"/>
                    <a:pt x="710057" y="2263267"/>
                  </a:cubicBezTo>
                  <a:cubicBezTo>
                    <a:pt x="692404" y="2255520"/>
                    <a:pt x="675005" y="2247519"/>
                    <a:pt x="657860" y="2239010"/>
                  </a:cubicBezTo>
                  <a:cubicBezTo>
                    <a:pt x="640715" y="2230501"/>
                    <a:pt x="623697" y="2221611"/>
                    <a:pt x="606933" y="2212213"/>
                  </a:cubicBezTo>
                  <a:cubicBezTo>
                    <a:pt x="590169" y="2202815"/>
                    <a:pt x="573659" y="2193163"/>
                    <a:pt x="557276" y="2183003"/>
                  </a:cubicBezTo>
                  <a:cubicBezTo>
                    <a:pt x="540893" y="2172843"/>
                    <a:pt x="524891" y="2162302"/>
                    <a:pt x="509143" y="2151380"/>
                  </a:cubicBezTo>
                  <a:cubicBezTo>
                    <a:pt x="493395" y="2140458"/>
                    <a:pt x="477901" y="2129155"/>
                    <a:pt x="462661" y="2117471"/>
                  </a:cubicBezTo>
                  <a:cubicBezTo>
                    <a:pt x="447421" y="2105787"/>
                    <a:pt x="432435" y="2093722"/>
                    <a:pt x="417830" y="2081276"/>
                  </a:cubicBezTo>
                  <a:cubicBezTo>
                    <a:pt x="403225" y="2068830"/>
                    <a:pt x="388874" y="2056130"/>
                    <a:pt x="374777" y="2043049"/>
                  </a:cubicBezTo>
                  <a:cubicBezTo>
                    <a:pt x="360680" y="2029968"/>
                    <a:pt x="347091" y="2016506"/>
                    <a:pt x="333629" y="2002663"/>
                  </a:cubicBezTo>
                  <a:cubicBezTo>
                    <a:pt x="320167" y="1988820"/>
                    <a:pt x="307213" y="1974850"/>
                    <a:pt x="294513" y="1960372"/>
                  </a:cubicBezTo>
                  <a:cubicBezTo>
                    <a:pt x="281813" y="1945894"/>
                    <a:pt x="269494" y="1931289"/>
                    <a:pt x="257556" y="1916176"/>
                  </a:cubicBezTo>
                  <a:cubicBezTo>
                    <a:pt x="245618" y="1901063"/>
                    <a:pt x="234061" y="1885823"/>
                    <a:pt x="222758" y="1870329"/>
                  </a:cubicBezTo>
                  <a:cubicBezTo>
                    <a:pt x="211455" y="1854835"/>
                    <a:pt x="200660" y="1838960"/>
                    <a:pt x="190246" y="1822831"/>
                  </a:cubicBezTo>
                  <a:cubicBezTo>
                    <a:pt x="179832" y="1806702"/>
                    <a:pt x="169799" y="1790319"/>
                    <a:pt x="160147" y="1773809"/>
                  </a:cubicBezTo>
                  <a:cubicBezTo>
                    <a:pt x="150495" y="1757299"/>
                    <a:pt x="141224" y="1740408"/>
                    <a:pt x="132461" y="1723390"/>
                  </a:cubicBezTo>
                  <a:cubicBezTo>
                    <a:pt x="123698" y="1706372"/>
                    <a:pt x="115189" y="1689100"/>
                    <a:pt x="107188" y="1671574"/>
                  </a:cubicBezTo>
                  <a:cubicBezTo>
                    <a:pt x="99187" y="1654048"/>
                    <a:pt x="91694" y="1636522"/>
                    <a:pt x="84582" y="1618615"/>
                  </a:cubicBezTo>
                  <a:cubicBezTo>
                    <a:pt x="77470" y="1600708"/>
                    <a:pt x="70739" y="1582801"/>
                    <a:pt x="64516" y="1564640"/>
                  </a:cubicBezTo>
                  <a:cubicBezTo>
                    <a:pt x="58293" y="1546479"/>
                    <a:pt x="52451" y="1528191"/>
                    <a:pt x="47117" y="1509776"/>
                  </a:cubicBezTo>
                  <a:cubicBezTo>
                    <a:pt x="41783" y="1491361"/>
                    <a:pt x="36830" y="1472819"/>
                    <a:pt x="32385" y="1454150"/>
                  </a:cubicBezTo>
                  <a:cubicBezTo>
                    <a:pt x="27940" y="1435481"/>
                    <a:pt x="24003" y="1416685"/>
                    <a:pt x="20447" y="1397889"/>
                  </a:cubicBezTo>
                  <a:cubicBezTo>
                    <a:pt x="16891" y="1379093"/>
                    <a:pt x="13843" y="1360043"/>
                    <a:pt x="11176" y="1340993"/>
                  </a:cubicBezTo>
                  <a:cubicBezTo>
                    <a:pt x="8509" y="1321943"/>
                    <a:pt x="6477" y="1302893"/>
                    <a:pt x="4699" y="1283716"/>
                  </a:cubicBezTo>
                  <a:cubicBezTo>
                    <a:pt x="2921" y="1264539"/>
                    <a:pt x="1778" y="1245489"/>
                    <a:pt x="1016" y="1226312"/>
                  </a:cubicBezTo>
                  <a:cubicBezTo>
                    <a:pt x="254" y="1207135"/>
                    <a:pt x="0" y="1187958"/>
                    <a:pt x="127" y="1168781"/>
                  </a:cubicBezTo>
                  <a:cubicBezTo>
                    <a:pt x="254" y="1149604"/>
                    <a:pt x="1016" y="1130427"/>
                    <a:pt x="2159" y="1111250"/>
                  </a:cubicBezTo>
                  <a:cubicBezTo>
                    <a:pt x="3302" y="1092073"/>
                    <a:pt x="4826" y="1073023"/>
                    <a:pt x="6985" y="1053846"/>
                  </a:cubicBezTo>
                  <a:cubicBezTo>
                    <a:pt x="9144" y="1034669"/>
                    <a:pt x="11557" y="1015746"/>
                    <a:pt x="14605" y="996823"/>
                  </a:cubicBezTo>
                  <a:cubicBezTo>
                    <a:pt x="17653" y="977900"/>
                    <a:pt x="21082" y="958977"/>
                    <a:pt x="24892" y="940181"/>
                  </a:cubicBezTo>
                  <a:cubicBezTo>
                    <a:pt x="28702" y="921385"/>
                    <a:pt x="33147" y="902716"/>
                    <a:pt x="37973" y="884174"/>
                  </a:cubicBezTo>
                  <a:cubicBezTo>
                    <a:pt x="42799" y="865632"/>
                    <a:pt x="48006" y="847090"/>
                    <a:pt x="53848" y="828802"/>
                  </a:cubicBezTo>
                  <a:cubicBezTo>
                    <a:pt x="59690" y="810514"/>
                    <a:pt x="65786" y="792353"/>
                    <a:pt x="72390" y="774319"/>
                  </a:cubicBezTo>
                  <a:cubicBezTo>
                    <a:pt x="78994" y="756285"/>
                    <a:pt x="85979" y="738505"/>
                    <a:pt x="93472" y="720725"/>
                  </a:cubicBezTo>
                  <a:cubicBezTo>
                    <a:pt x="100965" y="702945"/>
                    <a:pt x="108839" y="685546"/>
                    <a:pt x="117221" y="668274"/>
                  </a:cubicBezTo>
                  <a:cubicBezTo>
                    <a:pt x="125603" y="651002"/>
                    <a:pt x="134239" y="633857"/>
                    <a:pt x="143510" y="616966"/>
                  </a:cubicBezTo>
                  <a:cubicBezTo>
                    <a:pt x="152781" y="600075"/>
                    <a:pt x="162306" y="583438"/>
                    <a:pt x="172212" y="567055"/>
                  </a:cubicBezTo>
                  <a:cubicBezTo>
                    <a:pt x="182118" y="550672"/>
                    <a:pt x="192532" y="534543"/>
                    <a:pt x="203327" y="518668"/>
                  </a:cubicBezTo>
                  <a:cubicBezTo>
                    <a:pt x="214122" y="502793"/>
                    <a:pt x="225298" y="487172"/>
                    <a:pt x="236728" y="471805"/>
                  </a:cubicBezTo>
                  <a:cubicBezTo>
                    <a:pt x="248158" y="456438"/>
                    <a:pt x="260096" y="441452"/>
                    <a:pt x="272415" y="426593"/>
                  </a:cubicBezTo>
                  <a:cubicBezTo>
                    <a:pt x="284734" y="411734"/>
                    <a:pt x="297307" y="397383"/>
                    <a:pt x="310261" y="383159"/>
                  </a:cubicBezTo>
                  <a:cubicBezTo>
                    <a:pt x="323215" y="368935"/>
                    <a:pt x="336550" y="355219"/>
                    <a:pt x="350139" y="341630"/>
                  </a:cubicBezTo>
                  <a:cubicBezTo>
                    <a:pt x="363728" y="328041"/>
                    <a:pt x="377698" y="314960"/>
                    <a:pt x="392049" y="302133"/>
                  </a:cubicBezTo>
                  <a:cubicBezTo>
                    <a:pt x="406400" y="289306"/>
                    <a:pt x="420878" y="276860"/>
                    <a:pt x="435864" y="264668"/>
                  </a:cubicBezTo>
                  <a:cubicBezTo>
                    <a:pt x="450850" y="252476"/>
                    <a:pt x="465963" y="240792"/>
                    <a:pt x="481457" y="229489"/>
                  </a:cubicBezTo>
                  <a:cubicBezTo>
                    <a:pt x="496951" y="218186"/>
                    <a:pt x="512699" y="207137"/>
                    <a:pt x="528701" y="196469"/>
                  </a:cubicBezTo>
                  <a:cubicBezTo>
                    <a:pt x="544703" y="185801"/>
                    <a:pt x="560959" y="175641"/>
                    <a:pt x="577469" y="165862"/>
                  </a:cubicBezTo>
                  <a:cubicBezTo>
                    <a:pt x="593979" y="156083"/>
                    <a:pt x="610743" y="146685"/>
                    <a:pt x="627634" y="137668"/>
                  </a:cubicBezTo>
                  <a:cubicBezTo>
                    <a:pt x="644525" y="128651"/>
                    <a:pt x="661797" y="120142"/>
                    <a:pt x="679196" y="111887"/>
                  </a:cubicBezTo>
                  <a:cubicBezTo>
                    <a:pt x="696595" y="103632"/>
                    <a:pt x="714121" y="96012"/>
                    <a:pt x="731901" y="88646"/>
                  </a:cubicBezTo>
                  <a:cubicBezTo>
                    <a:pt x="749681" y="81280"/>
                    <a:pt x="767588" y="74422"/>
                    <a:pt x="785622" y="68072"/>
                  </a:cubicBezTo>
                  <a:cubicBezTo>
                    <a:pt x="803656" y="61722"/>
                    <a:pt x="821944" y="55626"/>
                    <a:pt x="840359" y="50165"/>
                  </a:cubicBezTo>
                  <a:cubicBezTo>
                    <a:pt x="858774" y="44704"/>
                    <a:pt x="877189" y="39497"/>
                    <a:pt x="895858" y="34925"/>
                  </a:cubicBezTo>
                  <a:cubicBezTo>
                    <a:pt x="914527" y="30353"/>
                    <a:pt x="933196" y="26162"/>
                    <a:pt x="951992" y="22352"/>
                  </a:cubicBezTo>
                  <a:cubicBezTo>
                    <a:pt x="970788" y="18542"/>
                    <a:pt x="989711" y="15367"/>
                    <a:pt x="1008761" y="12573"/>
                  </a:cubicBezTo>
                  <a:cubicBezTo>
                    <a:pt x="1027811" y="9779"/>
                    <a:pt x="1046861" y="7493"/>
                    <a:pt x="1065911" y="5588"/>
                  </a:cubicBezTo>
                  <a:cubicBezTo>
                    <a:pt x="1084961" y="3683"/>
                    <a:pt x="1104138" y="2286"/>
                    <a:pt x="1123315" y="1397"/>
                  </a:cubicBezTo>
                  <a:cubicBezTo>
                    <a:pt x="1142492" y="508"/>
                    <a:pt x="1161669" y="0"/>
                    <a:pt x="1180846" y="0"/>
                  </a:cubicBezTo>
                  <a:lnTo>
                    <a:pt x="1180973" y="1180592"/>
                  </a:lnTo>
                  <a:lnTo>
                    <a:pt x="1157224" y="2361057"/>
                  </a:lnTo>
                  <a:close/>
                </a:path>
              </a:pathLst>
            </a:custGeom>
            <a:solidFill>
              <a:srgbClr val="488687"/>
            </a:solidFill>
          </p:spPr>
        </p:sp>
        <p:sp>
          <p:nvSpPr>
            <p:cNvPr name="Freeform 11" id="11"/>
            <p:cNvSpPr/>
            <p:nvPr/>
          </p:nvSpPr>
          <p:spPr>
            <a:xfrm flipH="false" flipV="false" rot="0">
              <a:off x="63500" y="63500"/>
              <a:ext cx="2869946" cy="2685796"/>
            </a:xfrm>
            <a:custGeom>
              <a:avLst/>
              <a:gdLst/>
              <a:ahLst/>
              <a:cxnLst/>
              <a:rect r="r" b="b" t="t" l="l"/>
              <a:pathLst>
                <a:path h="2685796" w="2869946">
                  <a:moveTo>
                    <a:pt x="0" y="2685796"/>
                  </a:moveTo>
                  <a:lnTo>
                    <a:pt x="2869946" y="2685796"/>
                  </a:lnTo>
                  <a:lnTo>
                    <a:pt x="2869946" y="0"/>
                  </a:lnTo>
                  <a:lnTo>
                    <a:pt x="0" y="0"/>
                  </a:lnTo>
                  <a:close/>
                </a:path>
              </a:pathLst>
            </a:custGeom>
            <a:solidFill>
              <a:srgbClr val="000000">
                <a:alpha val="0"/>
              </a:srgbClr>
            </a:solidFill>
          </p:spPr>
        </p:sp>
      </p:grpSp>
      <p:grpSp>
        <p:nvGrpSpPr>
          <p:cNvPr name="Group 12" id="12"/>
          <p:cNvGrpSpPr>
            <a:grpSpLocks noChangeAspect="true"/>
          </p:cNvGrpSpPr>
          <p:nvPr/>
        </p:nvGrpSpPr>
        <p:grpSpPr>
          <a:xfrm rot="0">
            <a:off x="3942093" y="7302198"/>
            <a:ext cx="61236" cy="61236"/>
            <a:chOff x="0" y="0"/>
            <a:chExt cx="61239" cy="61239"/>
          </a:xfrm>
        </p:grpSpPr>
        <p:sp>
          <p:nvSpPr>
            <p:cNvPr name="Freeform 13" id="13"/>
            <p:cNvSpPr/>
            <p:nvPr/>
          </p:nvSpPr>
          <p:spPr>
            <a:xfrm flipH="false" flipV="false" rot="0">
              <a:off x="0" y="127"/>
              <a:ext cx="61214" cy="60960"/>
            </a:xfrm>
            <a:custGeom>
              <a:avLst/>
              <a:gdLst/>
              <a:ahLst/>
              <a:cxnLst/>
              <a:rect r="r" b="b" t="t" l="l"/>
              <a:pathLst>
                <a:path h="60960" w="61214">
                  <a:moveTo>
                    <a:pt x="61214" y="30480"/>
                  </a:moveTo>
                  <a:cubicBezTo>
                    <a:pt x="61214" y="34544"/>
                    <a:pt x="60452" y="38481"/>
                    <a:pt x="58928" y="42164"/>
                  </a:cubicBezTo>
                  <a:cubicBezTo>
                    <a:pt x="57404" y="45847"/>
                    <a:pt x="55118" y="49276"/>
                    <a:pt x="52324" y="52070"/>
                  </a:cubicBezTo>
                  <a:cubicBezTo>
                    <a:pt x="49530" y="54864"/>
                    <a:pt x="46101" y="57150"/>
                    <a:pt x="42418" y="58674"/>
                  </a:cubicBezTo>
                  <a:cubicBezTo>
                    <a:pt x="38735" y="60198"/>
                    <a:pt x="34798" y="60960"/>
                    <a:pt x="30734" y="60960"/>
                  </a:cubicBezTo>
                  <a:cubicBezTo>
                    <a:pt x="26670" y="60960"/>
                    <a:pt x="22733" y="60198"/>
                    <a:pt x="19050" y="58674"/>
                  </a:cubicBezTo>
                  <a:cubicBezTo>
                    <a:pt x="15367" y="57150"/>
                    <a:pt x="11938" y="54864"/>
                    <a:pt x="9144" y="52070"/>
                  </a:cubicBezTo>
                  <a:cubicBezTo>
                    <a:pt x="6350" y="49276"/>
                    <a:pt x="4064" y="45847"/>
                    <a:pt x="2540" y="42164"/>
                  </a:cubicBezTo>
                  <a:cubicBezTo>
                    <a:pt x="1016" y="38481"/>
                    <a:pt x="0" y="34544"/>
                    <a:pt x="0" y="30480"/>
                  </a:cubicBezTo>
                  <a:cubicBezTo>
                    <a:pt x="0" y="26416"/>
                    <a:pt x="762" y="22479"/>
                    <a:pt x="2286" y="18796"/>
                  </a:cubicBezTo>
                  <a:cubicBezTo>
                    <a:pt x="3810" y="15113"/>
                    <a:pt x="6096" y="11684"/>
                    <a:pt x="9017" y="8890"/>
                  </a:cubicBezTo>
                  <a:cubicBezTo>
                    <a:pt x="11938" y="6096"/>
                    <a:pt x="15240" y="3810"/>
                    <a:pt x="18923" y="2286"/>
                  </a:cubicBezTo>
                  <a:cubicBezTo>
                    <a:pt x="22606" y="762"/>
                    <a:pt x="26543" y="0"/>
                    <a:pt x="30607" y="0"/>
                  </a:cubicBezTo>
                  <a:cubicBezTo>
                    <a:pt x="34671" y="0"/>
                    <a:pt x="38608" y="762"/>
                    <a:pt x="42291" y="2286"/>
                  </a:cubicBezTo>
                  <a:cubicBezTo>
                    <a:pt x="45974" y="3810"/>
                    <a:pt x="49403" y="6096"/>
                    <a:pt x="52197" y="8890"/>
                  </a:cubicBezTo>
                  <a:cubicBezTo>
                    <a:pt x="54991" y="11684"/>
                    <a:pt x="57277" y="15113"/>
                    <a:pt x="58801" y="18796"/>
                  </a:cubicBezTo>
                  <a:cubicBezTo>
                    <a:pt x="60325" y="22479"/>
                    <a:pt x="61087" y="26416"/>
                    <a:pt x="61087" y="30480"/>
                  </a:cubicBezTo>
                  <a:close/>
                </a:path>
              </a:pathLst>
            </a:custGeom>
            <a:solidFill>
              <a:srgbClr val="FFFFFF"/>
            </a:solidFill>
          </p:spPr>
        </p:sp>
      </p:grpSp>
      <p:grpSp>
        <p:nvGrpSpPr>
          <p:cNvPr name="Group 14" id="14"/>
          <p:cNvGrpSpPr>
            <a:grpSpLocks noChangeAspect="true"/>
          </p:cNvGrpSpPr>
          <p:nvPr/>
        </p:nvGrpSpPr>
        <p:grpSpPr>
          <a:xfrm rot="0">
            <a:off x="3942093" y="7767618"/>
            <a:ext cx="61236" cy="61236"/>
            <a:chOff x="0" y="0"/>
            <a:chExt cx="61239" cy="61239"/>
          </a:xfrm>
        </p:grpSpPr>
        <p:sp>
          <p:nvSpPr>
            <p:cNvPr name="Freeform 15" id="15"/>
            <p:cNvSpPr/>
            <p:nvPr/>
          </p:nvSpPr>
          <p:spPr>
            <a:xfrm flipH="false" flipV="false" rot="0">
              <a:off x="0" y="127"/>
              <a:ext cx="61214" cy="60960"/>
            </a:xfrm>
            <a:custGeom>
              <a:avLst/>
              <a:gdLst/>
              <a:ahLst/>
              <a:cxnLst/>
              <a:rect r="r" b="b" t="t" l="l"/>
              <a:pathLst>
                <a:path h="60960" w="61214">
                  <a:moveTo>
                    <a:pt x="61214" y="30480"/>
                  </a:moveTo>
                  <a:cubicBezTo>
                    <a:pt x="61214" y="34544"/>
                    <a:pt x="60452" y="38481"/>
                    <a:pt x="58928" y="42164"/>
                  </a:cubicBezTo>
                  <a:cubicBezTo>
                    <a:pt x="57404" y="45847"/>
                    <a:pt x="55118" y="49276"/>
                    <a:pt x="52324" y="52070"/>
                  </a:cubicBezTo>
                  <a:cubicBezTo>
                    <a:pt x="49530" y="54864"/>
                    <a:pt x="46101" y="57150"/>
                    <a:pt x="42418" y="58674"/>
                  </a:cubicBezTo>
                  <a:cubicBezTo>
                    <a:pt x="38735" y="60198"/>
                    <a:pt x="34798" y="60960"/>
                    <a:pt x="30734" y="60960"/>
                  </a:cubicBezTo>
                  <a:cubicBezTo>
                    <a:pt x="26670" y="60960"/>
                    <a:pt x="22733" y="60198"/>
                    <a:pt x="19050" y="58674"/>
                  </a:cubicBezTo>
                  <a:cubicBezTo>
                    <a:pt x="15367" y="57150"/>
                    <a:pt x="11938" y="54864"/>
                    <a:pt x="9144" y="52070"/>
                  </a:cubicBezTo>
                  <a:cubicBezTo>
                    <a:pt x="6350" y="49276"/>
                    <a:pt x="4064" y="45847"/>
                    <a:pt x="2540" y="42164"/>
                  </a:cubicBezTo>
                  <a:cubicBezTo>
                    <a:pt x="1016" y="38481"/>
                    <a:pt x="0" y="34544"/>
                    <a:pt x="0" y="30480"/>
                  </a:cubicBezTo>
                  <a:cubicBezTo>
                    <a:pt x="0" y="26416"/>
                    <a:pt x="762" y="22479"/>
                    <a:pt x="2286" y="18796"/>
                  </a:cubicBezTo>
                  <a:cubicBezTo>
                    <a:pt x="3810" y="15113"/>
                    <a:pt x="6096" y="11684"/>
                    <a:pt x="9017" y="8890"/>
                  </a:cubicBezTo>
                  <a:cubicBezTo>
                    <a:pt x="11938" y="6096"/>
                    <a:pt x="15240" y="3810"/>
                    <a:pt x="18923" y="2286"/>
                  </a:cubicBezTo>
                  <a:cubicBezTo>
                    <a:pt x="22606" y="762"/>
                    <a:pt x="26543" y="0"/>
                    <a:pt x="30607" y="0"/>
                  </a:cubicBezTo>
                  <a:cubicBezTo>
                    <a:pt x="34671" y="0"/>
                    <a:pt x="38608" y="762"/>
                    <a:pt x="42291" y="2286"/>
                  </a:cubicBezTo>
                  <a:cubicBezTo>
                    <a:pt x="45974" y="3810"/>
                    <a:pt x="49403" y="6096"/>
                    <a:pt x="52197" y="8890"/>
                  </a:cubicBezTo>
                  <a:cubicBezTo>
                    <a:pt x="54991" y="11684"/>
                    <a:pt x="57277" y="15113"/>
                    <a:pt x="58801" y="18796"/>
                  </a:cubicBezTo>
                  <a:cubicBezTo>
                    <a:pt x="60325" y="22479"/>
                    <a:pt x="61087" y="26416"/>
                    <a:pt x="61087" y="30480"/>
                  </a:cubicBezTo>
                  <a:close/>
                </a:path>
              </a:pathLst>
            </a:custGeom>
            <a:solidFill>
              <a:srgbClr val="FFFFFF"/>
            </a:solidFill>
          </p:spPr>
        </p:sp>
      </p:grpSp>
      <p:grpSp>
        <p:nvGrpSpPr>
          <p:cNvPr name="Group 16" id="16"/>
          <p:cNvGrpSpPr>
            <a:grpSpLocks noChangeAspect="true"/>
          </p:cNvGrpSpPr>
          <p:nvPr/>
        </p:nvGrpSpPr>
        <p:grpSpPr>
          <a:xfrm rot="0">
            <a:off x="3942093" y="8233039"/>
            <a:ext cx="61236" cy="61236"/>
            <a:chOff x="0" y="0"/>
            <a:chExt cx="61239" cy="61239"/>
          </a:xfrm>
        </p:grpSpPr>
        <p:sp>
          <p:nvSpPr>
            <p:cNvPr name="Freeform 17" id="17"/>
            <p:cNvSpPr/>
            <p:nvPr/>
          </p:nvSpPr>
          <p:spPr>
            <a:xfrm flipH="false" flipV="false" rot="0">
              <a:off x="0" y="127"/>
              <a:ext cx="61214" cy="60960"/>
            </a:xfrm>
            <a:custGeom>
              <a:avLst/>
              <a:gdLst/>
              <a:ahLst/>
              <a:cxnLst/>
              <a:rect r="r" b="b" t="t" l="l"/>
              <a:pathLst>
                <a:path h="60960" w="61214">
                  <a:moveTo>
                    <a:pt x="61214" y="30480"/>
                  </a:moveTo>
                  <a:cubicBezTo>
                    <a:pt x="61214" y="34544"/>
                    <a:pt x="60452" y="38481"/>
                    <a:pt x="58928" y="42164"/>
                  </a:cubicBezTo>
                  <a:cubicBezTo>
                    <a:pt x="57404" y="45847"/>
                    <a:pt x="55118" y="49276"/>
                    <a:pt x="52324" y="52070"/>
                  </a:cubicBezTo>
                  <a:cubicBezTo>
                    <a:pt x="49530" y="54864"/>
                    <a:pt x="46101" y="57150"/>
                    <a:pt x="42418" y="58674"/>
                  </a:cubicBezTo>
                  <a:cubicBezTo>
                    <a:pt x="38735" y="60198"/>
                    <a:pt x="34798" y="60960"/>
                    <a:pt x="30734" y="60960"/>
                  </a:cubicBezTo>
                  <a:cubicBezTo>
                    <a:pt x="26670" y="60960"/>
                    <a:pt x="22733" y="60198"/>
                    <a:pt x="19050" y="58674"/>
                  </a:cubicBezTo>
                  <a:cubicBezTo>
                    <a:pt x="15367" y="57150"/>
                    <a:pt x="11938" y="54864"/>
                    <a:pt x="9144" y="52070"/>
                  </a:cubicBezTo>
                  <a:cubicBezTo>
                    <a:pt x="6350" y="49276"/>
                    <a:pt x="4064" y="45847"/>
                    <a:pt x="2540" y="42164"/>
                  </a:cubicBezTo>
                  <a:cubicBezTo>
                    <a:pt x="1016" y="38481"/>
                    <a:pt x="0" y="34544"/>
                    <a:pt x="0" y="30480"/>
                  </a:cubicBezTo>
                  <a:cubicBezTo>
                    <a:pt x="0" y="26416"/>
                    <a:pt x="762" y="22479"/>
                    <a:pt x="2286" y="18796"/>
                  </a:cubicBezTo>
                  <a:cubicBezTo>
                    <a:pt x="3810" y="15113"/>
                    <a:pt x="6096" y="11684"/>
                    <a:pt x="9017" y="8890"/>
                  </a:cubicBezTo>
                  <a:cubicBezTo>
                    <a:pt x="11938" y="6096"/>
                    <a:pt x="15240" y="3810"/>
                    <a:pt x="18923" y="2286"/>
                  </a:cubicBezTo>
                  <a:cubicBezTo>
                    <a:pt x="22606" y="762"/>
                    <a:pt x="26543" y="0"/>
                    <a:pt x="30607" y="0"/>
                  </a:cubicBezTo>
                  <a:cubicBezTo>
                    <a:pt x="34671" y="0"/>
                    <a:pt x="38608" y="762"/>
                    <a:pt x="42291" y="2286"/>
                  </a:cubicBezTo>
                  <a:cubicBezTo>
                    <a:pt x="45974" y="3810"/>
                    <a:pt x="49403" y="6096"/>
                    <a:pt x="52197" y="8890"/>
                  </a:cubicBezTo>
                  <a:cubicBezTo>
                    <a:pt x="54991" y="11684"/>
                    <a:pt x="57277" y="15113"/>
                    <a:pt x="58801" y="18796"/>
                  </a:cubicBezTo>
                  <a:cubicBezTo>
                    <a:pt x="60325" y="22479"/>
                    <a:pt x="61087" y="26416"/>
                    <a:pt x="61087" y="30480"/>
                  </a:cubicBezTo>
                  <a:close/>
                </a:path>
              </a:pathLst>
            </a:custGeom>
            <a:solidFill>
              <a:srgbClr val="FFFFFF"/>
            </a:solidFill>
          </p:spPr>
        </p:sp>
      </p:grpSp>
      <p:sp>
        <p:nvSpPr>
          <p:cNvPr name="Freeform 18" id="18"/>
          <p:cNvSpPr/>
          <p:nvPr/>
        </p:nvSpPr>
        <p:spPr>
          <a:xfrm flipH="false" flipV="false" rot="0">
            <a:off x="692448" y="-2524487"/>
            <a:ext cx="9401375" cy="8083858"/>
          </a:xfrm>
          <a:custGeom>
            <a:avLst/>
            <a:gdLst/>
            <a:ahLst/>
            <a:cxnLst/>
            <a:rect r="r" b="b" t="t" l="l"/>
            <a:pathLst>
              <a:path h="8083858" w="9401375">
                <a:moveTo>
                  <a:pt x="0" y="0"/>
                </a:moveTo>
                <a:lnTo>
                  <a:pt x="9401375" y="0"/>
                </a:lnTo>
                <a:lnTo>
                  <a:pt x="9401375" y="8083858"/>
                </a:lnTo>
                <a:lnTo>
                  <a:pt x="0" y="80838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9" id="19"/>
          <p:cNvSpPr txBox="true"/>
          <p:nvPr/>
        </p:nvSpPr>
        <p:spPr>
          <a:xfrm rot="0">
            <a:off x="403365" y="1209418"/>
            <a:ext cx="6061224" cy="2986059"/>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a:p>
            <a:pPr algn="l">
              <a:lnSpc>
                <a:spcPts val="1620"/>
              </a:lnSpc>
            </a:pPr>
            <a:r>
              <a:rPr lang="en-US" b="true" sz="1499" spc="134">
                <a:solidFill>
                  <a:srgbClr val="FFFFFF"/>
                </a:solidFill>
                <a:latin typeface="HK Grotesk Semi-Bold"/>
                <a:ea typeface="HK Grotesk Semi-Bold"/>
                <a:cs typeface="HK Grotesk Semi-Bold"/>
                <a:sym typeface="HK Grotesk Semi-Bold"/>
              </a:rPr>
              <a:t>EXTRACURRICULAR ACTIVITIES AND ACAD PERFORMANCE</a:t>
            </a:r>
            <a:r>
              <a:rPr lang="en-US" b="true" sz="1499" spc="134">
                <a:solidFill>
                  <a:srgbClr val="FFFFFF"/>
                </a:solidFill>
                <a:latin typeface="HK Grotesk Bold"/>
                <a:ea typeface="HK Grotesk Bold"/>
                <a:cs typeface="HK Grotesk Bold"/>
                <a:sym typeface="HK Grotesk Bold"/>
              </a:rPr>
              <a:t> </a:t>
            </a:r>
          </a:p>
          <a:p>
            <a:pPr algn="l">
              <a:lnSpc>
                <a:spcPts val="1872"/>
              </a:lnSpc>
            </a:pPr>
            <a:r>
              <a:rPr lang="en-US" b="true" sz="1557" spc="140">
                <a:solidFill>
                  <a:srgbClr val="FFFFFF"/>
                </a:solidFill>
                <a:latin typeface="HK Grotesk Medium"/>
                <a:ea typeface="HK Grotesk Medium"/>
                <a:cs typeface="HK Grotesk Medium"/>
                <a:sym typeface="HK Grotesk Medium"/>
              </a:rPr>
              <a:t>The data shows a near-even split between students who participate in extracurricular activities and those who don't:</a:t>
            </a:r>
          </a:p>
        </p:txBody>
      </p:sp>
      <p:sp>
        <p:nvSpPr>
          <p:cNvPr name="TextBox 20" id="20"/>
          <p:cNvSpPr txBox="true"/>
          <p:nvPr/>
        </p:nvSpPr>
        <p:spPr>
          <a:xfrm rot="0">
            <a:off x="739807" y="4190838"/>
            <a:ext cx="4746631" cy="1400927"/>
          </a:xfrm>
          <a:prstGeom prst="rect">
            <a:avLst/>
          </a:prstGeom>
        </p:spPr>
        <p:txBody>
          <a:bodyPr anchor="t" rtlCol="false" tIns="0" lIns="0" bIns="0" rIns="0">
            <a:spAutoFit/>
          </a:bodyPr>
          <a:lstStyle/>
          <a:p>
            <a:pPr algn="l">
              <a:lnSpc>
                <a:spcPts val="1872"/>
              </a:lnSpc>
            </a:pPr>
            <a:r>
              <a:rPr lang="en-US" b="true" sz="1557" spc="140">
                <a:solidFill>
                  <a:srgbClr val="FFFFFF"/>
                </a:solidFill>
                <a:latin typeface="HK Grotesk Medium"/>
                <a:ea typeface="HK Grotesk Medium"/>
                <a:cs typeface="HK Grotesk Medium"/>
                <a:sym typeface="HK Grotesk Medium"/>
              </a:rPr>
              <a:t>The total score difference is negligible, suggesting minimal academic impact.</a:t>
            </a:r>
          </a:p>
          <a:p>
            <a:pPr algn="l">
              <a:lnSpc>
                <a:spcPts val="1437"/>
              </a:lnSpc>
            </a:pPr>
            <a:r>
              <a:rPr lang="en-US" b="true" sz="1557">
                <a:solidFill>
                  <a:srgbClr val="FFFFFF"/>
                </a:solidFill>
                <a:latin typeface="HK Grotesk Medium"/>
                <a:ea typeface="HK Grotesk Medium"/>
                <a:cs typeface="HK Grotesk Medium"/>
                <a:sym typeface="HK Grotesk Medium"/>
              </a:rPr>
              <a:t>Stress levels also remain almost identical</a:t>
            </a:r>
          </a:p>
          <a:p>
            <a:pPr algn="l">
              <a:lnSpc>
                <a:spcPts val="2227"/>
              </a:lnSpc>
            </a:pPr>
            <a:r>
              <a:rPr lang="en-US" b="true" sz="1557" spc="140">
                <a:solidFill>
                  <a:srgbClr val="FFFFFF"/>
                </a:solidFill>
                <a:latin typeface="HK Grotesk Medium"/>
                <a:ea typeface="HK Grotesk Medium"/>
                <a:cs typeface="HK Grotesk Medium"/>
                <a:sym typeface="HK Grotesk Medium"/>
              </a:rPr>
              <a:t>between the two groups, indicating</a:t>
            </a:r>
          </a:p>
          <a:p>
            <a:pPr algn="l">
              <a:lnSpc>
                <a:spcPts val="1437"/>
              </a:lnSpc>
            </a:pPr>
            <a:r>
              <a:rPr lang="en-US" b="true" sz="1557" spc="140">
                <a:solidFill>
                  <a:srgbClr val="FFFFFF"/>
                </a:solidFill>
                <a:latin typeface="HK Grotesk Medium"/>
                <a:ea typeface="HK Grotesk Medium"/>
                <a:cs typeface="HK Grotesk Medium"/>
                <a:sym typeface="HK Grotesk Medium"/>
              </a:rPr>
              <a:t>extracurricular activities have little effect on</a:t>
            </a:r>
          </a:p>
          <a:p>
            <a:pPr algn="l">
              <a:lnSpc>
                <a:spcPts val="2227"/>
              </a:lnSpc>
            </a:pPr>
            <a:r>
              <a:rPr lang="en-US" b="true" sz="1557" spc="140">
                <a:solidFill>
                  <a:srgbClr val="FFFFFF"/>
                </a:solidFill>
                <a:latin typeface="HK Grotesk Medium"/>
                <a:ea typeface="HK Grotesk Medium"/>
                <a:cs typeface="HK Grotesk Medium"/>
                <a:sym typeface="HK Grotesk Medium"/>
              </a:rPr>
              <a:t>reducing stress.</a:t>
            </a:r>
          </a:p>
        </p:txBody>
      </p:sp>
      <p:sp>
        <p:nvSpPr>
          <p:cNvPr name="TextBox 21" id="21"/>
          <p:cNvSpPr txBox="true"/>
          <p:nvPr/>
        </p:nvSpPr>
        <p:spPr>
          <a:xfrm rot="0">
            <a:off x="5198850" y="4523461"/>
            <a:ext cx="278254" cy="234315"/>
          </a:xfrm>
          <a:prstGeom prst="rect">
            <a:avLst/>
          </a:prstGeom>
        </p:spPr>
        <p:txBody>
          <a:bodyPr anchor="t" rtlCol="false" tIns="0" lIns="0" bIns="0" rIns="0">
            <a:spAutoFit/>
          </a:bodyPr>
          <a:lstStyle/>
          <a:p>
            <a:pPr algn="just">
              <a:lnSpc>
                <a:spcPts val="906"/>
              </a:lnSpc>
            </a:pPr>
            <a:r>
              <a:rPr lang="en-US" b="true" sz="754">
                <a:solidFill>
                  <a:srgbClr val="FFFFFF"/>
                </a:solidFill>
                <a:latin typeface="HK Grotesk Medium"/>
                <a:ea typeface="HK Grotesk Medium"/>
                <a:cs typeface="HK Grotesk Medium"/>
                <a:sym typeface="HK Grotesk Medium"/>
              </a:rPr>
              <a:t>Item 2</a:t>
            </a:r>
          </a:p>
          <a:p>
            <a:pPr algn="just">
              <a:lnSpc>
                <a:spcPts val="696"/>
              </a:lnSpc>
            </a:pPr>
            <a:r>
              <a:rPr lang="en-US" b="true" sz="754">
                <a:solidFill>
                  <a:srgbClr val="FFFFFF"/>
                </a:solidFill>
                <a:latin typeface="HK Grotesk Medium"/>
                <a:ea typeface="HK Grotesk Medium"/>
                <a:cs typeface="HK Grotesk Medium"/>
                <a:sym typeface="HK Grotesk Medium"/>
              </a:rPr>
              <a:t>49.1%</a:t>
            </a:r>
          </a:p>
        </p:txBody>
      </p:sp>
      <p:sp>
        <p:nvSpPr>
          <p:cNvPr name="TextBox 22" id="22"/>
          <p:cNvSpPr txBox="true"/>
          <p:nvPr/>
        </p:nvSpPr>
        <p:spPr>
          <a:xfrm rot="0">
            <a:off x="4156053" y="7212340"/>
            <a:ext cx="3124267" cy="1866348"/>
          </a:xfrm>
          <a:prstGeom prst="rect">
            <a:avLst/>
          </a:prstGeom>
        </p:spPr>
        <p:txBody>
          <a:bodyPr anchor="t" rtlCol="false" tIns="0" lIns="0" bIns="0" rIns="0">
            <a:spAutoFit/>
          </a:bodyPr>
          <a:lstStyle/>
          <a:p>
            <a:pPr algn="l">
              <a:lnSpc>
                <a:spcPts val="1831"/>
              </a:lnSpc>
            </a:pPr>
            <a:r>
              <a:rPr lang="en-US" b="true" sz="1557" spc="140">
                <a:solidFill>
                  <a:srgbClr val="FFFFFF"/>
                </a:solidFill>
                <a:latin typeface="HK Grotesk Medium"/>
                <a:ea typeface="HK Grotesk Medium"/>
                <a:cs typeface="HK Grotesk Medium"/>
                <a:sym typeface="HK Grotesk Medium"/>
              </a:rPr>
              <a:t>Stress levels generally increase with age. Sleep hours tend to decrease with age. The inverse relationship hints that higher stress might negatively affect sleep patterns.</a:t>
            </a:r>
          </a:p>
        </p:txBody>
      </p:sp>
      <p:sp>
        <p:nvSpPr>
          <p:cNvPr name="TextBox 23" id="23"/>
          <p:cNvSpPr txBox="true"/>
          <p:nvPr/>
        </p:nvSpPr>
        <p:spPr>
          <a:xfrm rot="0">
            <a:off x="4637322" y="2851337"/>
            <a:ext cx="673456" cy="327460"/>
          </a:xfrm>
          <a:prstGeom prst="rect">
            <a:avLst/>
          </a:prstGeom>
        </p:spPr>
        <p:txBody>
          <a:bodyPr anchor="t" rtlCol="false" tIns="0" lIns="0" bIns="0" rIns="0">
            <a:spAutoFit/>
          </a:bodyPr>
          <a:lstStyle/>
          <a:p>
            <a:pPr algn="l">
              <a:lnSpc>
                <a:spcPts val="1729"/>
              </a:lnSpc>
            </a:pPr>
            <a:r>
              <a:rPr lang="en-US" b="true" sz="1599">
                <a:solidFill>
                  <a:srgbClr val="2A3652"/>
                </a:solidFill>
                <a:latin typeface="HK Grotesk Bold"/>
                <a:ea typeface="HK Grotesk Bold"/>
                <a:cs typeface="HK Grotesk Bold"/>
                <a:sym typeface="HK Grotesk Bold"/>
              </a:rPr>
              <a:t>01</a:t>
            </a:r>
            <a:r>
              <a:rPr lang="en-US" b="true" sz="1599">
                <a:solidFill>
                  <a:srgbClr val="FFFFFF"/>
                </a:solidFill>
                <a:latin typeface="HK Grotesk Semi-Bold"/>
                <a:ea typeface="HK Grotesk Semi-Bold"/>
                <a:cs typeface="HK Grotesk Semi-Bold"/>
                <a:sym typeface="HK Grotesk Semi-Bold"/>
              </a:rPr>
              <a:t>EMIC</a:t>
            </a:r>
          </a:p>
        </p:txBody>
      </p:sp>
      <p:sp>
        <p:nvSpPr>
          <p:cNvPr name="TextBox 24" id="24"/>
          <p:cNvSpPr txBox="true"/>
          <p:nvPr/>
        </p:nvSpPr>
        <p:spPr>
          <a:xfrm rot="0">
            <a:off x="2609679" y="6610483"/>
            <a:ext cx="4775759" cy="236191"/>
          </a:xfrm>
          <a:prstGeom prst="rect">
            <a:avLst/>
          </a:prstGeom>
        </p:spPr>
        <p:txBody>
          <a:bodyPr anchor="t" rtlCol="false" tIns="0" lIns="0" bIns="0" rIns="0">
            <a:spAutoFit/>
          </a:bodyPr>
          <a:lstStyle/>
          <a:p>
            <a:pPr algn="l">
              <a:lnSpc>
                <a:spcPts val="1819"/>
              </a:lnSpc>
            </a:pPr>
            <a:r>
              <a:rPr lang="en-US" b="true" sz="1299" spc="116">
                <a:solidFill>
                  <a:srgbClr val="FFFFFF"/>
                </a:solidFill>
                <a:latin typeface="HK Grotesk Semi-Bold"/>
                <a:ea typeface="HK Grotesk Semi-Bold"/>
                <a:cs typeface="HK Grotesk Semi-Bold"/>
                <a:sym typeface="HK Grotesk Semi-Bold"/>
              </a:rPr>
              <a:t>STRESS LEVELS AND SLEEP PATTERNS ACROSS AGES</a:t>
            </a:r>
          </a:p>
        </p:txBody>
      </p:sp>
      <p:sp>
        <p:nvSpPr>
          <p:cNvPr name="TextBox 25" id="25"/>
          <p:cNvSpPr txBox="true"/>
          <p:nvPr/>
        </p:nvSpPr>
        <p:spPr>
          <a:xfrm rot="0">
            <a:off x="7202214" y="4586573"/>
            <a:ext cx="278292" cy="224704"/>
          </a:xfrm>
          <a:prstGeom prst="rect">
            <a:avLst/>
          </a:prstGeom>
        </p:spPr>
        <p:txBody>
          <a:bodyPr anchor="t" rtlCol="false" tIns="0" lIns="0" bIns="0" rIns="0">
            <a:spAutoFit/>
          </a:bodyPr>
          <a:lstStyle/>
          <a:p>
            <a:pPr algn="just">
              <a:lnSpc>
                <a:spcPts val="864"/>
              </a:lnSpc>
            </a:pPr>
            <a:r>
              <a:rPr lang="en-US" b="true" sz="754">
                <a:solidFill>
                  <a:srgbClr val="FFFFFF"/>
                </a:solidFill>
                <a:latin typeface="HK Grotesk Medium"/>
                <a:ea typeface="HK Grotesk Medium"/>
                <a:cs typeface="HK Grotesk Medium"/>
                <a:sym typeface="HK Grotesk Medium"/>
              </a:rPr>
              <a:t>Item 1 50.9%</a:t>
            </a:r>
          </a:p>
        </p:txBody>
      </p:sp>
      <p:sp>
        <p:nvSpPr>
          <p:cNvPr name="TextBox 26" id="26"/>
          <p:cNvSpPr txBox="true"/>
          <p:nvPr/>
        </p:nvSpPr>
        <p:spPr>
          <a:xfrm rot="0">
            <a:off x="618630" y="8257232"/>
            <a:ext cx="175946" cy="324107"/>
          </a:xfrm>
          <a:prstGeom prst="rect">
            <a:avLst/>
          </a:prstGeom>
        </p:spPr>
        <p:txBody>
          <a:bodyPr anchor="t" rtlCol="false" tIns="0" lIns="0" bIns="0" rIns="0">
            <a:spAutoFit/>
          </a:bodyPr>
          <a:lstStyle/>
          <a:p>
            <a:pPr algn="ctr">
              <a:lnSpc>
                <a:spcPts val="1247"/>
              </a:lnSpc>
            </a:pPr>
            <a:r>
              <a:rPr lang="en-US" b="true" sz="1087">
                <a:solidFill>
                  <a:srgbClr val="FFFFFF"/>
                </a:solidFill>
                <a:latin typeface="HK Grotesk Medium"/>
                <a:ea typeface="HK Grotesk Medium"/>
                <a:cs typeface="HK Grotesk Medium"/>
                <a:sym typeface="HK Grotesk Medium"/>
              </a:rPr>
              <a:t>No 5</a:t>
            </a:r>
          </a:p>
        </p:txBody>
      </p:sp>
      <p:sp>
        <p:nvSpPr>
          <p:cNvPr name="TextBox 27" id="27"/>
          <p:cNvSpPr txBox="true"/>
          <p:nvPr/>
        </p:nvSpPr>
        <p:spPr>
          <a:xfrm rot="0">
            <a:off x="1782747" y="6964413"/>
            <a:ext cx="202282" cy="194329"/>
          </a:xfrm>
          <a:prstGeom prst="rect">
            <a:avLst/>
          </a:prstGeom>
        </p:spPr>
        <p:txBody>
          <a:bodyPr anchor="t" rtlCol="false" tIns="0" lIns="0" bIns="0" rIns="0">
            <a:spAutoFit/>
          </a:bodyPr>
          <a:lstStyle/>
          <a:p>
            <a:pPr algn="l">
              <a:lnSpc>
                <a:spcPts val="1522"/>
              </a:lnSpc>
            </a:pPr>
            <a:r>
              <a:rPr lang="en-US" b="true" sz="1087">
                <a:solidFill>
                  <a:srgbClr val="FFFFFF"/>
                </a:solidFill>
                <a:latin typeface="HK Grotesk Medium"/>
                <a:ea typeface="HK Grotesk Medium"/>
                <a:cs typeface="HK Grotesk Medium"/>
                <a:sym typeface="HK Grotesk Medium"/>
              </a:rPr>
              <a:t>yes</a:t>
            </a:r>
          </a:p>
        </p:txBody>
      </p:sp>
      <p:sp>
        <p:nvSpPr>
          <p:cNvPr name="TextBox 28" id="28"/>
          <p:cNvSpPr txBox="true"/>
          <p:nvPr/>
        </p:nvSpPr>
        <p:spPr>
          <a:xfrm rot="0">
            <a:off x="2305545" y="6964413"/>
            <a:ext cx="175946" cy="194329"/>
          </a:xfrm>
          <a:prstGeom prst="rect">
            <a:avLst/>
          </a:prstGeom>
        </p:spPr>
        <p:txBody>
          <a:bodyPr anchor="t" rtlCol="false" tIns="0" lIns="0" bIns="0" rIns="0">
            <a:spAutoFit/>
          </a:bodyPr>
          <a:lstStyle/>
          <a:p>
            <a:pPr algn="l">
              <a:lnSpc>
                <a:spcPts val="1522"/>
              </a:lnSpc>
            </a:pPr>
            <a:r>
              <a:rPr lang="en-US" b="true" sz="1087">
                <a:solidFill>
                  <a:srgbClr val="FFFFFF"/>
                </a:solidFill>
                <a:latin typeface="HK Grotesk Medium"/>
                <a:ea typeface="HK Grotesk Medium"/>
                <a:cs typeface="HK Grotesk Medium"/>
                <a:sym typeface="HK Grotesk Medium"/>
              </a:rPr>
              <a:t>No</a:t>
            </a:r>
          </a:p>
        </p:txBody>
      </p:sp>
      <p:sp>
        <p:nvSpPr>
          <p:cNvPr name="TextBox 29" id="29"/>
          <p:cNvSpPr txBox="true"/>
          <p:nvPr/>
        </p:nvSpPr>
        <p:spPr>
          <a:xfrm rot="0">
            <a:off x="3289097" y="8237315"/>
            <a:ext cx="202282" cy="370923"/>
          </a:xfrm>
          <a:prstGeom prst="rect">
            <a:avLst/>
          </a:prstGeom>
        </p:spPr>
        <p:txBody>
          <a:bodyPr anchor="t" rtlCol="false" tIns="0" lIns="0" bIns="0" rIns="0">
            <a:spAutoFit/>
          </a:bodyPr>
          <a:lstStyle/>
          <a:p>
            <a:pPr algn="ctr">
              <a:lnSpc>
                <a:spcPts val="1466"/>
              </a:lnSpc>
            </a:pPr>
            <a:r>
              <a:rPr lang="en-US" b="true" sz="1087">
                <a:solidFill>
                  <a:srgbClr val="FFFFFF"/>
                </a:solidFill>
                <a:latin typeface="HK Grotesk Medium"/>
                <a:ea typeface="HK Grotesk Medium"/>
                <a:cs typeface="HK Grotesk Medium"/>
                <a:sym typeface="HK Grotesk Medium"/>
              </a:rPr>
              <a:t>yes 6</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913537" y="3224203"/>
            <a:ext cx="3562350" cy="2152650"/>
          </a:xfrm>
          <a:custGeom>
            <a:avLst/>
            <a:gdLst/>
            <a:ahLst/>
            <a:cxnLst/>
            <a:rect r="r" b="b" t="t" l="l"/>
            <a:pathLst>
              <a:path h="2152650" w="3562350">
                <a:moveTo>
                  <a:pt x="0" y="0"/>
                </a:moveTo>
                <a:lnTo>
                  <a:pt x="3562350" y="0"/>
                </a:lnTo>
                <a:lnTo>
                  <a:pt x="3562350" y="2152650"/>
                </a:lnTo>
                <a:lnTo>
                  <a:pt x="0" y="2152650"/>
                </a:lnTo>
                <a:lnTo>
                  <a:pt x="0" y="0"/>
                </a:lnTo>
                <a:close/>
              </a:path>
            </a:pathLst>
          </a:custGeom>
          <a:blipFill>
            <a:blip r:embed="rId4"/>
            <a:stretch>
              <a:fillRect l="0" t="0" r="0" b="0"/>
            </a:stretch>
          </a:blipFill>
        </p:spPr>
      </p:sp>
      <p:sp>
        <p:nvSpPr>
          <p:cNvPr name="Freeform 4" id="4"/>
          <p:cNvSpPr/>
          <p:nvPr/>
        </p:nvSpPr>
        <p:spPr>
          <a:xfrm flipH="false" flipV="false" rot="0">
            <a:off x="146180" y="5966927"/>
            <a:ext cx="2952750" cy="2457450"/>
          </a:xfrm>
          <a:custGeom>
            <a:avLst/>
            <a:gdLst/>
            <a:ahLst/>
            <a:cxnLst/>
            <a:rect r="r" b="b" t="t" l="l"/>
            <a:pathLst>
              <a:path h="2457450" w="2952750">
                <a:moveTo>
                  <a:pt x="0" y="0"/>
                </a:moveTo>
                <a:lnTo>
                  <a:pt x="2952750" y="0"/>
                </a:lnTo>
                <a:lnTo>
                  <a:pt x="2952750" y="2457450"/>
                </a:lnTo>
                <a:lnTo>
                  <a:pt x="0" y="2457450"/>
                </a:lnTo>
                <a:lnTo>
                  <a:pt x="0" y="0"/>
                </a:lnTo>
                <a:close/>
              </a:path>
            </a:pathLst>
          </a:custGeom>
          <a:blipFill>
            <a:blip r:embed="rId5"/>
            <a:stretch>
              <a:fillRect l="0" t="0" r="0" b="0"/>
            </a:stretch>
          </a:blipFill>
        </p:spPr>
      </p:sp>
      <p:sp>
        <p:nvSpPr>
          <p:cNvPr name="Freeform 5" id="5"/>
          <p:cNvSpPr/>
          <p:nvPr/>
        </p:nvSpPr>
        <p:spPr>
          <a:xfrm flipH="false" flipV="false" rot="0">
            <a:off x="3779996" y="8526742"/>
            <a:ext cx="3124200" cy="2028825"/>
          </a:xfrm>
          <a:custGeom>
            <a:avLst/>
            <a:gdLst/>
            <a:ahLst/>
            <a:cxnLst/>
            <a:rect r="r" b="b" t="t" l="l"/>
            <a:pathLst>
              <a:path h="2028825" w="3124200">
                <a:moveTo>
                  <a:pt x="0" y="0"/>
                </a:moveTo>
                <a:lnTo>
                  <a:pt x="3124200" y="0"/>
                </a:lnTo>
                <a:lnTo>
                  <a:pt x="3124200" y="2028825"/>
                </a:lnTo>
                <a:lnTo>
                  <a:pt x="0" y="2028825"/>
                </a:lnTo>
                <a:lnTo>
                  <a:pt x="0" y="0"/>
                </a:lnTo>
                <a:close/>
              </a:path>
            </a:pathLst>
          </a:custGeom>
          <a:blipFill>
            <a:blip r:embed="rId6"/>
            <a:stretch>
              <a:fillRect l="0" t="0" r="0" b="0"/>
            </a:stretch>
          </a:blipFill>
        </p:spPr>
      </p:sp>
      <p:sp>
        <p:nvSpPr>
          <p:cNvPr name="Freeform 6" id="6"/>
          <p:cNvSpPr/>
          <p:nvPr/>
        </p:nvSpPr>
        <p:spPr>
          <a:xfrm flipH="false" flipV="false" rot="0">
            <a:off x="146180" y="8526742"/>
            <a:ext cx="3333750" cy="790575"/>
          </a:xfrm>
          <a:custGeom>
            <a:avLst/>
            <a:gdLst/>
            <a:ahLst/>
            <a:cxnLst/>
            <a:rect r="r" b="b" t="t" l="l"/>
            <a:pathLst>
              <a:path h="790575" w="3333750">
                <a:moveTo>
                  <a:pt x="0" y="0"/>
                </a:moveTo>
                <a:lnTo>
                  <a:pt x="3333750" y="0"/>
                </a:lnTo>
                <a:lnTo>
                  <a:pt x="3333750" y="790575"/>
                </a:lnTo>
                <a:lnTo>
                  <a:pt x="0" y="790575"/>
                </a:lnTo>
                <a:lnTo>
                  <a:pt x="0" y="0"/>
                </a:lnTo>
                <a:close/>
              </a:path>
            </a:pathLst>
          </a:custGeom>
          <a:blipFill>
            <a:blip r:embed="rId7"/>
            <a:stretch>
              <a:fillRect l="0" t="0" r="0" b="0"/>
            </a:stretch>
          </a:blipFill>
        </p:spPr>
      </p:sp>
      <p:sp>
        <p:nvSpPr>
          <p:cNvPr name="Freeform 7" id="7"/>
          <p:cNvSpPr/>
          <p:nvPr/>
        </p:nvSpPr>
        <p:spPr>
          <a:xfrm flipH="false" flipV="false" rot="0">
            <a:off x="146180" y="9409109"/>
            <a:ext cx="2333625" cy="971550"/>
          </a:xfrm>
          <a:custGeom>
            <a:avLst/>
            <a:gdLst/>
            <a:ahLst/>
            <a:cxnLst/>
            <a:rect r="r" b="b" t="t" l="l"/>
            <a:pathLst>
              <a:path h="971550" w="2333625">
                <a:moveTo>
                  <a:pt x="0" y="0"/>
                </a:moveTo>
                <a:lnTo>
                  <a:pt x="2333625" y="0"/>
                </a:lnTo>
                <a:lnTo>
                  <a:pt x="2333625" y="971550"/>
                </a:lnTo>
                <a:lnTo>
                  <a:pt x="0" y="971550"/>
                </a:lnTo>
                <a:lnTo>
                  <a:pt x="0" y="0"/>
                </a:lnTo>
                <a:close/>
              </a:path>
            </a:pathLst>
          </a:custGeom>
          <a:blipFill>
            <a:blip r:embed="rId8"/>
            <a:stretch>
              <a:fillRect l="0" t="0" r="0" b="0"/>
            </a:stretch>
          </a:blipFill>
        </p:spPr>
      </p:sp>
      <p:grpSp>
        <p:nvGrpSpPr>
          <p:cNvPr name="Group 8" id="8"/>
          <p:cNvGrpSpPr>
            <a:grpSpLocks noChangeAspect="true"/>
          </p:cNvGrpSpPr>
          <p:nvPr/>
        </p:nvGrpSpPr>
        <p:grpSpPr>
          <a:xfrm rot="0">
            <a:off x="82677" y="5907996"/>
            <a:ext cx="3474606" cy="4543996"/>
            <a:chOff x="0" y="0"/>
            <a:chExt cx="3474606" cy="4543996"/>
          </a:xfrm>
        </p:grpSpPr>
        <p:sp>
          <p:nvSpPr>
            <p:cNvPr name="Freeform 9" id="9"/>
            <p:cNvSpPr/>
            <p:nvPr/>
          </p:nvSpPr>
          <p:spPr>
            <a:xfrm flipH="false" flipV="false" rot="0">
              <a:off x="3350133" y="597916"/>
              <a:ext cx="60960" cy="60960"/>
            </a:xfrm>
            <a:custGeom>
              <a:avLst/>
              <a:gdLst/>
              <a:ahLst/>
              <a:cxnLst/>
              <a:rect r="r" b="b" t="t" l="l"/>
              <a:pathLst>
                <a:path h="60960" w="60960">
                  <a:moveTo>
                    <a:pt x="60960" y="30480"/>
                  </a:moveTo>
                  <a:cubicBezTo>
                    <a:pt x="60960" y="34544"/>
                    <a:pt x="60198" y="38481"/>
                    <a:pt x="58674" y="42164"/>
                  </a:cubicBezTo>
                  <a:cubicBezTo>
                    <a:pt x="57150" y="45847"/>
                    <a:pt x="54864" y="49276"/>
                    <a:pt x="52070" y="52070"/>
                  </a:cubicBezTo>
                  <a:cubicBezTo>
                    <a:pt x="49276" y="54864"/>
                    <a:pt x="45847" y="57150"/>
                    <a:pt x="42164" y="58674"/>
                  </a:cubicBezTo>
                  <a:cubicBezTo>
                    <a:pt x="38481" y="60198"/>
                    <a:pt x="34544" y="60960"/>
                    <a:pt x="30480" y="60960"/>
                  </a:cubicBezTo>
                  <a:cubicBezTo>
                    <a:pt x="26416" y="60960"/>
                    <a:pt x="22479" y="60198"/>
                    <a:pt x="18796" y="58674"/>
                  </a:cubicBezTo>
                  <a:cubicBezTo>
                    <a:pt x="15113" y="57150"/>
                    <a:pt x="11684" y="54864"/>
                    <a:pt x="8890" y="52070"/>
                  </a:cubicBezTo>
                  <a:cubicBezTo>
                    <a:pt x="6096" y="49276"/>
                    <a:pt x="3810" y="45847"/>
                    <a:pt x="2286" y="42164"/>
                  </a:cubicBezTo>
                  <a:cubicBezTo>
                    <a:pt x="762" y="38481"/>
                    <a:pt x="0" y="34544"/>
                    <a:pt x="0" y="30480"/>
                  </a:cubicBezTo>
                  <a:cubicBezTo>
                    <a:pt x="0" y="26416"/>
                    <a:pt x="762" y="22479"/>
                    <a:pt x="2286" y="18796"/>
                  </a:cubicBezTo>
                  <a:cubicBezTo>
                    <a:pt x="3810" y="15113"/>
                    <a:pt x="6096" y="11684"/>
                    <a:pt x="8890" y="8890"/>
                  </a:cubicBezTo>
                  <a:cubicBezTo>
                    <a:pt x="11684" y="6096"/>
                    <a:pt x="15113" y="3810"/>
                    <a:pt x="18796" y="2286"/>
                  </a:cubicBezTo>
                  <a:cubicBezTo>
                    <a:pt x="22479" y="762"/>
                    <a:pt x="26416" y="0"/>
                    <a:pt x="30480" y="0"/>
                  </a:cubicBezTo>
                  <a:cubicBezTo>
                    <a:pt x="34544" y="0"/>
                    <a:pt x="38481" y="762"/>
                    <a:pt x="42164" y="2286"/>
                  </a:cubicBezTo>
                  <a:cubicBezTo>
                    <a:pt x="45847" y="3810"/>
                    <a:pt x="49276" y="6096"/>
                    <a:pt x="52070" y="8890"/>
                  </a:cubicBezTo>
                  <a:cubicBezTo>
                    <a:pt x="54864" y="11684"/>
                    <a:pt x="57150" y="15113"/>
                    <a:pt x="58674" y="18796"/>
                  </a:cubicBezTo>
                  <a:cubicBezTo>
                    <a:pt x="60198" y="22479"/>
                    <a:pt x="60960" y="26416"/>
                    <a:pt x="60960" y="30480"/>
                  </a:cubicBezTo>
                  <a:close/>
                </a:path>
              </a:pathLst>
            </a:custGeom>
            <a:solidFill>
              <a:srgbClr val="FFFFFF"/>
            </a:solidFill>
          </p:spPr>
        </p:sp>
        <p:sp>
          <p:nvSpPr>
            <p:cNvPr name="Freeform 10" id="10"/>
            <p:cNvSpPr/>
            <p:nvPr/>
          </p:nvSpPr>
          <p:spPr>
            <a:xfrm flipH="false" flipV="false" rot="0">
              <a:off x="3350133" y="830707"/>
              <a:ext cx="60960" cy="60960"/>
            </a:xfrm>
            <a:custGeom>
              <a:avLst/>
              <a:gdLst/>
              <a:ahLst/>
              <a:cxnLst/>
              <a:rect r="r" b="b" t="t" l="l"/>
              <a:pathLst>
                <a:path h="60960" w="60960">
                  <a:moveTo>
                    <a:pt x="60960" y="30480"/>
                  </a:moveTo>
                  <a:cubicBezTo>
                    <a:pt x="60960" y="34544"/>
                    <a:pt x="60198" y="38481"/>
                    <a:pt x="58674" y="42164"/>
                  </a:cubicBezTo>
                  <a:cubicBezTo>
                    <a:pt x="57150" y="45847"/>
                    <a:pt x="54864" y="49276"/>
                    <a:pt x="52070" y="52070"/>
                  </a:cubicBezTo>
                  <a:cubicBezTo>
                    <a:pt x="49276" y="54864"/>
                    <a:pt x="45847" y="57150"/>
                    <a:pt x="42164" y="58674"/>
                  </a:cubicBezTo>
                  <a:cubicBezTo>
                    <a:pt x="38481" y="60198"/>
                    <a:pt x="34544" y="60960"/>
                    <a:pt x="30480" y="60960"/>
                  </a:cubicBezTo>
                  <a:cubicBezTo>
                    <a:pt x="26416" y="60960"/>
                    <a:pt x="22479" y="60198"/>
                    <a:pt x="18796" y="58674"/>
                  </a:cubicBezTo>
                  <a:cubicBezTo>
                    <a:pt x="15113" y="57150"/>
                    <a:pt x="11684" y="54864"/>
                    <a:pt x="8890" y="52070"/>
                  </a:cubicBezTo>
                  <a:cubicBezTo>
                    <a:pt x="6096" y="49276"/>
                    <a:pt x="3810" y="45847"/>
                    <a:pt x="2286" y="42164"/>
                  </a:cubicBezTo>
                  <a:cubicBezTo>
                    <a:pt x="762" y="38481"/>
                    <a:pt x="0" y="34544"/>
                    <a:pt x="0" y="30480"/>
                  </a:cubicBezTo>
                  <a:cubicBezTo>
                    <a:pt x="0" y="26416"/>
                    <a:pt x="762" y="22479"/>
                    <a:pt x="2286" y="18796"/>
                  </a:cubicBezTo>
                  <a:cubicBezTo>
                    <a:pt x="3810" y="15113"/>
                    <a:pt x="6096" y="11684"/>
                    <a:pt x="8890" y="8890"/>
                  </a:cubicBezTo>
                  <a:cubicBezTo>
                    <a:pt x="11684" y="6096"/>
                    <a:pt x="15113" y="3810"/>
                    <a:pt x="18796" y="2286"/>
                  </a:cubicBezTo>
                  <a:cubicBezTo>
                    <a:pt x="22479" y="762"/>
                    <a:pt x="26416" y="0"/>
                    <a:pt x="30480" y="0"/>
                  </a:cubicBezTo>
                  <a:cubicBezTo>
                    <a:pt x="34544" y="0"/>
                    <a:pt x="38481" y="762"/>
                    <a:pt x="42164" y="2286"/>
                  </a:cubicBezTo>
                  <a:cubicBezTo>
                    <a:pt x="45847" y="3810"/>
                    <a:pt x="49276" y="6096"/>
                    <a:pt x="52070" y="8890"/>
                  </a:cubicBezTo>
                  <a:cubicBezTo>
                    <a:pt x="54864" y="11684"/>
                    <a:pt x="57150" y="15113"/>
                    <a:pt x="58674" y="18796"/>
                  </a:cubicBezTo>
                  <a:cubicBezTo>
                    <a:pt x="60198" y="22479"/>
                    <a:pt x="60960" y="26416"/>
                    <a:pt x="60960" y="30480"/>
                  </a:cubicBezTo>
                  <a:close/>
                </a:path>
              </a:pathLst>
            </a:custGeom>
            <a:solidFill>
              <a:srgbClr val="FFFFFF"/>
            </a:solidFill>
          </p:spPr>
        </p:sp>
        <p:sp>
          <p:nvSpPr>
            <p:cNvPr name="Freeform 11" id="11"/>
            <p:cNvSpPr/>
            <p:nvPr/>
          </p:nvSpPr>
          <p:spPr>
            <a:xfrm flipH="false" flipV="false" rot="0">
              <a:off x="3350133" y="1063371"/>
              <a:ext cx="60960" cy="60960"/>
            </a:xfrm>
            <a:custGeom>
              <a:avLst/>
              <a:gdLst/>
              <a:ahLst/>
              <a:cxnLst/>
              <a:rect r="r" b="b" t="t" l="l"/>
              <a:pathLst>
                <a:path h="60960" w="60960">
                  <a:moveTo>
                    <a:pt x="60960" y="30480"/>
                  </a:moveTo>
                  <a:cubicBezTo>
                    <a:pt x="60960" y="34544"/>
                    <a:pt x="60198" y="38481"/>
                    <a:pt x="58674" y="42164"/>
                  </a:cubicBezTo>
                  <a:cubicBezTo>
                    <a:pt x="57150" y="45847"/>
                    <a:pt x="54864" y="49276"/>
                    <a:pt x="52070" y="52070"/>
                  </a:cubicBezTo>
                  <a:cubicBezTo>
                    <a:pt x="49276" y="54864"/>
                    <a:pt x="45847" y="57150"/>
                    <a:pt x="42164" y="58674"/>
                  </a:cubicBezTo>
                  <a:cubicBezTo>
                    <a:pt x="38481" y="60198"/>
                    <a:pt x="34544" y="60960"/>
                    <a:pt x="30480" y="60960"/>
                  </a:cubicBezTo>
                  <a:cubicBezTo>
                    <a:pt x="26416" y="60960"/>
                    <a:pt x="22479" y="60198"/>
                    <a:pt x="18796" y="58674"/>
                  </a:cubicBezTo>
                  <a:cubicBezTo>
                    <a:pt x="15113" y="57150"/>
                    <a:pt x="11684" y="54864"/>
                    <a:pt x="8890" y="52070"/>
                  </a:cubicBezTo>
                  <a:cubicBezTo>
                    <a:pt x="6096" y="49276"/>
                    <a:pt x="3810" y="45847"/>
                    <a:pt x="2286" y="42164"/>
                  </a:cubicBezTo>
                  <a:cubicBezTo>
                    <a:pt x="762" y="38481"/>
                    <a:pt x="0" y="34544"/>
                    <a:pt x="0" y="30480"/>
                  </a:cubicBezTo>
                  <a:cubicBezTo>
                    <a:pt x="0" y="26416"/>
                    <a:pt x="762" y="22479"/>
                    <a:pt x="2286" y="18796"/>
                  </a:cubicBezTo>
                  <a:cubicBezTo>
                    <a:pt x="3810" y="15113"/>
                    <a:pt x="6096" y="11684"/>
                    <a:pt x="8890" y="8890"/>
                  </a:cubicBezTo>
                  <a:cubicBezTo>
                    <a:pt x="11684" y="6096"/>
                    <a:pt x="15113" y="3810"/>
                    <a:pt x="18796" y="2286"/>
                  </a:cubicBezTo>
                  <a:cubicBezTo>
                    <a:pt x="22479" y="762"/>
                    <a:pt x="26416" y="0"/>
                    <a:pt x="30480" y="0"/>
                  </a:cubicBezTo>
                  <a:cubicBezTo>
                    <a:pt x="34544" y="0"/>
                    <a:pt x="38481" y="762"/>
                    <a:pt x="42164" y="2286"/>
                  </a:cubicBezTo>
                  <a:cubicBezTo>
                    <a:pt x="45847" y="3810"/>
                    <a:pt x="49276" y="6096"/>
                    <a:pt x="52070" y="8890"/>
                  </a:cubicBezTo>
                  <a:cubicBezTo>
                    <a:pt x="54864" y="11684"/>
                    <a:pt x="57150" y="15113"/>
                    <a:pt x="58674" y="18796"/>
                  </a:cubicBezTo>
                  <a:cubicBezTo>
                    <a:pt x="60198" y="22479"/>
                    <a:pt x="60960" y="26416"/>
                    <a:pt x="60960" y="30480"/>
                  </a:cubicBezTo>
                  <a:close/>
                </a:path>
              </a:pathLst>
            </a:custGeom>
            <a:solidFill>
              <a:srgbClr val="FFFFFF"/>
            </a:solidFill>
          </p:spPr>
        </p:sp>
        <p:sp>
          <p:nvSpPr>
            <p:cNvPr name="Freeform 12" id="12"/>
            <p:cNvSpPr/>
            <p:nvPr/>
          </p:nvSpPr>
          <p:spPr>
            <a:xfrm flipH="false" flipV="false" rot="0">
              <a:off x="63500" y="63500"/>
              <a:ext cx="2955163" cy="2460371"/>
            </a:xfrm>
            <a:custGeom>
              <a:avLst/>
              <a:gdLst/>
              <a:ahLst/>
              <a:cxnLst/>
              <a:rect r="r" b="b" t="t" l="l"/>
              <a:pathLst>
                <a:path h="2460371" w="2955163">
                  <a:moveTo>
                    <a:pt x="0" y="2460371"/>
                  </a:moveTo>
                  <a:lnTo>
                    <a:pt x="2955163" y="2460371"/>
                  </a:lnTo>
                  <a:lnTo>
                    <a:pt x="2955163" y="0"/>
                  </a:lnTo>
                  <a:lnTo>
                    <a:pt x="0" y="0"/>
                  </a:lnTo>
                  <a:close/>
                </a:path>
              </a:pathLst>
            </a:custGeom>
            <a:solidFill>
              <a:srgbClr val="000000">
                <a:alpha val="0"/>
              </a:srgbClr>
            </a:solidFill>
          </p:spPr>
        </p:sp>
        <p:sp>
          <p:nvSpPr>
            <p:cNvPr name="Freeform 13" id="13"/>
            <p:cNvSpPr/>
            <p:nvPr/>
          </p:nvSpPr>
          <p:spPr>
            <a:xfrm flipH="false" flipV="false" rot="0">
              <a:off x="63500" y="2623312"/>
              <a:ext cx="3336163" cy="787146"/>
            </a:xfrm>
            <a:custGeom>
              <a:avLst/>
              <a:gdLst/>
              <a:ahLst/>
              <a:cxnLst/>
              <a:rect r="r" b="b" t="t" l="l"/>
              <a:pathLst>
                <a:path h="787146" w="3336163">
                  <a:moveTo>
                    <a:pt x="0" y="787146"/>
                  </a:moveTo>
                  <a:lnTo>
                    <a:pt x="3336163" y="787146"/>
                  </a:lnTo>
                  <a:lnTo>
                    <a:pt x="3336163" y="0"/>
                  </a:lnTo>
                  <a:lnTo>
                    <a:pt x="0" y="0"/>
                  </a:lnTo>
                  <a:close/>
                </a:path>
              </a:pathLst>
            </a:custGeom>
            <a:solidFill>
              <a:srgbClr val="000000">
                <a:alpha val="0"/>
              </a:srgbClr>
            </a:solidFill>
          </p:spPr>
        </p:sp>
        <p:sp>
          <p:nvSpPr>
            <p:cNvPr name="Freeform 14" id="14"/>
            <p:cNvSpPr/>
            <p:nvPr/>
          </p:nvSpPr>
          <p:spPr>
            <a:xfrm flipH="false" flipV="false" rot="0">
              <a:off x="63500" y="3505708"/>
              <a:ext cx="2331974" cy="974852"/>
            </a:xfrm>
            <a:custGeom>
              <a:avLst/>
              <a:gdLst/>
              <a:ahLst/>
              <a:cxnLst/>
              <a:rect r="r" b="b" t="t" l="l"/>
              <a:pathLst>
                <a:path h="974852" w="2331974">
                  <a:moveTo>
                    <a:pt x="0" y="974852"/>
                  </a:moveTo>
                  <a:lnTo>
                    <a:pt x="2331974" y="974852"/>
                  </a:lnTo>
                  <a:lnTo>
                    <a:pt x="2331974" y="0"/>
                  </a:lnTo>
                  <a:lnTo>
                    <a:pt x="0" y="0"/>
                  </a:lnTo>
                  <a:close/>
                </a:path>
              </a:pathLst>
            </a:custGeom>
            <a:solidFill>
              <a:srgbClr val="000000">
                <a:alpha val="0"/>
              </a:srgbClr>
            </a:solidFill>
          </p:spPr>
        </p:sp>
      </p:grpSp>
      <p:grpSp>
        <p:nvGrpSpPr>
          <p:cNvPr name="Group 15" id="15"/>
          <p:cNvGrpSpPr>
            <a:grpSpLocks noChangeAspect="true"/>
          </p:cNvGrpSpPr>
          <p:nvPr/>
        </p:nvGrpSpPr>
        <p:grpSpPr>
          <a:xfrm rot="0">
            <a:off x="3779996" y="8531314"/>
            <a:ext cx="3121104" cy="2031892"/>
            <a:chOff x="0" y="0"/>
            <a:chExt cx="3121101" cy="2031898"/>
          </a:xfrm>
        </p:grpSpPr>
        <p:sp>
          <p:nvSpPr>
            <p:cNvPr name="Freeform 16" id="16"/>
            <p:cNvSpPr/>
            <p:nvPr/>
          </p:nvSpPr>
          <p:spPr>
            <a:xfrm flipH="false" flipV="false" rot="0">
              <a:off x="0" y="0"/>
              <a:ext cx="3121152" cy="2031873"/>
            </a:xfrm>
            <a:custGeom>
              <a:avLst/>
              <a:gdLst/>
              <a:ahLst/>
              <a:cxnLst/>
              <a:rect r="r" b="b" t="t" l="l"/>
              <a:pathLst>
                <a:path h="2031873" w="3121152">
                  <a:moveTo>
                    <a:pt x="0" y="2031873"/>
                  </a:moveTo>
                  <a:lnTo>
                    <a:pt x="3121152" y="2031873"/>
                  </a:lnTo>
                  <a:lnTo>
                    <a:pt x="3121152" y="0"/>
                  </a:lnTo>
                  <a:lnTo>
                    <a:pt x="0" y="0"/>
                  </a:lnTo>
                  <a:close/>
                </a:path>
              </a:pathLst>
            </a:custGeom>
            <a:solidFill>
              <a:srgbClr val="000000">
                <a:alpha val="0"/>
              </a:srgbClr>
            </a:solidFill>
          </p:spPr>
        </p:sp>
      </p:grpSp>
      <p:grpSp>
        <p:nvGrpSpPr>
          <p:cNvPr name="Group 17" id="17"/>
          <p:cNvGrpSpPr>
            <a:grpSpLocks noChangeAspect="true"/>
          </p:cNvGrpSpPr>
          <p:nvPr/>
        </p:nvGrpSpPr>
        <p:grpSpPr>
          <a:xfrm rot="0">
            <a:off x="692448" y="-63503"/>
            <a:ext cx="6933905" cy="5506736"/>
            <a:chOff x="0" y="0"/>
            <a:chExt cx="6933895" cy="5506733"/>
          </a:xfrm>
        </p:grpSpPr>
        <p:sp>
          <p:nvSpPr>
            <p:cNvPr name="Freeform 18" id="18"/>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9" id="19"/>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20" id="20"/>
            <p:cNvSpPr/>
            <p:nvPr/>
          </p:nvSpPr>
          <p:spPr>
            <a:xfrm flipH="false" flipV="false" rot="0">
              <a:off x="3221101" y="3292221"/>
              <a:ext cx="3566922" cy="2150999"/>
            </a:xfrm>
            <a:custGeom>
              <a:avLst/>
              <a:gdLst/>
              <a:ahLst/>
              <a:cxnLst/>
              <a:rect r="r" b="b" t="t" l="l"/>
              <a:pathLst>
                <a:path h="2150999" w="3566922">
                  <a:moveTo>
                    <a:pt x="0" y="2150999"/>
                  </a:moveTo>
                  <a:lnTo>
                    <a:pt x="3566922" y="2150999"/>
                  </a:lnTo>
                  <a:lnTo>
                    <a:pt x="3566922" y="0"/>
                  </a:lnTo>
                  <a:lnTo>
                    <a:pt x="0" y="0"/>
                  </a:lnTo>
                  <a:close/>
                </a:path>
              </a:pathLst>
            </a:custGeom>
            <a:solidFill>
              <a:srgbClr val="000000">
                <a:alpha val="0"/>
              </a:srgbClr>
            </a:solidFill>
          </p:spPr>
        </p:sp>
      </p:grpSp>
      <p:sp>
        <p:nvSpPr>
          <p:cNvPr name="TextBox 21" id="21"/>
          <p:cNvSpPr txBox="true"/>
          <p:nvPr/>
        </p:nvSpPr>
        <p:spPr>
          <a:xfrm rot="0">
            <a:off x="623345" y="1209418"/>
            <a:ext cx="5836844"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p:txBody>
      </p:sp>
      <p:sp>
        <p:nvSpPr>
          <p:cNvPr name="TextBox 22" id="22"/>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23" id="23"/>
          <p:cNvSpPr txBox="true"/>
          <p:nvPr/>
        </p:nvSpPr>
        <p:spPr>
          <a:xfrm rot="0">
            <a:off x="344719" y="3198257"/>
            <a:ext cx="3249263" cy="1609011"/>
          </a:xfrm>
          <a:prstGeom prst="rect">
            <a:avLst/>
          </a:prstGeom>
        </p:spPr>
        <p:txBody>
          <a:bodyPr anchor="t" rtlCol="false" tIns="0" lIns="0" bIns="0" rIns="0">
            <a:spAutoFit/>
          </a:bodyPr>
          <a:lstStyle/>
          <a:p>
            <a:pPr algn="l">
              <a:lnSpc>
                <a:spcPts val="1800"/>
              </a:lnSpc>
            </a:pPr>
            <a:r>
              <a:rPr lang="en-US" b="true" sz="1557" spc="140">
                <a:solidFill>
                  <a:srgbClr val="FFFFFF"/>
                </a:solidFill>
                <a:latin typeface="HK Grotesk Medium"/>
                <a:ea typeface="HK Grotesk Medium"/>
                <a:cs typeface="HK Grotesk Medium"/>
                <a:sym typeface="HK Grotesk Medium"/>
              </a:rPr>
              <a:t>Grade distribution by Internet access at home shows that students with internet access perform slightly better on average. However, this is not a decisive factor in academic performance.</a:t>
            </a:r>
          </a:p>
        </p:txBody>
      </p:sp>
      <p:sp>
        <p:nvSpPr>
          <p:cNvPr name="TextBox 24" id="24"/>
          <p:cNvSpPr txBox="true"/>
          <p:nvPr/>
        </p:nvSpPr>
        <p:spPr>
          <a:xfrm rot="0">
            <a:off x="3310061" y="5950553"/>
            <a:ext cx="4348515" cy="470087"/>
          </a:xfrm>
          <a:prstGeom prst="rect">
            <a:avLst/>
          </a:prstGeom>
        </p:spPr>
        <p:txBody>
          <a:bodyPr anchor="t" rtlCol="false" tIns="0" lIns="0" bIns="0" rIns="0">
            <a:spAutoFit/>
          </a:bodyPr>
          <a:lstStyle/>
          <a:p>
            <a:pPr algn="l">
              <a:lnSpc>
                <a:spcPts val="1831"/>
              </a:lnSpc>
            </a:pPr>
            <a:r>
              <a:rPr lang="en-US" b="true" sz="1557" spc="140">
                <a:solidFill>
                  <a:srgbClr val="FFFFFF"/>
                </a:solidFill>
                <a:latin typeface="HK Grotesk Medium"/>
                <a:ea typeface="HK Grotesk Medium"/>
                <a:cs typeface="HK Grotesk Medium"/>
                <a:sym typeface="HK Grotesk Medium"/>
              </a:rPr>
              <a:t>The majority of students come from low t medium-income families:</a:t>
            </a:r>
          </a:p>
        </p:txBody>
      </p:sp>
      <p:sp>
        <p:nvSpPr>
          <p:cNvPr name="TextBox 25" id="25"/>
          <p:cNvSpPr txBox="true"/>
          <p:nvPr/>
        </p:nvSpPr>
        <p:spPr>
          <a:xfrm rot="0">
            <a:off x="3646494" y="6415973"/>
            <a:ext cx="3292726" cy="702793"/>
          </a:xfrm>
          <a:prstGeom prst="rect">
            <a:avLst/>
          </a:prstGeom>
        </p:spPr>
        <p:txBody>
          <a:bodyPr anchor="t" rtlCol="false" tIns="0" lIns="0" bIns="0" rIns="0">
            <a:spAutoFit/>
          </a:bodyPr>
          <a:lstStyle/>
          <a:p>
            <a:pPr algn="l">
              <a:lnSpc>
                <a:spcPts val="1831"/>
              </a:lnSpc>
            </a:pPr>
            <a:r>
              <a:rPr lang="en-US" b="true" sz="1557" spc="140">
                <a:solidFill>
                  <a:srgbClr val="FFFFFF"/>
                </a:solidFill>
                <a:latin typeface="HK Grotesk Medium"/>
                <a:ea typeface="HK Grotesk Medium"/>
                <a:cs typeface="HK Grotesk Medium"/>
                <a:sym typeface="HK Grotesk Medium"/>
              </a:rPr>
              <a:t>Low income: 1983 students Medium income: 1973 students High income: 1044 students</a:t>
            </a:r>
          </a:p>
        </p:txBody>
      </p:sp>
      <p:sp>
        <p:nvSpPr>
          <p:cNvPr name="TextBox 26" id="26"/>
          <p:cNvSpPr txBox="true"/>
          <p:nvPr/>
        </p:nvSpPr>
        <p:spPr>
          <a:xfrm rot="0">
            <a:off x="3310061" y="7114108"/>
            <a:ext cx="4350601" cy="1168222"/>
          </a:xfrm>
          <a:prstGeom prst="rect">
            <a:avLst/>
          </a:prstGeom>
        </p:spPr>
        <p:txBody>
          <a:bodyPr anchor="t" rtlCol="false" tIns="0" lIns="0" bIns="0" rIns="0">
            <a:spAutoFit/>
          </a:bodyPr>
          <a:lstStyle/>
          <a:p>
            <a:pPr algn="l">
              <a:lnSpc>
                <a:spcPts val="1831"/>
              </a:lnSpc>
            </a:pPr>
            <a:r>
              <a:rPr lang="en-US" b="true" sz="1557" spc="140">
                <a:solidFill>
                  <a:srgbClr val="FFFFFF"/>
                </a:solidFill>
                <a:latin typeface="HK Grotesk Medium"/>
                <a:ea typeface="HK Grotesk Medium"/>
                <a:cs typeface="HK Grotesk Medium"/>
                <a:sym typeface="HK Grotesk Medium"/>
              </a:rPr>
              <a:t>Grade distribution suggests that family income level has limited impact on academic performance. Most students achieve similar grades regardless of their family's income.</a:t>
            </a:r>
          </a:p>
        </p:txBody>
      </p:sp>
      <p:sp>
        <p:nvSpPr>
          <p:cNvPr name="TextBox 27" id="27"/>
          <p:cNvSpPr txBox="true"/>
          <p:nvPr/>
        </p:nvSpPr>
        <p:spPr>
          <a:xfrm rot="0">
            <a:off x="403365" y="2813237"/>
            <a:ext cx="5325456"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INTERNET ACCESS AND ACADEMIC PERFORMANCE</a:t>
            </a:r>
          </a:p>
        </p:txBody>
      </p:sp>
      <p:sp>
        <p:nvSpPr>
          <p:cNvPr name="TextBox 28" id="28"/>
          <p:cNvSpPr txBox="true"/>
          <p:nvPr/>
        </p:nvSpPr>
        <p:spPr>
          <a:xfrm rot="0">
            <a:off x="127092" y="5619988"/>
            <a:ext cx="4279202" cy="236191"/>
          </a:xfrm>
          <a:prstGeom prst="rect">
            <a:avLst/>
          </a:prstGeom>
        </p:spPr>
        <p:txBody>
          <a:bodyPr anchor="t" rtlCol="false" tIns="0" lIns="0" bIns="0" rIns="0">
            <a:spAutoFit/>
          </a:bodyPr>
          <a:lstStyle/>
          <a:p>
            <a:pPr algn="l">
              <a:lnSpc>
                <a:spcPts val="1819"/>
              </a:lnSpc>
            </a:pPr>
            <a:r>
              <a:rPr lang="en-US" b="true" sz="1299" spc="116">
                <a:solidFill>
                  <a:srgbClr val="FFFFFF"/>
                </a:solidFill>
                <a:latin typeface="HK Grotesk Semi-Bold"/>
                <a:ea typeface="HK Grotesk Semi-Bold"/>
                <a:cs typeface="HK Grotesk Semi-Bold"/>
                <a:sym typeface="HK Grotesk Semi-Bold"/>
              </a:rPr>
              <a:t>ACADEMIC PERFORMANCE BY FAMILY INCOME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0441" y="5653078"/>
            <a:ext cx="3133725" cy="2752725"/>
          </a:xfrm>
          <a:custGeom>
            <a:avLst/>
            <a:gdLst/>
            <a:ahLst/>
            <a:cxnLst/>
            <a:rect r="r" b="b" t="t" l="l"/>
            <a:pathLst>
              <a:path h="2752725" w="3133725">
                <a:moveTo>
                  <a:pt x="0" y="0"/>
                </a:moveTo>
                <a:lnTo>
                  <a:pt x="3133725" y="0"/>
                </a:lnTo>
                <a:lnTo>
                  <a:pt x="3133725" y="2752725"/>
                </a:lnTo>
                <a:lnTo>
                  <a:pt x="0" y="2752725"/>
                </a:lnTo>
                <a:lnTo>
                  <a:pt x="0" y="0"/>
                </a:lnTo>
                <a:close/>
              </a:path>
            </a:pathLst>
          </a:custGeom>
          <a:blipFill>
            <a:blip r:embed="rId4"/>
            <a:stretch>
              <a:fillRect l="0" t="0" r="0" b="0"/>
            </a:stretch>
          </a:blipFill>
        </p:spPr>
      </p:sp>
      <p:sp>
        <p:nvSpPr>
          <p:cNvPr name="Freeform 4" id="4"/>
          <p:cNvSpPr/>
          <p:nvPr/>
        </p:nvSpPr>
        <p:spPr>
          <a:xfrm flipH="false" flipV="false" rot="0">
            <a:off x="3937149" y="3437277"/>
            <a:ext cx="3000375" cy="1981200"/>
          </a:xfrm>
          <a:custGeom>
            <a:avLst/>
            <a:gdLst/>
            <a:ahLst/>
            <a:cxnLst/>
            <a:rect r="r" b="b" t="t" l="l"/>
            <a:pathLst>
              <a:path h="1981200" w="3000375">
                <a:moveTo>
                  <a:pt x="0" y="0"/>
                </a:moveTo>
                <a:lnTo>
                  <a:pt x="3000375" y="0"/>
                </a:lnTo>
                <a:lnTo>
                  <a:pt x="3000375" y="1981200"/>
                </a:lnTo>
                <a:lnTo>
                  <a:pt x="0" y="1981200"/>
                </a:lnTo>
                <a:lnTo>
                  <a:pt x="0" y="0"/>
                </a:lnTo>
                <a:close/>
              </a:path>
            </a:pathLst>
          </a:custGeom>
          <a:blipFill>
            <a:blip r:embed="rId5"/>
            <a:stretch>
              <a:fillRect l="0" t="0" r="0" b="0"/>
            </a:stretch>
          </a:blipFill>
        </p:spPr>
      </p:sp>
      <p:sp>
        <p:nvSpPr>
          <p:cNvPr name="Freeform 5" id="5"/>
          <p:cNvSpPr/>
          <p:nvPr/>
        </p:nvSpPr>
        <p:spPr>
          <a:xfrm flipH="false" flipV="false" rot="0">
            <a:off x="560441" y="8929040"/>
            <a:ext cx="6238875" cy="1514475"/>
          </a:xfrm>
          <a:custGeom>
            <a:avLst/>
            <a:gdLst/>
            <a:ahLst/>
            <a:cxnLst/>
            <a:rect r="r" b="b" t="t" l="l"/>
            <a:pathLst>
              <a:path h="1514475" w="6238875">
                <a:moveTo>
                  <a:pt x="0" y="0"/>
                </a:moveTo>
                <a:lnTo>
                  <a:pt x="6238875" y="0"/>
                </a:lnTo>
                <a:lnTo>
                  <a:pt x="6238875" y="1514475"/>
                </a:lnTo>
                <a:lnTo>
                  <a:pt x="0" y="1514475"/>
                </a:lnTo>
                <a:lnTo>
                  <a:pt x="0" y="0"/>
                </a:lnTo>
                <a:close/>
              </a:path>
            </a:pathLst>
          </a:custGeom>
          <a:blipFill>
            <a:blip r:embed="rId6"/>
            <a:stretch>
              <a:fillRect l="0" t="0" r="0" b="0"/>
            </a:stretch>
          </a:blipFill>
        </p:spPr>
      </p:sp>
      <p:grpSp>
        <p:nvGrpSpPr>
          <p:cNvPr name="Group 6" id="6"/>
          <p:cNvGrpSpPr>
            <a:grpSpLocks noChangeAspect="true"/>
          </p:cNvGrpSpPr>
          <p:nvPr/>
        </p:nvGrpSpPr>
        <p:grpSpPr>
          <a:xfrm rot="0">
            <a:off x="497119" y="3300403"/>
            <a:ext cx="57150" cy="57150"/>
            <a:chOff x="0" y="0"/>
            <a:chExt cx="57150" cy="57150"/>
          </a:xfrm>
        </p:grpSpPr>
        <p:sp>
          <p:nvSpPr>
            <p:cNvPr name="Freeform 7" id="7"/>
            <p:cNvSpPr/>
            <p:nvPr/>
          </p:nvSpPr>
          <p:spPr>
            <a:xfrm flipH="false" flipV="false" rot="0">
              <a:off x="0" y="0"/>
              <a:ext cx="57150" cy="57150"/>
            </a:xfrm>
            <a:custGeom>
              <a:avLst/>
              <a:gdLst/>
              <a:ahLst/>
              <a:cxnLst/>
              <a:rect r="r" b="b" t="t" l="l"/>
              <a:pathLst>
                <a:path h="57150" w="57150">
                  <a:moveTo>
                    <a:pt x="57150" y="28575"/>
                  </a:moveTo>
                  <a:cubicBezTo>
                    <a:pt x="57150" y="32385"/>
                    <a:pt x="56388" y="36068"/>
                    <a:pt x="54991" y="39497"/>
                  </a:cubicBezTo>
                  <a:cubicBezTo>
                    <a:pt x="53594" y="42926"/>
                    <a:pt x="51435" y="46101"/>
                    <a:pt x="48768" y="48768"/>
                  </a:cubicBezTo>
                  <a:cubicBezTo>
                    <a:pt x="46101" y="51435"/>
                    <a:pt x="43053" y="53467"/>
                    <a:pt x="39497" y="54991"/>
                  </a:cubicBezTo>
                  <a:cubicBezTo>
                    <a:pt x="35941" y="56515"/>
                    <a:pt x="32385" y="57150"/>
                    <a:pt x="28575" y="57150"/>
                  </a:cubicBezTo>
                  <a:cubicBezTo>
                    <a:pt x="24765" y="57150"/>
                    <a:pt x="21082" y="56388"/>
                    <a:pt x="17653" y="54991"/>
                  </a:cubicBezTo>
                  <a:cubicBezTo>
                    <a:pt x="14224" y="53594"/>
                    <a:pt x="11049" y="51435"/>
                    <a:pt x="8382" y="48768"/>
                  </a:cubicBezTo>
                  <a:cubicBezTo>
                    <a:pt x="5715" y="46101"/>
                    <a:pt x="3683" y="43053"/>
                    <a:pt x="2159" y="39497"/>
                  </a:cubicBezTo>
                  <a:cubicBezTo>
                    <a:pt x="635" y="35941"/>
                    <a:pt x="0" y="32385"/>
                    <a:pt x="0" y="28575"/>
                  </a:cubicBezTo>
                  <a:cubicBezTo>
                    <a:pt x="0" y="24765"/>
                    <a:pt x="762" y="21082"/>
                    <a:pt x="2159" y="17653"/>
                  </a:cubicBezTo>
                  <a:cubicBezTo>
                    <a:pt x="3556" y="14224"/>
                    <a:pt x="5715" y="11049"/>
                    <a:pt x="8382" y="8382"/>
                  </a:cubicBezTo>
                  <a:cubicBezTo>
                    <a:pt x="11049" y="5715"/>
                    <a:pt x="14097" y="3683"/>
                    <a:pt x="17653" y="2159"/>
                  </a:cubicBezTo>
                  <a:cubicBezTo>
                    <a:pt x="21209" y="635"/>
                    <a:pt x="24765" y="0"/>
                    <a:pt x="28575" y="0"/>
                  </a:cubicBezTo>
                  <a:cubicBezTo>
                    <a:pt x="32385" y="0"/>
                    <a:pt x="36068" y="762"/>
                    <a:pt x="39497" y="2159"/>
                  </a:cubicBezTo>
                  <a:cubicBezTo>
                    <a:pt x="42926" y="3556"/>
                    <a:pt x="46101" y="5715"/>
                    <a:pt x="48768" y="8382"/>
                  </a:cubicBezTo>
                  <a:cubicBezTo>
                    <a:pt x="51435" y="11049"/>
                    <a:pt x="53467" y="14097"/>
                    <a:pt x="54991" y="17653"/>
                  </a:cubicBezTo>
                  <a:cubicBezTo>
                    <a:pt x="56515" y="21209"/>
                    <a:pt x="57150" y="24765"/>
                    <a:pt x="57150" y="28575"/>
                  </a:cubicBezTo>
                  <a:close/>
                </a:path>
              </a:pathLst>
            </a:custGeom>
            <a:solidFill>
              <a:srgbClr val="FFFFFF"/>
            </a:solidFill>
          </p:spPr>
        </p:sp>
      </p:grpSp>
      <p:grpSp>
        <p:nvGrpSpPr>
          <p:cNvPr name="Group 8" id="8"/>
          <p:cNvGrpSpPr>
            <a:grpSpLocks noChangeAspect="true"/>
          </p:cNvGrpSpPr>
          <p:nvPr/>
        </p:nvGrpSpPr>
        <p:grpSpPr>
          <a:xfrm rot="0">
            <a:off x="497119" y="4214803"/>
            <a:ext cx="57150" cy="57150"/>
            <a:chOff x="0" y="0"/>
            <a:chExt cx="57150" cy="57150"/>
          </a:xfrm>
        </p:grpSpPr>
        <p:sp>
          <p:nvSpPr>
            <p:cNvPr name="Freeform 9" id="9"/>
            <p:cNvSpPr/>
            <p:nvPr/>
          </p:nvSpPr>
          <p:spPr>
            <a:xfrm flipH="false" flipV="false" rot="0">
              <a:off x="0" y="0"/>
              <a:ext cx="57150" cy="57150"/>
            </a:xfrm>
            <a:custGeom>
              <a:avLst/>
              <a:gdLst/>
              <a:ahLst/>
              <a:cxnLst/>
              <a:rect r="r" b="b" t="t" l="l"/>
              <a:pathLst>
                <a:path h="57150" w="57150">
                  <a:moveTo>
                    <a:pt x="57150" y="28575"/>
                  </a:moveTo>
                  <a:cubicBezTo>
                    <a:pt x="57150" y="32385"/>
                    <a:pt x="56388" y="36068"/>
                    <a:pt x="54991" y="39497"/>
                  </a:cubicBezTo>
                  <a:cubicBezTo>
                    <a:pt x="53594" y="42926"/>
                    <a:pt x="51435" y="46101"/>
                    <a:pt x="48768" y="48768"/>
                  </a:cubicBezTo>
                  <a:cubicBezTo>
                    <a:pt x="46101" y="51435"/>
                    <a:pt x="43053" y="53467"/>
                    <a:pt x="39497" y="54991"/>
                  </a:cubicBezTo>
                  <a:cubicBezTo>
                    <a:pt x="35941" y="56515"/>
                    <a:pt x="32385" y="57150"/>
                    <a:pt x="28575" y="57150"/>
                  </a:cubicBezTo>
                  <a:cubicBezTo>
                    <a:pt x="24765" y="57150"/>
                    <a:pt x="21082" y="56388"/>
                    <a:pt x="17653" y="54991"/>
                  </a:cubicBezTo>
                  <a:cubicBezTo>
                    <a:pt x="14224" y="53594"/>
                    <a:pt x="11049" y="51435"/>
                    <a:pt x="8382" y="48768"/>
                  </a:cubicBezTo>
                  <a:cubicBezTo>
                    <a:pt x="5715" y="46101"/>
                    <a:pt x="3683" y="43053"/>
                    <a:pt x="2159" y="39497"/>
                  </a:cubicBezTo>
                  <a:cubicBezTo>
                    <a:pt x="635" y="35941"/>
                    <a:pt x="0" y="32385"/>
                    <a:pt x="0" y="28575"/>
                  </a:cubicBezTo>
                  <a:cubicBezTo>
                    <a:pt x="0" y="24765"/>
                    <a:pt x="762" y="21082"/>
                    <a:pt x="2159" y="17653"/>
                  </a:cubicBezTo>
                  <a:cubicBezTo>
                    <a:pt x="3556" y="14224"/>
                    <a:pt x="5715" y="11049"/>
                    <a:pt x="8382" y="8382"/>
                  </a:cubicBezTo>
                  <a:cubicBezTo>
                    <a:pt x="11049" y="5715"/>
                    <a:pt x="14097" y="3683"/>
                    <a:pt x="17653" y="2159"/>
                  </a:cubicBezTo>
                  <a:cubicBezTo>
                    <a:pt x="21209" y="635"/>
                    <a:pt x="24765" y="0"/>
                    <a:pt x="28575" y="0"/>
                  </a:cubicBezTo>
                  <a:cubicBezTo>
                    <a:pt x="32385" y="0"/>
                    <a:pt x="36068" y="762"/>
                    <a:pt x="39497" y="2159"/>
                  </a:cubicBezTo>
                  <a:cubicBezTo>
                    <a:pt x="42926" y="3556"/>
                    <a:pt x="46101" y="5715"/>
                    <a:pt x="48768" y="8382"/>
                  </a:cubicBezTo>
                  <a:cubicBezTo>
                    <a:pt x="51435" y="11049"/>
                    <a:pt x="53467" y="14097"/>
                    <a:pt x="54991" y="17653"/>
                  </a:cubicBezTo>
                  <a:cubicBezTo>
                    <a:pt x="56515" y="21209"/>
                    <a:pt x="57150" y="24765"/>
                    <a:pt x="57150" y="28575"/>
                  </a:cubicBezTo>
                  <a:close/>
                </a:path>
              </a:pathLst>
            </a:custGeom>
            <a:solidFill>
              <a:srgbClr val="FFFFFF"/>
            </a:solidFill>
          </p:spPr>
        </p:sp>
      </p:grpSp>
      <p:grpSp>
        <p:nvGrpSpPr>
          <p:cNvPr name="Group 10" id="10"/>
          <p:cNvGrpSpPr>
            <a:grpSpLocks noChangeAspect="true"/>
          </p:cNvGrpSpPr>
          <p:nvPr/>
        </p:nvGrpSpPr>
        <p:grpSpPr>
          <a:xfrm rot="0">
            <a:off x="560441" y="5657650"/>
            <a:ext cx="3137383" cy="2752096"/>
            <a:chOff x="0" y="0"/>
            <a:chExt cx="3137383" cy="2752090"/>
          </a:xfrm>
        </p:grpSpPr>
        <p:sp>
          <p:nvSpPr>
            <p:cNvPr name="Freeform 11" id="11"/>
            <p:cNvSpPr/>
            <p:nvPr/>
          </p:nvSpPr>
          <p:spPr>
            <a:xfrm flipH="false" flipV="false" rot="0">
              <a:off x="0" y="0"/>
              <a:ext cx="3137408" cy="2752090"/>
            </a:xfrm>
            <a:custGeom>
              <a:avLst/>
              <a:gdLst/>
              <a:ahLst/>
              <a:cxnLst/>
              <a:rect r="r" b="b" t="t" l="l"/>
              <a:pathLst>
                <a:path h="2752090" w="3137408">
                  <a:moveTo>
                    <a:pt x="0" y="2752090"/>
                  </a:moveTo>
                  <a:lnTo>
                    <a:pt x="3137408" y="2752090"/>
                  </a:lnTo>
                  <a:lnTo>
                    <a:pt x="3137408" y="0"/>
                  </a:lnTo>
                  <a:lnTo>
                    <a:pt x="0" y="0"/>
                  </a:lnTo>
                  <a:close/>
                </a:path>
              </a:pathLst>
            </a:custGeom>
            <a:solidFill>
              <a:srgbClr val="000000">
                <a:alpha val="0"/>
              </a:srgbClr>
            </a:solidFill>
          </p:spPr>
        </p:sp>
      </p:grpSp>
      <p:grpSp>
        <p:nvGrpSpPr>
          <p:cNvPr name="Group 12" id="12"/>
          <p:cNvGrpSpPr>
            <a:grpSpLocks noChangeAspect="true"/>
          </p:cNvGrpSpPr>
          <p:nvPr/>
        </p:nvGrpSpPr>
        <p:grpSpPr>
          <a:xfrm rot="0">
            <a:off x="560441" y="8933612"/>
            <a:ext cx="6243561" cy="1514580"/>
            <a:chOff x="0" y="0"/>
            <a:chExt cx="6243561" cy="1514577"/>
          </a:xfrm>
        </p:grpSpPr>
        <p:sp>
          <p:nvSpPr>
            <p:cNvPr name="Freeform 13" id="13"/>
            <p:cNvSpPr/>
            <p:nvPr/>
          </p:nvSpPr>
          <p:spPr>
            <a:xfrm flipH="false" flipV="false" rot="0">
              <a:off x="0" y="0"/>
              <a:ext cx="6243574" cy="1514602"/>
            </a:xfrm>
            <a:custGeom>
              <a:avLst/>
              <a:gdLst/>
              <a:ahLst/>
              <a:cxnLst/>
              <a:rect r="r" b="b" t="t" l="l"/>
              <a:pathLst>
                <a:path h="1514602" w="6243574">
                  <a:moveTo>
                    <a:pt x="0" y="1514602"/>
                  </a:moveTo>
                  <a:lnTo>
                    <a:pt x="6243574" y="1514602"/>
                  </a:lnTo>
                  <a:lnTo>
                    <a:pt x="6243574" y="0"/>
                  </a:lnTo>
                  <a:lnTo>
                    <a:pt x="0" y="0"/>
                  </a:lnTo>
                  <a:close/>
                </a:path>
              </a:pathLst>
            </a:custGeom>
            <a:solidFill>
              <a:srgbClr val="000000">
                <a:alpha val="0"/>
              </a:srgbClr>
            </a:solidFill>
          </p:spPr>
        </p:sp>
      </p:grpSp>
      <p:grpSp>
        <p:nvGrpSpPr>
          <p:cNvPr name="Group 14" id="14"/>
          <p:cNvGrpSpPr>
            <a:grpSpLocks noChangeAspect="true"/>
          </p:cNvGrpSpPr>
          <p:nvPr/>
        </p:nvGrpSpPr>
        <p:grpSpPr>
          <a:xfrm rot="0">
            <a:off x="692448" y="-63503"/>
            <a:ext cx="6933905" cy="5548055"/>
            <a:chOff x="0" y="0"/>
            <a:chExt cx="6933895" cy="5548058"/>
          </a:xfrm>
        </p:grpSpPr>
        <p:sp>
          <p:nvSpPr>
            <p:cNvPr name="Freeform 15" id="15"/>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6" id="16"/>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7" id="17"/>
            <p:cNvSpPr/>
            <p:nvPr/>
          </p:nvSpPr>
          <p:spPr>
            <a:xfrm flipH="false" flipV="false" rot="0">
              <a:off x="3244723" y="3505327"/>
              <a:ext cx="2999486" cy="1979168"/>
            </a:xfrm>
            <a:custGeom>
              <a:avLst/>
              <a:gdLst/>
              <a:ahLst/>
              <a:cxnLst/>
              <a:rect r="r" b="b" t="t" l="l"/>
              <a:pathLst>
                <a:path h="1979168" w="2999486">
                  <a:moveTo>
                    <a:pt x="0" y="1979168"/>
                  </a:moveTo>
                  <a:lnTo>
                    <a:pt x="2999486" y="1979168"/>
                  </a:lnTo>
                  <a:lnTo>
                    <a:pt x="2999486" y="0"/>
                  </a:lnTo>
                  <a:lnTo>
                    <a:pt x="0" y="0"/>
                  </a:lnTo>
                  <a:close/>
                </a:path>
              </a:pathLst>
            </a:custGeom>
            <a:solidFill>
              <a:srgbClr val="000000">
                <a:alpha val="0"/>
              </a:srgbClr>
            </a:solidFill>
          </p:spPr>
        </p:sp>
      </p:grpSp>
      <p:grpSp>
        <p:nvGrpSpPr>
          <p:cNvPr name="Group 18" id="18"/>
          <p:cNvGrpSpPr>
            <a:grpSpLocks noChangeAspect="true"/>
          </p:cNvGrpSpPr>
          <p:nvPr/>
        </p:nvGrpSpPr>
        <p:grpSpPr>
          <a:xfrm rot="0">
            <a:off x="4266333" y="6021753"/>
            <a:ext cx="2302612" cy="2632548"/>
            <a:chOff x="0" y="0"/>
            <a:chExt cx="2302612" cy="2632545"/>
          </a:xfrm>
        </p:grpSpPr>
        <p:sp>
          <p:nvSpPr>
            <p:cNvPr name="Freeform 19" id="19"/>
            <p:cNvSpPr/>
            <p:nvPr/>
          </p:nvSpPr>
          <p:spPr>
            <a:xfrm flipH="false" flipV="false" rot="0">
              <a:off x="63754" y="66040"/>
              <a:ext cx="2175256" cy="2497963"/>
            </a:xfrm>
            <a:custGeom>
              <a:avLst/>
              <a:gdLst/>
              <a:ahLst/>
              <a:cxnLst/>
              <a:rect r="r" b="b" t="t" l="l"/>
              <a:pathLst>
                <a:path h="2497963" w="2175256">
                  <a:moveTo>
                    <a:pt x="1303528" y="96774"/>
                  </a:moveTo>
                  <a:cubicBezTo>
                    <a:pt x="1367155" y="96774"/>
                    <a:pt x="1430528" y="104648"/>
                    <a:pt x="1492631" y="120523"/>
                  </a:cubicBezTo>
                  <a:cubicBezTo>
                    <a:pt x="1592326" y="145923"/>
                    <a:pt x="1684782" y="190627"/>
                    <a:pt x="1767332" y="253365"/>
                  </a:cubicBezTo>
                  <a:cubicBezTo>
                    <a:pt x="1849882" y="316103"/>
                    <a:pt x="1917827" y="393192"/>
                    <a:pt x="1969008" y="482346"/>
                  </a:cubicBezTo>
                  <a:cubicBezTo>
                    <a:pt x="2018411" y="568579"/>
                    <a:pt x="2050415" y="662432"/>
                    <a:pt x="2063877" y="761365"/>
                  </a:cubicBezTo>
                  <a:cubicBezTo>
                    <a:pt x="2077339" y="860298"/>
                    <a:pt x="2071751" y="959231"/>
                    <a:pt x="2047240" y="1055624"/>
                  </a:cubicBezTo>
                  <a:cubicBezTo>
                    <a:pt x="2021840" y="1155319"/>
                    <a:pt x="1977136" y="1247775"/>
                    <a:pt x="1914398" y="1330325"/>
                  </a:cubicBezTo>
                  <a:cubicBezTo>
                    <a:pt x="1851660" y="1412875"/>
                    <a:pt x="1774571" y="1480820"/>
                    <a:pt x="1685417" y="1532001"/>
                  </a:cubicBezTo>
                  <a:cubicBezTo>
                    <a:pt x="1599184" y="1581404"/>
                    <a:pt x="1505331" y="1613408"/>
                    <a:pt x="1406398" y="1626870"/>
                  </a:cubicBezTo>
                  <a:cubicBezTo>
                    <a:pt x="1371346" y="1631696"/>
                    <a:pt x="1336294" y="1634109"/>
                    <a:pt x="1301369" y="1634109"/>
                  </a:cubicBezTo>
                  <a:cubicBezTo>
                    <a:pt x="1237742" y="1634109"/>
                    <a:pt x="1174369" y="1626235"/>
                    <a:pt x="1112266" y="1610360"/>
                  </a:cubicBezTo>
                  <a:cubicBezTo>
                    <a:pt x="1012571" y="1584960"/>
                    <a:pt x="920242" y="1540256"/>
                    <a:pt x="837565" y="1477518"/>
                  </a:cubicBezTo>
                  <a:lnTo>
                    <a:pt x="837565" y="1477518"/>
                  </a:lnTo>
                  <a:cubicBezTo>
                    <a:pt x="754888" y="1414780"/>
                    <a:pt x="687070" y="1337691"/>
                    <a:pt x="635889" y="1248537"/>
                  </a:cubicBezTo>
                  <a:cubicBezTo>
                    <a:pt x="586359" y="1162304"/>
                    <a:pt x="554482" y="1068451"/>
                    <a:pt x="541020" y="969518"/>
                  </a:cubicBezTo>
                  <a:cubicBezTo>
                    <a:pt x="527558" y="870585"/>
                    <a:pt x="533146" y="771652"/>
                    <a:pt x="557657" y="675386"/>
                  </a:cubicBezTo>
                  <a:cubicBezTo>
                    <a:pt x="583057" y="575691"/>
                    <a:pt x="627761" y="483235"/>
                    <a:pt x="690499" y="400685"/>
                  </a:cubicBezTo>
                  <a:cubicBezTo>
                    <a:pt x="753237" y="318135"/>
                    <a:pt x="830326" y="250190"/>
                    <a:pt x="919480" y="198882"/>
                  </a:cubicBezTo>
                  <a:cubicBezTo>
                    <a:pt x="1005713" y="149479"/>
                    <a:pt x="1099566" y="117475"/>
                    <a:pt x="1198499" y="104013"/>
                  </a:cubicBezTo>
                  <a:cubicBezTo>
                    <a:pt x="1233551" y="99187"/>
                    <a:pt x="1268603" y="96774"/>
                    <a:pt x="1303528" y="96774"/>
                  </a:cubicBezTo>
                  <a:close/>
                  <a:moveTo>
                    <a:pt x="726313" y="1514602"/>
                  </a:moveTo>
                  <a:lnTo>
                    <a:pt x="779145" y="1554734"/>
                  </a:lnTo>
                  <a:cubicBezTo>
                    <a:pt x="779145" y="1554734"/>
                    <a:pt x="779145" y="1554734"/>
                    <a:pt x="779145" y="1554734"/>
                  </a:cubicBezTo>
                  <a:cubicBezTo>
                    <a:pt x="779145" y="1554734"/>
                    <a:pt x="779145" y="1554734"/>
                    <a:pt x="779145" y="1554734"/>
                  </a:cubicBezTo>
                  <a:lnTo>
                    <a:pt x="831977" y="1594866"/>
                  </a:lnTo>
                  <a:lnTo>
                    <a:pt x="751713" y="1700530"/>
                  </a:lnTo>
                  <a:lnTo>
                    <a:pt x="698881" y="1660398"/>
                  </a:lnTo>
                  <a:lnTo>
                    <a:pt x="646049" y="1620266"/>
                  </a:lnTo>
                  <a:lnTo>
                    <a:pt x="726313" y="1514602"/>
                  </a:lnTo>
                  <a:close/>
                  <a:moveTo>
                    <a:pt x="531876" y="1654937"/>
                  </a:moveTo>
                  <a:lnTo>
                    <a:pt x="549021" y="1668018"/>
                  </a:lnTo>
                  <a:cubicBezTo>
                    <a:pt x="549021" y="1668018"/>
                    <a:pt x="549021" y="1668018"/>
                    <a:pt x="549021" y="1668018"/>
                  </a:cubicBezTo>
                  <a:lnTo>
                    <a:pt x="640334" y="1737360"/>
                  </a:lnTo>
                  <a:lnTo>
                    <a:pt x="748919" y="1819783"/>
                  </a:lnTo>
                  <a:lnTo>
                    <a:pt x="347853" y="2347722"/>
                  </a:lnTo>
                  <a:cubicBezTo>
                    <a:pt x="321056" y="2383028"/>
                    <a:pt x="280289" y="2401570"/>
                    <a:pt x="239141" y="2401570"/>
                  </a:cubicBezTo>
                  <a:cubicBezTo>
                    <a:pt x="210439" y="2401570"/>
                    <a:pt x="181483" y="2392553"/>
                    <a:pt x="156845" y="2373884"/>
                  </a:cubicBezTo>
                  <a:cubicBezTo>
                    <a:pt x="97028" y="2328418"/>
                    <a:pt x="85344" y="2242820"/>
                    <a:pt x="130683" y="2182876"/>
                  </a:cubicBezTo>
                  <a:lnTo>
                    <a:pt x="531876" y="1654937"/>
                  </a:lnTo>
                  <a:close/>
                  <a:moveTo>
                    <a:pt x="1303655" y="0"/>
                  </a:moveTo>
                  <a:cubicBezTo>
                    <a:pt x="1264285" y="0"/>
                    <a:pt x="1224915" y="2667"/>
                    <a:pt x="1185418" y="8128"/>
                  </a:cubicBezTo>
                  <a:cubicBezTo>
                    <a:pt x="1074039" y="23368"/>
                    <a:pt x="968375" y="59309"/>
                    <a:pt x="871347" y="115062"/>
                  </a:cubicBezTo>
                  <a:cubicBezTo>
                    <a:pt x="770890" y="172720"/>
                    <a:pt x="684022" y="249174"/>
                    <a:pt x="613410" y="342138"/>
                  </a:cubicBezTo>
                  <a:cubicBezTo>
                    <a:pt x="542798" y="435102"/>
                    <a:pt x="492379" y="539242"/>
                    <a:pt x="463804" y="651510"/>
                  </a:cubicBezTo>
                  <a:cubicBezTo>
                    <a:pt x="436245" y="759968"/>
                    <a:pt x="429895" y="871347"/>
                    <a:pt x="445135" y="982726"/>
                  </a:cubicBezTo>
                  <a:cubicBezTo>
                    <a:pt x="460375" y="1094105"/>
                    <a:pt x="496316" y="1199769"/>
                    <a:pt x="552069" y="1296797"/>
                  </a:cubicBezTo>
                  <a:cubicBezTo>
                    <a:pt x="582422" y="1349756"/>
                    <a:pt x="618109" y="1398905"/>
                    <a:pt x="658495" y="1443863"/>
                  </a:cubicBezTo>
                  <a:lnTo>
                    <a:pt x="568960" y="1561719"/>
                  </a:lnTo>
                  <a:lnTo>
                    <a:pt x="551815" y="1548638"/>
                  </a:lnTo>
                  <a:cubicBezTo>
                    <a:pt x="543052" y="1542034"/>
                    <a:pt x="532765" y="1538732"/>
                    <a:pt x="522605" y="1538732"/>
                  </a:cubicBezTo>
                  <a:cubicBezTo>
                    <a:pt x="508000" y="1538732"/>
                    <a:pt x="493522" y="1545336"/>
                    <a:pt x="483997" y="1557909"/>
                  </a:cubicBezTo>
                  <a:lnTo>
                    <a:pt x="53721" y="2124329"/>
                  </a:lnTo>
                  <a:cubicBezTo>
                    <a:pt x="16129" y="2173859"/>
                    <a:pt x="0" y="2235200"/>
                    <a:pt x="8382" y="2296922"/>
                  </a:cubicBezTo>
                  <a:cubicBezTo>
                    <a:pt x="16764" y="2358644"/>
                    <a:pt x="48768" y="2413254"/>
                    <a:pt x="98298" y="2450973"/>
                  </a:cubicBezTo>
                  <a:cubicBezTo>
                    <a:pt x="135255" y="2479040"/>
                    <a:pt x="178562" y="2495042"/>
                    <a:pt x="223774" y="2497963"/>
                  </a:cubicBezTo>
                  <a:lnTo>
                    <a:pt x="253746" y="2497963"/>
                  </a:lnTo>
                  <a:cubicBezTo>
                    <a:pt x="259461" y="2497582"/>
                    <a:pt x="265049" y="2497074"/>
                    <a:pt x="270764" y="2496312"/>
                  </a:cubicBezTo>
                  <a:cubicBezTo>
                    <a:pt x="332486" y="2487930"/>
                    <a:pt x="387096" y="2455926"/>
                    <a:pt x="424815" y="2406396"/>
                  </a:cubicBezTo>
                  <a:lnTo>
                    <a:pt x="855091" y="1839849"/>
                  </a:lnTo>
                  <a:cubicBezTo>
                    <a:pt x="862838" y="1829689"/>
                    <a:pt x="866267" y="1816735"/>
                    <a:pt x="864489" y="1804035"/>
                  </a:cubicBezTo>
                  <a:cubicBezTo>
                    <a:pt x="862711" y="1791335"/>
                    <a:pt x="855980" y="1779778"/>
                    <a:pt x="845820" y="1772031"/>
                  </a:cubicBezTo>
                  <a:lnTo>
                    <a:pt x="828675" y="1758950"/>
                  </a:lnTo>
                  <a:lnTo>
                    <a:pt x="918210" y="1641094"/>
                  </a:lnTo>
                  <a:cubicBezTo>
                    <a:pt x="972439" y="1668018"/>
                    <a:pt x="1029335" y="1689100"/>
                    <a:pt x="1088517" y="1704213"/>
                  </a:cubicBezTo>
                  <a:cubicBezTo>
                    <a:pt x="1158494" y="1721993"/>
                    <a:pt x="1229741" y="1731010"/>
                    <a:pt x="1301496" y="1731010"/>
                  </a:cubicBezTo>
                  <a:cubicBezTo>
                    <a:pt x="1340866" y="1731010"/>
                    <a:pt x="1380236" y="1728343"/>
                    <a:pt x="1419733" y="1722882"/>
                  </a:cubicBezTo>
                  <a:cubicBezTo>
                    <a:pt x="1531112" y="1707642"/>
                    <a:pt x="1636776" y="1671701"/>
                    <a:pt x="1733804" y="1615948"/>
                  </a:cubicBezTo>
                  <a:cubicBezTo>
                    <a:pt x="1834261" y="1558290"/>
                    <a:pt x="1921129" y="1481836"/>
                    <a:pt x="1991741" y="1388872"/>
                  </a:cubicBezTo>
                  <a:cubicBezTo>
                    <a:pt x="2062353" y="1295908"/>
                    <a:pt x="2112772" y="1191768"/>
                    <a:pt x="2141347" y="1079500"/>
                  </a:cubicBezTo>
                  <a:cubicBezTo>
                    <a:pt x="2168906" y="971042"/>
                    <a:pt x="2175256" y="859663"/>
                    <a:pt x="2160016" y="748284"/>
                  </a:cubicBezTo>
                  <a:cubicBezTo>
                    <a:pt x="2144776" y="636905"/>
                    <a:pt x="2108835" y="531241"/>
                    <a:pt x="2053082" y="434213"/>
                  </a:cubicBezTo>
                  <a:cubicBezTo>
                    <a:pt x="1995424" y="333756"/>
                    <a:pt x="1918970" y="246888"/>
                    <a:pt x="1826006" y="176276"/>
                  </a:cubicBezTo>
                  <a:cubicBezTo>
                    <a:pt x="1733042" y="105664"/>
                    <a:pt x="1628902" y="55372"/>
                    <a:pt x="1516507" y="26797"/>
                  </a:cubicBezTo>
                  <a:cubicBezTo>
                    <a:pt x="1446530" y="9017"/>
                    <a:pt x="1375283" y="0"/>
                    <a:pt x="1303528" y="0"/>
                  </a:cubicBezTo>
                  <a:close/>
                </a:path>
              </a:pathLst>
            </a:custGeom>
            <a:solidFill>
              <a:srgbClr val="80B2E8"/>
            </a:solidFill>
          </p:spPr>
        </p:sp>
        <p:sp>
          <p:nvSpPr>
            <p:cNvPr name="Freeform 20" id="20"/>
            <p:cNvSpPr/>
            <p:nvPr/>
          </p:nvSpPr>
          <p:spPr>
            <a:xfrm flipH="false" flipV="false" rot="0">
              <a:off x="660400" y="225552"/>
              <a:ext cx="1411859" cy="1406271"/>
            </a:xfrm>
            <a:custGeom>
              <a:avLst/>
              <a:gdLst/>
              <a:ahLst/>
              <a:cxnLst/>
              <a:rect r="r" b="b" t="t" l="l"/>
              <a:pathLst>
                <a:path h="1406271" w="1411859">
                  <a:moveTo>
                    <a:pt x="282448" y="1263523"/>
                  </a:moveTo>
                  <a:cubicBezTo>
                    <a:pt x="357759" y="1320673"/>
                    <a:pt x="441960" y="1361440"/>
                    <a:pt x="532765" y="1384554"/>
                  </a:cubicBezTo>
                  <a:cubicBezTo>
                    <a:pt x="589407" y="1399032"/>
                    <a:pt x="647065" y="1406271"/>
                    <a:pt x="705104" y="1406271"/>
                  </a:cubicBezTo>
                  <a:cubicBezTo>
                    <a:pt x="736981" y="1406271"/>
                    <a:pt x="768858" y="1404112"/>
                    <a:pt x="800735" y="1399667"/>
                  </a:cubicBezTo>
                  <a:cubicBezTo>
                    <a:pt x="890778" y="1387348"/>
                    <a:pt x="976249" y="1358265"/>
                    <a:pt x="1054735" y="1313180"/>
                  </a:cubicBezTo>
                  <a:cubicBezTo>
                    <a:pt x="1136015" y="1266571"/>
                    <a:pt x="1206246" y="1204722"/>
                    <a:pt x="1263396" y="1129411"/>
                  </a:cubicBezTo>
                  <a:cubicBezTo>
                    <a:pt x="1320546" y="1054100"/>
                    <a:pt x="1361313" y="969899"/>
                    <a:pt x="1384427" y="879094"/>
                  </a:cubicBezTo>
                  <a:cubicBezTo>
                    <a:pt x="1406779" y="791337"/>
                    <a:pt x="1411859" y="701167"/>
                    <a:pt x="1399540" y="611124"/>
                  </a:cubicBezTo>
                  <a:cubicBezTo>
                    <a:pt x="1387221" y="521081"/>
                    <a:pt x="1358138" y="435610"/>
                    <a:pt x="1313053" y="357124"/>
                  </a:cubicBezTo>
                  <a:cubicBezTo>
                    <a:pt x="1266444" y="275844"/>
                    <a:pt x="1204595" y="205613"/>
                    <a:pt x="1129284" y="148463"/>
                  </a:cubicBezTo>
                  <a:cubicBezTo>
                    <a:pt x="1053973" y="91313"/>
                    <a:pt x="969772" y="50546"/>
                    <a:pt x="878967" y="27432"/>
                  </a:cubicBezTo>
                  <a:cubicBezTo>
                    <a:pt x="791210" y="5080"/>
                    <a:pt x="701040" y="0"/>
                    <a:pt x="610997" y="12319"/>
                  </a:cubicBezTo>
                  <a:cubicBezTo>
                    <a:pt x="520954" y="24638"/>
                    <a:pt x="435483" y="53721"/>
                    <a:pt x="356997" y="98806"/>
                  </a:cubicBezTo>
                  <a:cubicBezTo>
                    <a:pt x="275717" y="145415"/>
                    <a:pt x="205486" y="207264"/>
                    <a:pt x="148336" y="282575"/>
                  </a:cubicBezTo>
                  <a:cubicBezTo>
                    <a:pt x="91186" y="357886"/>
                    <a:pt x="50419" y="442087"/>
                    <a:pt x="27305" y="532892"/>
                  </a:cubicBezTo>
                  <a:cubicBezTo>
                    <a:pt x="5080" y="620649"/>
                    <a:pt x="0" y="710692"/>
                    <a:pt x="12192" y="800862"/>
                  </a:cubicBezTo>
                  <a:cubicBezTo>
                    <a:pt x="24384" y="891032"/>
                    <a:pt x="53594" y="976376"/>
                    <a:pt x="98679" y="1054862"/>
                  </a:cubicBezTo>
                  <a:cubicBezTo>
                    <a:pt x="145288" y="1136142"/>
                    <a:pt x="207137" y="1206373"/>
                    <a:pt x="282448" y="1263523"/>
                  </a:cubicBezTo>
                  <a:close/>
                  <a:moveTo>
                    <a:pt x="108204" y="787654"/>
                  </a:moveTo>
                  <a:cubicBezTo>
                    <a:pt x="97536" y="710057"/>
                    <a:pt x="101981" y="632333"/>
                    <a:pt x="121285" y="556768"/>
                  </a:cubicBezTo>
                  <a:cubicBezTo>
                    <a:pt x="141224" y="478536"/>
                    <a:pt x="176276" y="406019"/>
                    <a:pt x="225552" y="341122"/>
                  </a:cubicBezTo>
                  <a:cubicBezTo>
                    <a:pt x="274828" y="276225"/>
                    <a:pt x="335280" y="223012"/>
                    <a:pt x="405384" y="182753"/>
                  </a:cubicBezTo>
                  <a:cubicBezTo>
                    <a:pt x="473075" y="143891"/>
                    <a:pt x="546735" y="118872"/>
                    <a:pt x="624332" y="108204"/>
                  </a:cubicBezTo>
                  <a:cubicBezTo>
                    <a:pt x="701929" y="97536"/>
                    <a:pt x="779653" y="101981"/>
                    <a:pt x="855218" y="121285"/>
                  </a:cubicBezTo>
                  <a:cubicBezTo>
                    <a:pt x="933450" y="141224"/>
                    <a:pt x="1005967" y="176276"/>
                    <a:pt x="1070864" y="225552"/>
                  </a:cubicBezTo>
                  <a:cubicBezTo>
                    <a:pt x="1135761" y="274828"/>
                    <a:pt x="1188974" y="335280"/>
                    <a:pt x="1229233" y="405384"/>
                  </a:cubicBezTo>
                  <a:cubicBezTo>
                    <a:pt x="1268095" y="473075"/>
                    <a:pt x="1293114" y="546735"/>
                    <a:pt x="1303782" y="624332"/>
                  </a:cubicBezTo>
                  <a:cubicBezTo>
                    <a:pt x="1314450" y="701929"/>
                    <a:pt x="1310005" y="779653"/>
                    <a:pt x="1290701" y="855218"/>
                  </a:cubicBezTo>
                  <a:cubicBezTo>
                    <a:pt x="1270762" y="933450"/>
                    <a:pt x="1235710" y="1005967"/>
                    <a:pt x="1186434" y="1070864"/>
                  </a:cubicBezTo>
                  <a:cubicBezTo>
                    <a:pt x="1137158" y="1135761"/>
                    <a:pt x="1076706" y="1188974"/>
                    <a:pt x="1006602" y="1229233"/>
                  </a:cubicBezTo>
                  <a:cubicBezTo>
                    <a:pt x="938911" y="1268095"/>
                    <a:pt x="865251" y="1293114"/>
                    <a:pt x="787654" y="1303782"/>
                  </a:cubicBezTo>
                  <a:cubicBezTo>
                    <a:pt x="710057" y="1314450"/>
                    <a:pt x="632333" y="1310005"/>
                    <a:pt x="556768" y="1290701"/>
                  </a:cubicBezTo>
                  <a:cubicBezTo>
                    <a:pt x="478536" y="1270762"/>
                    <a:pt x="406019" y="1235710"/>
                    <a:pt x="341122" y="1186434"/>
                  </a:cubicBezTo>
                  <a:cubicBezTo>
                    <a:pt x="276225" y="1137158"/>
                    <a:pt x="223012" y="1076706"/>
                    <a:pt x="182753" y="1006602"/>
                  </a:cubicBezTo>
                  <a:cubicBezTo>
                    <a:pt x="143891" y="938911"/>
                    <a:pt x="118872" y="865251"/>
                    <a:pt x="108204" y="787654"/>
                  </a:cubicBezTo>
                  <a:close/>
                </a:path>
              </a:pathLst>
            </a:custGeom>
            <a:solidFill>
              <a:srgbClr val="80B2E8"/>
            </a:solidFill>
          </p:spPr>
        </p:sp>
        <p:sp>
          <p:nvSpPr>
            <p:cNvPr name="Freeform 21" id="21"/>
            <p:cNvSpPr/>
            <p:nvPr/>
          </p:nvSpPr>
          <p:spPr>
            <a:xfrm flipH="false" flipV="false" rot="0">
              <a:off x="895858" y="461391"/>
              <a:ext cx="940689" cy="938530"/>
            </a:xfrm>
            <a:custGeom>
              <a:avLst/>
              <a:gdLst/>
              <a:ahLst/>
              <a:cxnLst/>
              <a:rect r="r" b="b" t="t" l="l"/>
              <a:pathLst>
                <a:path h="938530" w="940689">
                  <a:moveTo>
                    <a:pt x="110490" y="581914"/>
                  </a:moveTo>
                  <a:lnTo>
                    <a:pt x="61976" y="652780"/>
                  </a:lnTo>
                  <a:cubicBezTo>
                    <a:pt x="52197" y="667004"/>
                    <a:pt x="52451" y="685927"/>
                    <a:pt x="62611" y="699897"/>
                  </a:cubicBezTo>
                  <a:lnTo>
                    <a:pt x="126238" y="787400"/>
                  </a:lnTo>
                  <a:cubicBezTo>
                    <a:pt x="136398" y="801370"/>
                    <a:pt x="154305" y="807466"/>
                    <a:pt x="170815" y="802513"/>
                  </a:cubicBezTo>
                  <a:lnTo>
                    <a:pt x="253238" y="778256"/>
                  </a:lnTo>
                  <a:lnTo>
                    <a:pt x="294894" y="803783"/>
                  </a:lnTo>
                  <a:lnTo>
                    <a:pt x="310642" y="888238"/>
                  </a:lnTo>
                  <a:cubicBezTo>
                    <a:pt x="313817" y="905256"/>
                    <a:pt x="327406" y="918337"/>
                    <a:pt x="344424" y="921131"/>
                  </a:cubicBezTo>
                  <a:lnTo>
                    <a:pt x="451231" y="938022"/>
                  </a:lnTo>
                  <a:cubicBezTo>
                    <a:pt x="453390" y="938403"/>
                    <a:pt x="455549" y="938530"/>
                    <a:pt x="457581" y="938530"/>
                  </a:cubicBezTo>
                  <a:cubicBezTo>
                    <a:pt x="472313" y="938530"/>
                    <a:pt x="486283" y="930529"/>
                    <a:pt x="493395" y="917194"/>
                  </a:cubicBezTo>
                  <a:lnTo>
                    <a:pt x="534416" y="841756"/>
                  </a:lnTo>
                  <a:lnTo>
                    <a:pt x="581914" y="830326"/>
                  </a:lnTo>
                  <a:lnTo>
                    <a:pt x="652780" y="878840"/>
                  </a:lnTo>
                  <a:cubicBezTo>
                    <a:pt x="667004" y="888619"/>
                    <a:pt x="685927" y="888365"/>
                    <a:pt x="699897" y="878205"/>
                  </a:cubicBezTo>
                  <a:lnTo>
                    <a:pt x="787400" y="814578"/>
                  </a:lnTo>
                  <a:cubicBezTo>
                    <a:pt x="801370" y="804418"/>
                    <a:pt x="807466" y="786511"/>
                    <a:pt x="802513" y="770001"/>
                  </a:cubicBezTo>
                  <a:lnTo>
                    <a:pt x="778256" y="687578"/>
                  </a:lnTo>
                  <a:lnTo>
                    <a:pt x="803783" y="645922"/>
                  </a:lnTo>
                  <a:lnTo>
                    <a:pt x="888238" y="630174"/>
                  </a:lnTo>
                  <a:cubicBezTo>
                    <a:pt x="905256" y="626999"/>
                    <a:pt x="918337" y="613410"/>
                    <a:pt x="921131" y="596392"/>
                  </a:cubicBezTo>
                  <a:lnTo>
                    <a:pt x="938022" y="489585"/>
                  </a:lnTo>
                  <a:cubicBezTo>
                    <a:pt x="940689" y="472567"/>
                    <a:pt x="932434" y="455549"/>
                    <a:pt x="917194" y="447294"/>
                  </a:cubicBezTo>
                  <a:lnTo>
                    <a:pt x="841756" y="406273"/>
                  </a:lnTo>
                  <a:lnTo>
                    <a:pt x="830326" y="358775"/>
                  </a:lnTo>
                  <a:lnTo>
                    <a:pt x="878840" y="287909"/>
                  </a:lnTo>
                  <a:cubicBezTo>
                    <a:pt x="888619" y="273685"/>
                    <a:pt x="888365" y="254762"/>
                    <a:pt x="878205" y="240792"/>
                  </a:cubicBezTo>
                  <a:lnTo>
                    <a:pt x="814578" y="153289"/>
                  </a:lnTo>
                  <a:cubicBezTo>
                    <a:pt x="804418" y="139319"/>
                    <a:pt x="786511" y="133223"/>
                    <a:pt x="770001" y="138176"/>
                  </a:cubicBezTo>
                  <a:lnTo>
                    <a:pt x="687578" y="162433"/>
                  </a:lnTo>
                  <a:lnTo>
                    <a:pt x="645922" y="136906"/>
                  </a:lnTo>
                  <a:lnTo>
                    <a:pt x="630174" y="52451"/>
                  </a:lnTo>
                  <a:cubicBezTo>
                    <a:pt x="626999" y="35433"/>
                    <a:pt x="613410" y="22352"/>
                    <a:pt x="596392" y="19558"/>
                  </a:cubicBezTo>
                  <a:lnTo>
                    <a:pt x="489585" y="2667"/>
                  </a:lnTo>
                  <a:cubicBezTo>
                    <a:pt x="472567" y="0"/>
                    <a:pt x="455549" y="8255"/>
                    <a:pt x="447294" y="23495"/>
                  </a:cubicBezTo>
                  <a:lnTo>
                    <a:pt x="406273" y="98933"/>
                  </a:lnTo>
                  <a:lnTo>
                    <a:pt x="358775" y="110363"/>
                  </a:lnTo>
                  <a:lnTo>
                    <a:pt x="287909" y="61849"/>
                  </a:lnTo>
                  <a:cubicBezTo>
                    <a:pt x="273685" y="52070"/>
                    <a:pt x="254762" y="52324"/>
                    <a:pt x="240792" y="62484"/>
                  </a:cubicBezTo>
                  <a:lnTo>
                    <a:pt x="153289" y="126111"/>
                  </a:lnTo>
                  <a:cubicBezTo>
                    <a:pt x="139319" y="136271"/>
                    <a:pt x="133223" y="154178"/>
                    <a:pt x="138176" y="170688"/>
                  </a:cubicBezTo>
                  <a:lnTo>
                    <a:pt x="162433" y="253111"/>
                  </a:lnTo>
                  <a:lnTo>
                    <a:pt x="136906" y="294767"/>
                  </a:lnTo>
                  <a:lnTo>
                    <a:pt x="52451" y="310515"/>
                  </a:lnTo>
                  <a:cubicBezTo>
                    <a:pt x="35433" y="313690"/>
                    <a:pt x="22352" y="327279"/>
                    <a:pt x="19558" y="344297"/>
                  </a:cubicBezTo>
                  <a:lnTo>
                    <a:pt x="2667" y="451104"/>
                  </a:lnTo>
                  <a:cubicBezTo>
                    <a:pt x="0" y="468122"/>
                    <a:pt x="8255" y="485140"/>
                    <a:pt x="23495" y="493395"/>
                  </a:cubicBezTo>
                  <a:lnTo>
                    <a:pt x="98933" y="534416"/>
                  </a:lnTo>
                  <a:lnTo>
                    <a:pt x="110363" y="581914"/>
                  </a:lnTo>
                  <a:close/>
                  <a:moveTo>
                    <a:pt x="95885" y="385445"/>
                  </a:moveTo>
                  <a:lnTo>
                    <a:pt x="169799" y="371602"/>
                  </a:lnTo>
                  <a:cubicBezTo>
                    <a:pt x="181102" y="369443"/>
                    <a:pt x="191135" y="362585"/>
                    <a:pt x="197104" y="352806"/>
                  </a:cubicBezTo>
                  <a:lnTo>
                    <a:pt x="241554" y="280162"/>
                  </a:lnTo>
                  <a:cubicBezTo>
                    <a:pt x="247650" y="270256"/>
                    <a:pt x="249174" y="258318"/>
                    <a:pt x="245872" y="247269"/>
                  </a:cubicBezTo>
                  <a:lnTo>
                    <a:pt x="224536" y="175133"/>
                  </a:lnTo>
                  <a:lnTo>
                    <a:pt x="265303" y="145415"/>
                  </a:lnTo>
                  <a:lnTo>
                    <a:pt x="327406" y="187960"/>
                  </a:lnTo>
                  <a:cubicBezTo>
                    <a:pt x="336931" y="194437"/>
                    <a:pt x="348742" y="196723"/>
                    <a:pt x="360045" y="193929"/>
                  </a:cubicBezTo>
                  <a:lnTo>
                    <a:pt x="442849" y="173990"/>
                  </a:lnTo>
                  <a:cubicBezTo>
                    <a:pt x="454025" y="171323"/>
                    <a:pt x="463677" y="163957"/>
                    <a:pt x="469138" y="153797"/>
                  </a:cubicBezTo>
                  <a:lnTo>
                    <a:pt x="505079" y="87757"/>
                  </a:lnTo>
                  <a:lnTo>
                    <a:pt x="554990" y="95631"/>
                  </a:lnTo>
                  <a:lnTo>
                    <a:pt x="568833" y="169545"/>
                  </a:lnTo>
                  <a:cubicBezTo>
                    <a:pt x="570992" y="180848"/>
                    <a:pt x="577850" y="190881"/>
                    <a:pt x="587629" y="196850"/>
                  </a:cubicBezTo>
                  <a:lnTo>
                    <a:pt x="660273" y="241300"/>
                  </a:lnTo>
                  <a:cubicBezTo>
                    <a:pt x="670179" y="247396"/>
                    <a:pt x="682117" y="248920"/>
                    <a:pt x="693166" y="245618"/>
                  </a:cubicBezTo>
                  <a:lnTo>
                    <a:pt x="765556" y="224409"/>
                  </a:lnTo>
                  <a:lnTo>
                    <a:pt x="795274" y="265176"/>
                  </a:lnTo>
                  <a:lnTo>
                    <a:pt x="752729" y="327279"/>
                  </a:lnTo>
                  <a:cubicBezTo>
                    <a:pt x="746252" y="336804"/>
                    <a:pt x="743966" y="348615"/>
                    <a:pt x="746760" y="359918"/>
                  </a:cubicBezTo>
                  <a:lnTo>
                    <a:pt x="766699" y="442722"/>
                  </a:lnTo>
                  <a:cubicBezTo>
                    <a:pt x="769366" y="453898"/>
                    <a:pt x="776732" y="463550"/>
                    <a:pt x="786892" y="469011"/>
                  </a:cubicBezTo>
                  <a:lnTo>
                    <a:pt x="852932" y="504952"/>
                  </a:lnTo>
                  <a:lnTo>
                    <a:pt x="845058" y="554863"/>
                  </a:lnTo>
                  <a:lnTo>
                    <a:pt x="771144" y="568706"/>
                  </a:lnTo>
                  <a:cubicBezTo>
                    <a:pt x="759841" y="570865"/>
                    <a:pt x="749808" y="577723"/>
                    <a:pt x="743839" y="587502"/>
                  </a:cubicBezTo>
                  <a:lnTo>
                    <a:pt x="699389" y="660146"/>
                  </a:lnTo>
                  <a:cubicBezTo>
                    <a:pt x="693293" y="670052"/>
                    <a:pt x="691769" y="681990"/>
                    <a:pt x="695071" y="693039"/>
                  </a:cubicBezTo>
                  <a:lnTo>
                    <a:pt x="716407" y="765175"/>
                  </a:lnTo>
                  <a:lnTo>
                    <a:pt x="675640" y="794893"/>
                  </a:lnTo>
                  <a:lnTo>
                    <a:pt x="613537" y="752348"/>
                  </a:lnTo>
                  <a:cubicBezTo>
                    <a:pt x="604012" y="745871"/>
                    <a:pt x="592201" y="743585"/>
                    <a:pt x="580898" y="746379"/>
                  </a:cubicBezTo>
                  <a:lnTo>
                    <a:pt x="498094" y="766318"/>
                  </a:lnTo>
                  <a:cubicBezTo>
                    <a:pt x="486918" y="768985"/>
                    <a:pt x="477266" y="776351"/>
                    <a:pt x="471805" y="786511"/>
                  </a:cubicBezTo>
                  <a:lnTo>
                    <a:pt x="435864" y="852551"/>
                  </a:lnTo>
                  <a:lnTo>
                    <a:pt x="385953" y="844677"/>
                  </a:lnTo>
                  <a:lnTo>
                    <a:pt x="372110" y="770763"/>
                  </a:lnTo>
                  <a:cubicBezTo>
                    <a:pt x="369951" y="759460"/>
                    <a:pt x="363093" y="749427"/>
                    <a:pt x="353314" y="743458"/>
                  </a:cubicBezTo>
                  <a:lnTo>
                    <a:pt x="280670" y="699008"/>
                  </a:lnTo>
                  <a:cubicBezTo>
                    <a:pt x="270764" y="692912"/>
                    <a:pt x="258826" y="691388"/>
                    <a:pt x="247777" y="694690"/>
                  </a:cubicBezTo>
                  <a:lnTo>
                    <a:pt x="175387" y="715899"/>
                  </a:lnTo>
                  <a:lnTo>
                    <a:pt x="145669" y="675132"/>
                  </a:lnTo>
                  <a:lnTo>
                    <a:pt x="188214" y="613029"/>
                  </a:lnTo>
                  <a:cubicBezTo>
                    <a:pt x="194691" y="603504"/>
                    <a:pt x="196977" y="591693"/>
                    <a:pt x="194183" y="580390"/>
                  </a:cubicBezTo>
                  <a:lnTo>
                    <a:pt x="174244" y="497586"/>
                  </a:lnTo>
                  <a:cubicBezTo>
                    <a:pt x="171577" y="486410"/>
                    <a:pt x="164211" y="476758"/>
                    <a:pt x="154051" y="471297"/>
                  </a:cubicBezTo>
                  <a:lnTo>
                    <a:pt x="88011" y="435356"/>
                  </a:lnTo>
                  <a:lnTo>
                    <a:pt x="95885" y="385445"/>
                  </a:lnTo>
                  <a:close/>
                </a:path>
              </a:pathLst>
            </a:custGeom>
            <a:solidFill>
              <a:srgbClr val="80B2E8"/>
            </a:solidFill>
          </p:spPr>
        </p:sp>
        <p:sp>
          <p:nvSpPr>
            <p:cNvPr name="Freeform 22" id="22"/>
            <p:cNvSpPr/>
            <p:nvPr/>
          </p:nvSpPr>
          <p:spPr>
            <a:xfrm flipH="false" flipV="false" rot="0">
              <a:off x="1134872" y="700024"/>
              <a:ext cx="448945" cy="441833"/>
            </a:xfrm>
            <a:custGeom>
              <a:avLst/>
              <a:gdLst/>
              <a:ahLst/>
              <a:cxnLst/>
              <a:rect r="r" b="b" t="t" l="l"/>
              <a:pathLst>
                <a:path h="441833" w="448945">
                  <a:moveTo>
                    <a:pt x="121666" y="410845"/>
                  </a:moveTo>
                  <a:cubicBezTo>
                    <a:pt x="155194" y="431292"/>
                    <a:pt x="192786" y="441833"/>
                    <a:pt x="231013" y="441833"/>
                  </a:cubicBezTo>
                  <a:cubicBezTo>
                    <a:pt x="247523" y="441833"/>
                    <a:pt x="264160" y="439928"/>
                    <a:pt x="280543" y="435864"/>
                  </a:cubicBezTo>
                  <a:cubicBezTo>
                    <a:pt x="335153" y="422783"/>
                    <a:pt x="381381" y="389128"/>
                    <a:pt x="410718" y="341249"/>
                  </a:cubicBezTo>
                  <a:cubicBezTo>
                    <a:pt x="440055" y="293370"/>
                    <a:pt x="448945" y="236982"/>
                    <a:pt x="435864" y="182372"/>
                  </a:cubicBezTo>
                  <a:cubicBezTo>
                    <a:pt x="408813" y="69723"/>
                    <a:pt x="295021" y="0"/>
                    <a:pt x="182372" y="27178"/>
                  </a:cubicBezTo>
                  <a:cubicBezTo>
                    <a:pt x="69723" y="54356"/>
                    <a:pt x="0" y="168021"/>
                    <a:pt x="27051" y="280670"/>
                  </a:cubicBezTo>
                  <a:cubicBezTo>
                    <a:pt x="40132" y="335280"/>
                    <a:pt x="73787" y="381508"/>
                    <a:pt x="121666" y="410845"/>
                  </a:cubicBezTo>
                  <a:close/>
                  <a:moveTo>
                    <a:pt x="201422" y="106553"/>
                  </a:moveTo>
                  <a:cubicBezTo>
                    <a:pt x="211455" y="104140"/>
                    <a:pt x="221615" y="102997"/>
                    <a:pt x="231775" y="102997"/>
                  </a:cubicBezTo>
                  <a:cubicBezTo>
                    <a:pt x="255143" y="102997"/>
                    <a:pt x="278130" y="109474"/>
                    <a:pt x="298704" y="121920"/>
                  </a:cubicBezTo>
                  <a:cubicBezTo>
                    <a:pt x="328041" y="139827"/>
                    <a:pt x="348488" y="168148"/>
                    <a:pt x="356489" y="201422"/>
                  </a:cubicBezTo>
                  <a:cubicBezTo>
                    <a:pt x="372999" y="270383"/>
                    <a:pt x="330454" y="339852"/>
                    <a:pt x="261620" y="356362"/>
                  </a:cubicBezTo>
                  <a:cubicBezTo>
                    <a:pt x="228219" y="364363"/>
                    <a:pt x="193675" y="358902"/>
                    <a:pt x="164465" y="340995"/>
                  </a:cubicBezTo>
                  <a:cubicBezTo>
                    <a:pt x="135255" y="323088"/>
                    <a:pt x="114681" y="294767"/>
                    <a:pt x="106680" y="261493"/>
                  </a:cubicBezTo>
                  <a:cubicBezTo>
                    <a:pt x="90170" y="192532"/>
                    <a:pt x="132715" y="123063"/>
                    <a:pt x="201549" y="106553"/>
                  </a:cubicBezTo>
                  <a:close/>
                </a:path>
              </a:pathLst>
            </a:custGeom>
            <a:solidFill>
              <a:srgbClr val="80B2E8"/>
            </a:solidFill>
          </p:spPr>
        </p:sp>
        <p:sp>
          <p:nvSpPr>
            <p:cNvPr name="Freeform 23" id="23"/>
            <p:cNvSpPr/>
            <p:nvPr/>
          </p:nvSpPr>
          <p:spPr>
            <a:xfrm flipH="false" flipV="false" rot="0">
              <a:off x="63500" y="63500"/>
              <a:ext cx="2175637" cy="2505583"/>
            </a:xfrm>
            <a:custGeom>
              <a:avLst/>
              <a:gdLst/>
              <a:ahLst/>
              <a:cxnLst/>
              <a:rect r="r" b="b" t="t" l="l"/>
              <a:pathLst>
                <a:path h="2505583" w="2175637">
                  <a:moveTo>
                    <a:pt x="0" y="2505583"/>
                  </a:moveTo>
                  <a:lnTo>
                    <a:pt x="2175637" y="2505583"/>
                  </a:lnTo>
                  <a:lnTo>
                    <a:pt x="2175637" y="0"/>
                  </a:lnTo>
                  <a:lnTo>
                    <a:pt x="0" y="0"/>
                  </a:lnTo>
                  <a:close/>
                </a:path>
              </a:pathLst>
            </a:custGeom>
            <a:solidFill>
              <a:srgbClr val="000000">
                <a:alpha val="0"/>
              </a:srgbClr>
            </a:solidFill>
          </p:spPr>
        </p:sp>
      </p:grpSp>
      <p:sp>
        <p:nvSpPr>
          <p:cNvPr name="TextBox 24" id="24"/>
          <p:cNvSpPr txBox="true"/>
          <p:nvPr/>
        </p:nvSpPr>
        <p:spPr>
          <a:xfrm rot="0">
            <a:off x="623345" y="1209418"/>
            <a:ext cx="5836844"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p:txBody>
      </p:sp>
      <p:sp>
        <p:nvSpPr>
          <p:cNvPr name="TextBox 25" id="25"/>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26" id="26"/>
          <p:cNvSpPr txBox="true"/>
          <p:nvPr/>
        </p:nvSpPr>
        <p:spPr>
          <a:xfrm rot="0">
            <a:off x="681076" y="3198257"/>
            <a:ext cx="3207506" cy="2066211"/>
          </a:xfrm>
          <a:prstGeom prst="rect">
            <a:avLst/>
          </a:prstGeom>
        </p:spPr>
        <p:txBody>
          <a:bodyPr anchor="t" rtlCol="false" tIns="0" lIns="0" bIns="0" rIns="0">
            <a:spAutoFit/>
          </a:bodyPr>
          <a:lstStyle/>
          <a:p>
            <a:pPr algn="l">
              <a:lnSpc>
                <a:spcPts val="1800"/>
              </a:lnSpc>
            </a:pPr>
            <a:r>
              <a:rPr lang="en-US" b="true" sz="1557" spc="140">
                <a:solidFill>
                  <a:srgbClr val="FFFFFF"/>
                </a:solidFill>
                <a:latin typeface="HK Grotesk Medium"/>
                <a:ea typeface="HK Grotesk Medium"/>
                <a:cs typeface="HK Grotesk Medium"/>
                <a:sym typeface="HK Grotesk Medium"/>
              </a:rPr>
              <a:t>Most parents have either a High School or PhD education, while fewer hold Master's or Bachelor's degrees. Grade distributions across parent education levels are fairly balanced, with minimal variation in percentages for each grade.</a:t>
            </a:r>
          </a:p>
        </p:txBody>
      </p:sp>
      <p:sp>
        <p:nvSpPr>
          <p:cNvPr name="TextBox 27" id="27"/>
          <p:cNvSpPr txBox="true"/>
          <p:nvPr/>
        </p:nvSpPr>
        <p:spPr>
          <a:xfrm rot="0">
            <a:off x="403365" y="2813237"/>
            <a:ext cx="5935932" cy="257070"/>
          </a:xfrm>
          <a:prstGeom prst="rect">
            <a:avLst/>
          </a:prstGeom>
        </p:spPr>
        <p:txBody>
          <a:bodyPr anchor="t" rtlCol="false" tIns="0" lIns="0" bIns="0" rIns="0">
            <a:spAutoFit/>
          </a:bodyPr>
          <a:lstStyle/>
          <a:p>
            <a:pPr algn="l">
              <a:lnSpc>
                <a:spcPts val="2098"/>
              </a:lnSpc>
            </a:pPr>
            <a:r>
              <a:rPr lang="en-US" b="true" sz="1499" spc="134">
                <a:solidFill>
                  <a:srgbClr val="FFFFFF"/>
                </a:solidFill>
                <a:latin typeface="HK Grotesk Semi-Bold"/>
                <a:ea typeface="HK Grotesk Semi-Bold"/>
                <a:cs typeface="HK Grotesk Semi-Bold"/>
                <a:sym typeface="HK Grotesk Semi-Bold"/>
              </a:rPr>
              <a:t>PARENT EDUCATION LEVEL ON STUDENT PERFORMANCE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314312" y="1754086"/>
            <a:ext cx="2133600" cy="2200275"/>
          </a:xfrm>
          <a:custGeom>
            <a:avLst/>
            <a:gdLst/>
            <a:ahLst/>
            <a:cxnLst/>
            <a:rect r="r" b="b" t="t" l="l"/>
            <a:pathLst>
              <a:path h="2200275" w="2133600">
                <a:moveTo>
                  <a:pt x="0" y="0"/>
                </a:moveTo>
                <a:lnTo>
                  <a:pt x="2133600" y="0"/>
                </a:lnTo>
                <a:lnTo>
                  <a:pt x="2133600" y="2200275"/>
                </a:lnTo>
                <a:lnTo>
                  <a:pt x="0" y="2200275"/>
                </a:lnTo>
                <a:lnTo>
                  <a:pt x="0" y="0"/>
                </a:lnTo>
                <a:close/>
              </a:path>
            </a:pathLst>
          </a:custGeom>
          <a:blipFill>
            <a:blip r:embed="rId4"/>
            <a:stretch>
              <a:fillRect l="0" t="0" r="0" b="0"/>
            </a:stretch>
          </a:blipFill>
        </p:spPr>
      </p:sp>
      <p:grpSp>
        <p:nvGrpSpPr>
          <p:cNvPr name="Group 4" id="4"/>
          <p:cNvGrpSpPr>
            <a:grpSpLocks noChangeAspect="true"/>
          </p:cNvGrpSpPr>
          <p:nvPr/>
        </p:nvGrpSpPr>
        <p:grpSpPr>
          <a:xfrm rot="0">
            <a:off x="692448" y="-63503"/>
            <a:ext cx="6933905" cy="4228900"/>
            <a:chOff x="0" y="0"/>
            <a:chExt cx="6933895" cy="4228897"/>
          </a:xfrm>
        </p:grpSpPr>
        <p:sp>
          <p:nvSpPr>
            <p:cNvPr name="Freeform 5" id="5"/>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6" id="6"/>
            <p:cNvSpPr/>
            <p:nvPr/>
          </p:nvSpPr>
          <p:spPr>
            <a:xfrm flipH="false" flipV="false" rot="0">
              <a:off x="4621911" y="1822196"/>
              <a:ext cx="2137664" cy="2203831"/>
            </a:xfrm>
            <a:custGeom>
              <a:avLst/>
              <a:gdLst/>
              <a:ahLst/>
              <a:cxnLst/>
              <a:rect r="r" b="b" t="t" l="l"/>
              <a:pathLst>
                <a:path h="2203831" w="2137664">
                  <a:moveTo>
                    <a:pt x="0" y="2203831"/>
                  </a:moveTo>
                  <a:lnTo>
                    <a:pt x="2137664" y="2203831"/>
                  </a:lnTo>
                  <a:lnTo>
                    <a:pt x="2137664" y="0"/>
                  </a:lnTo>
                  <a:lnTo>
                    <a:pt x="0" y="0"/>
                  </a:lnTo>
                  <a:close/>
                </a:path>
              </a:pathLst>
            </a:custGeom>
            <a:solidFill>
              <a:srgbClr val="000000">
                <a:alpha val="0"/>
              </a:srgbClr>
            </a:solidFill>
          </p:spPr>
        </p:sp>
        <p:sp>
          <p:nvSpPr>
            <p:cNvPr name="Freeform 7" id="7"/>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8" id="8"/>
          <p:cNvSpPr txBox="true"/>
          <p:nvPr/>
        </p:nvSpPr>
        <p:spPr>
          <a:xfrm rot="0">
            <a:off x="623345" y="1209418"/>
            <a:ext cx="5836844" cy="1230544"/>
          </a:xfrm>
          <a:prstGeom prst="rect">
            <a:avLst/>
          </a:prstGeom>
        </p:spPr>
        <p:txBody>
          <a:bodyPr anchor="t" rtlCol="false" tIns="0" lIns="0" bIns="0" rIns="0">
            <a:spAutoFit/>
          </a:bodyPr>
          <a:lstStyle/>
          <a:p>
            <a:pPr algn="l">
              <a:lnSpc>
                <a:spcPts val="4799"/>
              </a:lnSpc>
            </a:pPr>
            <a:r>
              <a:rPr lang="en-US" b="true" sz="4199">
                <a:solidFill>
                  <a:srgbClr val="FFFFFF"/>
                </a:solidFill>
                <a:latin typeface="HK Grotesk Bold"/>
                <a:ea typeface="HK Grotesk Bold"/>
                <a:cs typeface="HK Grotesk Bold"/>
                <a:sym typeface="HK Grotesk Bold"/>
              </a:rPr>
              <a:t>3. EXPLORATORY DATA ANALYSIS (EDA)</a:t>
            </a:r>
          </a:p>
        </p:txBody>
      </p:sp>
      <p:sp>
        <p:nvSpPr>
          <p:cNvPr name="TextBox 9" id="9"/>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10" id="10"/>
          <p:cNvSpPr txBox="true"/>
          <p:nvPr/>
        </p:nvSpPr>
        <p:spPr>
          <a:xfrm rot="0">
            <a:off x="193110" y="3066317"/>
            <a:ext cx="5714448" cy="5833453"/>
          </a:xfrm>
          <a:prstGeom prst="rect">
            <a:avLst/>
          </a:prstGeom>
        </p:spPr>
        <p:txBody>
          <a:bodyPr anchor="t" rtlCol="false" tIns="0" lIns="0" bIns="0" rIns="0">
            <a:spAutoFit/>
          </a:bodyPr>
          <a:lstStyle/>
          <a:p>
            <a:pPr algn="l">
              <a:lnSpc>
                <a:spcPts val="1640"/>
              </a:lnSpc>
            </a:pPr>
            <a:r>
              <a:rPr lang="en-US" b="true" sz="1380" spc="124">
                <a:solidFill>
                  <a:srgbClr val="FFFFFF"/>
                </a:solidFill>
                <a:latin typeface="HK Grotesk Medium"/>
                <a:ea typeface="HK Grotesk Medium"/>
                <a:cs typeface="HK Grotesk Medium"/>
                <a:sym typeface="HK Grotesk Medium"/>
              </a:rPr>
              <a:t>Overall Grade distributions show minimal differences between genders, while internet access and family income subtly impact academic outcomes, suggesting that resource availability plays a role but isn’t the sole determinant of success. Stress and sleep patterns highlight an inverse relationship — higher stress often correlates with fewer sleep hours — raising the question of whether stress negatively affects overall performance. The data on extracurricular activities suggests a nearly equal split in participation, with those involved experiencing slightly lower average stress, hinting that these activities may offer a form of stress relief. When examining parent education levels, most parents have either a High School or PhD education, yet student grades appear fairly balanced across all levels, pointing to the need to explore how education level intersects with other factors like income or internet access. Interestingly, while Low and Medium-income families are more represented, High-income students show the highest percentage of F grades — a surprising find that suggests resources alone do not guarantee academic success. Lastly, visualizing numerical features through histograms reveals smooth distributions . </a:t>
            </a:r>
          </a:p>
        </p:txBody>
      </p:sp>
      <p:sp>
        <p:nvSpPr>
          <p:cNvPr name="TextBox 11" id="11"/>
          <p:cNvSpPr txBox="true"/>
          <p:nvPr/>
        </p:nvSpPr>
        <p:spPr>
          <a:xfrm rot="0">
            <a:off x="367274" y="9212304"/>
            <a:ext cx="6961908" cy="885720"/>
          </a:xfrm>
          <a:prstGeom prst="rect">
            <a:avLst/>
          </a:prstGeom>
        </p:spPr>
        <p:txBody>
          <a:bodyPr anchor="t" rtlCol="false" tIns="0" lIns="0" bIns="0" rIns="0">
            <a:spAutoFit/>
          </a:bodyPr>
          <a:lstStyle/>
          <a:p>
            <a:pPr algn="ctr">
              <a:lnSpc>
                <a:spcPts val="1725"/>
              </a:lnSpc>
            </a:pPr>
            <a:r>
              <a:rPr lang="en-US" b="true" sz="1499" spc="134">
                <a:solidFill>
                  <a:srgbClr val="FFFFFF"/>
                </a:solidFill>
                <a:latin typeface="HK Grotesk Semi-Bold"/>
                <a:ea typeface="HK Grotesk Semi-Bold"/>
                <a:cs typeface="HK Grotesk Semi-Bold"/>
                <a:sym typeface="HK Grotesk Semi-Bold"/>
              </a:rPr>
              <a:t>THIS ANALYSIS OPENS THE DOOR TO DEEPER INVESTIGATIONS, ENCOURAGING US TO LOOK BEYOND SINGLE VARIABLES AND EXPLORE HOW MULTIPLE FACTORS INTERACT TO SHAPE STUDENT OUTCOMES.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5971" y="5704999"/>
            <a:ext cx="2886075" cy="2257425"/>
          </a:xfrm>
          <a:custGeom>
            <a:avLst/>
            <a:gdLst/>
            <a:ahLst/>
            <a:cxnLst/>
            <a:rect r="r" b="b" t="t" l="l"/>
            <a:pathLst>
              <a:path h="2257425" w="2886075">
                <a:moveTo>
                  <a:pt x="0" y="0"/>
                </a:moveTo>
                <a:lnTo>
                  <a:pt x="2886075" y="0"/>
                </a:lnTo>
                <a:lnTo>
                  <a:pt x="2886075" y="2257425"/>
                </a:lnTo>
                <a:lnTo>
                  <a:pt x="0" y="2257425"/>
                </a:lnTo>
                <a:lnTo>
                  <a:pt x="0" y="0"/>
                </a:lnTo>
                <a:close/>
              </a:path>
            </a:pathLst>
          </a:custGeom>
          <a:blipFill>
            <a:blip r:embed="rId4"/>
            <a:stretch>
              <a:fillRect l="0" t="0" r="0" b="0"/>
            </a:stretch>
          </a:blipFill>
        </p:spPr>
      </p:sp>
      <p:sp>
        <p:nvSpPr>
          <p:cNvPr name="Freeform 4" id="4"/>
          <p:cNvSpPr/>
          <p:nvPr/>
        </p:nvSpPr>
        <p:spPr>
          <a:xfrm flipH="false" flipV="false" rot="0">
            <a:off x="1675152" y="7962957"/>
            <a:ext cx="4210050" cy="2533650"/>
          </a:xfrm>
          <a:custGeom>
            <a:avLst/>
            <a:gdLst/>
            <a:ahLst/>
            <a:cxnLst/>
            <a:rect r="r" b="b" t="t" l="l"/>
            <a:pathLst>
              <a:path h="2533650" w="4210050">
                <a:moveTo>
                  <a:pt x="0" y="0"/>
                </a:moveTo>
                <a:lnTo>
                  <a:pt x="4210050" y="0"/>
                </a:lnTo>
                <a:lnTo>
                  <a:pt x="4210050" y="2533650"/>
                </a:lnTo>
                <a:lnTo>
                  <a:pt x="0" y="2533650"/>
                </a:lnTo>
                <a:lnTo>
                  <a:pt x="0" y="0"/>
                </a:lnTo>
                <a:close/>
              </a:path>
            </a:pathLst>
          </a:custGeom>
          <a:blipFill>
            <a:blip r:embed="rId5"/>
            <a:stretch>
              <a:fillRect l="0" t="-2677" r="0" b="-2585"/>
            </a:stretch>
          </a:blipFill>
        </p:spPr>
      </p:sp>
      <p:sp>
        <p:nvSpPr>
          <p:cNvPr name="Freeform 5" id="5"/>
          <p:cNvSpPr/>
          <p:nvPr/>
        </p:nvSpPr>
        <p:spPr>
          <a:xfrm flipH="false" flipV="false" rot="0">
            <a:off x="3844966" y="5704999"/>
            <a:ext cx="2981325" cy="2257425"/>
          </a:xfrm>
          <a:custGeom>
            <a:avLst/>
            <a:gdLst/>
            <a:ahLst/>
            <a:cxnLst/>
            <a:rect r="r" b="b" t="t" l="l"/>
            <a:pathLst>
              <a:path h="2257425" w="2981325">
                <a:moveTo>
                  <a:pt x="0" y="0"/>
                </a:moveTo>
                <a:lnTo>
                  <a:pt x="2981325" y="0"/>
                </a:lnTo>
                <a:lnTo>
                  <a:pt x="2981325" y="2257425"/>
                </a:lnTo>
                <a:lnTo>
                  <a:pt x="0" y="2257425"/>
                </a:lnTo>
                <a:lnTo>
                  <a:pt x="0" y="0"/>
                </a:lnTo>
                <a:close/>
              </a:path>
            </a:pathLst>
          </a:custGeom>
          <a:blipFill>
            <a:blip r:embed="rId6"/>
            <a:stretch>
              <a:fillRect l="0" t="0" r="0" b="0"/>
            </a:stretch>
          </a:blipFill>
        </p:spPr>
      </p:sp>
      <p:grpSp>
        <p:nvGrpSpPr>
          <p:cNvPr name="Group 6" id="6"/>
          <p:cNvGrpSpPr>
            <a:grpSpLocks noChangeAspect="true"/>
          </p:cNvGrpSpPr>
          <p:nvPr/>
        </p:nvGrpSpPr>
        <p:grpSpPr>
          <a:xfrm rot="0">
            <a:off x="692448" y="-63503"/>
            <a:ext cx="6933905" cy="4228900"/>
            <a:chOff x="0" y="0"/>
            <a:chExt cx="6933895" cy="4228897"/>
          </a:xfrm>
        </p:grpSpPr>
        <p:sp>
          <p:nvSpPr>
            <p:cNvPr name="Freeform 7" id="7"/>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8" id="8"/>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grpSp>
        <p:nvGrpSpPr>
          <p:cNvPr name="Group 9" id="9"/>
          <p:cNvGrpSpPr>
            <a:grpSpLocks noChangeAspect="true"/>
          </p:cNvGrpSpPr>
          <p:nvPr/>
        </p:nvGrpSpPr>
        <p:grpSpPr>
          <a:xfrm rot="0">
            <a:off x="692477" y="5646068"/>
            <a:ext cx="6198289" cy="4913986"/>
            <a:chOff x="0" y="0"/>
            <a:chExt cx="6198286" cy="4913986"/>
          </a:xfrm>
        </p:grpSpPr>
        <p:sp>
          <p:nvSpPr>
            <p:cNvPr name="Freeform 10" id="10"/>
            <p:cNvSpPr/>
            <p:nvPr/>
          </p:nvSpPr>
          <p:spPr>
            <a:xfrm flipH="false" flipV="false" rot="0">
              <a:off x="63500" y="63500"/>
              <a:ext cx="2886075" cy="2257933"/>
            </a:xfrm>
            <a:custGeom>
              <a:avLst/>
              <a:gdLst/>
              <a:ahLst/>
              <a:cxnLst/>
              <a:rect r="r" b="b" t="t" l="l"/>
              <a:pathLst>
                <a:path h="2257933" w="2886075">
                  <a:moveTo>
                    <a:pt x="0" y="2257933"/>
                  </a:moveTo>
                  <a:lnTo>
                    <a:pt x="2886075" y="2257933"/>
                  </a:lnTo>
                  <a:lnTo>
                    <a:pt x="2886075" y="0"/>
                  </a:lnTo>
                  <a:lnTo>
                    <a:pt x="0" y="0"/>
                  </a:lnTo>
                  <a:close/>
                </a:path>
              </a:pathLst>
            </a:custGeom>
            <a:solidFill>
              <a:srgbClr val="000000">
                <a:alpha val="0"/>
              </a:srgbClr>
            </a:solidFill>
          </p:spPr>
        </p:sp>
        <p:sp>
          <p:nvSpPr>
            <p:cNvPr name="Freeform 11" id="11"/>
            <p:cNvSpPr/>
            <p:nvPr/>
          </p:nvSpPr>
          <p:spPr>
            <a:xfrm flipH="false" flipV="false" rot="0">
              <a:off x="3152521" y="63500"/>
              <a:ext cx="2982214" cy="2257933"/>
            </a:xfrm>
            <a:custGeom>
              <a:avLst/>
              <a:gdLst/>
              <a:ahLst/>
              <a:cxnLst/>
              <a:rect r="r" b="b" t="t" l="l"/>
              <a:pathLst>
                <a:path h="2257933" w="2982214">
                  <a:moveTo>
                    <a:pt x="0" y="2257933"/>
                  </a:moveTo>
                  <a:lnTo>
                    <a:pt x="2982214" y="2257933"/>
                  </a:lnTo>
                  <a:lnTo>
                    <a:pt x="2982214" y="0"/>
                  </a:lnTo>
                  <a:lnTo>
                    <a:pt x="0" y="0"/>
                  </a:lnTo>
                  <a:close/>
                </a:path>
              </a:pathLst>
            </a:custGeom>
            <a:solidFill>
              <a:srgbClr val="000000">
                <a:alpha val="0"/>
              </a:srgbClr>
            </a:solidFill>
          </p:spPr>
        </p:sp>
        <p:sp>
          <p:nvSpPr>
            <p:cNvPr name="Freeform 12" id="12"/>
            <p:cNvSpPr/>
            <p:nvPr/>
          </p:nvSpPr>
          <p:spPr>
            <a:xfrm flipH="false" flipV="false" rot="0">
              <a:off x="982726" y="2321433"/>
              <a:ext cx="4209669" cy="2529078"/>
            </a:xfrm>
            <a:custGeom>
              <a:avLst/>
              <a:gdLst/>
              <a:ahLst/>
              <a:cxnLst/>
              <a:rect r="r" b="b" t="t" l="l"/>
              <a:pathLst>
                <a:path h="2529078" w="4209669">
                  <a:moveTo>
                    <a:pt x="0" y="2529078"/>
                  </a:moveTo>
                  <a:lnTo>
                    <a:pt x="4209669" y="2529078"/>
                  </a:lnTo>
                  <a:lnTo>
                    <a:pt x="4209669" y="0"/>
                  </a:lnTo>
                  <a:lnTo>
                    <a:pt x="0" y="0"/>
                  </a:lnTo>
                  <a:close/>
                </a:path>
              </a:pathLst>
            </a:custGeom>
            <a:solidFill>
              <a:srgbClr val="000000">
                <a:alpha val="0"/>
              </a:srgbClr>
            </a:solidFill>
          </p:spPr>
        </p:sp>
      </p:grpSp>
      <p:sp>
        <p:nvSpPr>
          <p:cNvPr name="TextBox 13" id="13"/>
          <p:cNvSpPr txBox="true"/>
          <p:nvPr/>
        </p:nvSpPr>
        <p:spPr>
          <a:xfrm rot="0">
            <a:off x="623345" y="1104643"/>
            <a:ext cx="6560306"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4-FEATURE ENGINEERING</a:t>
            </a:r>
          </a:p>
        </p:txBody>
      </p:sp>
      <p:sp>
        <p:nvSpPr>
          <p:cNvPr name="TextBox 14" id="14"/>
          <p:cNvSpPr txBox="true"/>
          <p:nvPr/>
        </p:nvSpPr>
        <p:spPr>
          <a:xfrm rot="0">
            <a:off x="472926" y="2175310"/>
            <a:ext cx="6746319" cy="1276407"/>
          </a:xfrm>
          <a:prstGeom prst="rect">
            <a:avLst/>
          </a:prstGeom>
        </p:spPr>
        <p:txBody>
          <a:bodyPr anchor="t" rtlCol="false" tIns="0" lIns="0" bIns="0" rIns="0">
            <a:spAutoFit/>
          </a:bodyPr>
          <a:lstStyle/>
          <a:p>
            <a:pPr algn="ctr">
              <a:lnSpc>
                <a:spcPts val="1998"/>
              </a:lnSpc>
            </a:pPr>
            <a:r>
              <a:rPr lang="en-US" b="true" sz="1776">
                <a:solidFill>
                  <a:srgbClr val="FFFFFF"/>
                </a:solidFill>
                <a:latin typeface="HK Grotesk Medium"/>
                <a:ea typeface="HK Grotesk Medium"/>
                <a:cs typeface="HK Grotesk Medium"/>
                <a:sym typeface="HK Grotesk Medium"/>
              </a:rPr>
              <a:t>In our analysis of student performance, we delved into feature engineering to uncover patterns and relationships between various academic and behavioral factors. The goal was to extract meaningful insights by creating new features and exa</a:t>
            </a:r>
            <a:r>
              <a:rPr lang="en-US" b="true" sz="1776">
                <a:solidFill>
                  <a:srgbClr val="2A3652"/>
                </a:solidFill>
                <a:latin typeface="HK Grotesk Bold"/>
                <a:ea typeface="HK Grotesk Bold"/>
                <a:cs typeface="HK Grotesk Bold"/>
                <a:sym typeface="HK Grotesk Bold"/>
              </a:rPr>
              <a:t>0</a:t>
            </a:r>
            <a:r>
              <a:rPr lang="en-US" b="true" sz="1776">
                <a:solidFill>
                  <a:srgbClr val="FFFFFF"/>
                </a:solidFill>
                <a:latin typeface="HK Grotesk Medium"/>
                <a:ea typeface="HK Grotesk Medium"/>
                <a:cs typeface="HK Grotesk Medium"/>
                <a:sym typeface="HK Grotesk Medium"/>
              </a:rPr>
              <a:t>m</a:t>
            </a:r>
            <a:r>
              <a:rPr lang="en-US" b="true" sz="1776">
                <a:solidFill>
                  <a:srgbClr val="2A3652"/>
                </a:solidFill>
                <a:latin typeface="HK Grotesk Bold"/>
                <a:ea typeface="HK Grotesk Bold"/>
                <a:cs typeface="HK Grotesk Bold"/>
                <a:sym typeface="HK Grotesk Bold"/>
              </a:rPr>
              <a:t>1</a:t>
            </a:r>
            <a:r>
              <a:rPr lang="en-US" b="true" sz="1776">
                <a:solidFill>
                  <a:srgbClr val="FFFFFF"/>
                </a:solidFill>
                <a:latin typeface="HK Grotesk Medium"/>
                <a:ea typeface="HK Grotesk Medium"/>
                <a:cs typeface="HK Grotesk Medium"/>
                <a:sym typeface="HK Grotesk Medium"/>
              </a:rPr>
              <a:t>ining their impact on overall performance.</a:t>
            </a:r>
          </a:p>
        </p:txBody>
      </p:sp>
      <p:sp>
        <p:nvSpPr>
          <p:cNvPr name="TextBox 15" id="15"/>
          <p:cNvSpPr txBox="true"/>
          <p:nvPr/>
        </p:nvSpPr>
        <p:spPr>
          <a:xfrm rot="0">
            <a:off x="479041" y="3765680"/>
            <a:ext cx="6733737" cy="1454563"/>
          </a:xfrm>
          <a:prstGeom prst="rect">
            <a:avLst/>
          </a:prstGeom>
        </p:spPr>
        <p:txBody>
          <a:bodyPr anchor="t" rtlCol="false" tIns="0" lIns="0" bIns="0" rIns="0">
            <a:spAutoFit/>
          </a:bodyPr>
          <a:lstStyle/>
          <a:p>
            <a:pPr algn="ctr">
              <a:lnSpc>
                <a:spcPts val="1620"/>
              </a:lnSpc>
            </a:pPr>
            <a:r>
              <a:rPr lang="en-US" b="true" sz="1440">
                <a:solidFill>
                  <a:srgbClr val="FFFFFF"/>
                </a:solidFill>
                <a:latin typeface="HK Grotesk Medium"/>
                <a:ea typeface="HK Grotesk Medium"/>
                <a:cs typeface="HK Grotesk Medium"/>
                <a:sym typeface="HK Grotesk Medium"/>
              </a:rPr>
              <a:t>We calculated the Score Consistency — the standard deviation of midterm, final, assignment, quiz, participation, and project scores — to measure how stable a student’s performance was across different components Scatter plots and regression lines revealed that while students with consistent scores tended to achieve higher total scores, some outliers with fluctuating scores still managed to perform well. This indicated that while consistency is beneficial, it is not the sole predictor of academic success.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33204" y="4829508"/>
            <a:ext cx="4000500" cy="1352550"/>
          </a:xfrm>
          <a:custGeom>
            <a:avLst/>
            <a:gdLst/>
            <a:ahLst/>
            <a:cxnLst/>
            <a:rect r="r" b="b" t="t" l="l"/>
            <a:pathLst>
              <a:path h="1352550" w="4000500">
                <a:moveTo>
                  <a:pt x="0" y="0"/>
                </a:moveTo>
                <a:lnTo>
                  <a:pt x="4000500" y="0"/>
                </a:lnTo>
                <a:lnTo>
                  <a:pt x="4000500" y="1352550"/>
                </a:lnTo>
                <a:lnTo>
                  <a:pt x="0" y="1352550"/>
                </a:lnTo>
                <a:lnTo>
                  <a:pt x="0" y="0"/>
                </a:lnTo>
                <a:close/>
              </a:path>
            </a:pathLst>
          </a:custGeom>
          <a:blipFill>
            <a:blip r:embed="rId4"/>
            <a:stretch>
              <a:fillRect l="0" t="0" r="0" b="0"/>
            </a:stretch>
          </a:blipFill>
        </p:spPr>
      </p:sp>
      <p:sp>
        <p:nvSpPr>
          <p:cNvPr name="Freeform 4" id="4"/>
          <p:cNvSpPr/>
          <p:nvPr/>
        </p:nvSpPr>
        <p:spPr>
          <a:xfrm flipH="false" flipV="false" rot="0">
            <a:off x="333204" y="7406688"/>
            <a:ext cx="4619625" cy="2962275"/>
          </a:xfrm>
          <a:custGeom>
            <a:avLst/>
            <a:gdLst/>
            <a:ahLst/>
            <a:cxnLst/>
            <a:rect r="r" b="b" t="t" l="l"/>
            <a:pathLst>
              <a:path h="2962275" w="4619625">
                <a:moveTo>
                  <a:pt x="0" y="0"/>
                </a:moveTo>
                <a:lnTo>
                  <a:pt x="4619625" y="0"/>
                </a:lnTo>
                <a:lnTo>
                  <a:pt x="4619625" y="2962275"/>
                </a:lnTo>
                <a:lnTo>
                  <a:pt x="0" y="2962275"/>
                </a:lnTo>
                <a:lnTo>
                  <a:pt x="0" y="0"/>
                </a:lnTo>
                <a:close/>
              </a:path>
            </a:pathLst>
          </a:custGeom>
          <a:blipFill>
            <a:blip r:embed="rId5"/>
            <a:stretch>
              <a:fillRect l="0" t="0" r="0" b="0"/>
            </a:stretch>
          </a:blipFill>
        </p:spPr>
      </p:sp>
      <p:sp>
        <p:nvSpPr>
          <p:cNvPr name="Freeform 5" id="5"/>
          <p:cNvSpPr/>
          <p:nvPr/>
        </p:nvSpPr>
        <p:spPr>
          <a:xfrm flipH="false" flipV="false" rot="0">
            <a:off x="4329836" y="6326076"/>
            <a:ext cx="2933700" cy="1028700"/>
          </a:xfrm>
          <a:custGeom>
            <a:avLst/>
            <a:gdLst/>
            <a:ahLst/>
            <a:cxnLst/>
            <a:rect r="r" b="b" t="t" l="l"/>
            <a:pathLst>
              <a:path h="1028700" w="2933700">
                <a:moveTo>
                  <a:pt x="0" y="0"/>
                </a:moveTo>
                <a:lnTo>
                  <a:pt x="2933700" y="0"/>
                </a:lnTo>
                <a:lnTo>
                  <a:pt x="2933700" y="1028700"/>
                </a:lnTo>
                <a:lnTo>
                  <a:pt x="0" y="1028700"/>
                </a:lnTo>
                <a:lnTo>
                  <a:pt x="0" y="0"/>
                </a:lnTo>
                <a:close/>
              </a:path>
            </a:pathLst>
          </a:custGeom>
          <a:blipFill>
            <a:blip r:embed="rId6"/>
            <a:stretch>
              <a:fillRect l="0" t="0" r="0" b="0"/>
            </a:stretch>
          </a:blipFill>
        </p:spPr>
      </p:sp>
      <p:sp>
        <p:nvSpPr>
          <p:cNvPr name="Freeform 6" id="6"/>
          <p:cNvSpPr/>
          <p:nvPr/>
        </p:nvSpPr>
        <p:spPr>
          <a:xfrm flipH="false" flipV="false" rot="0">
            <a:off x="5188410" y="5012103"/>
            <a:ext cx="1914525" cy="990600"/>
          </a:xfrm>
          <a:custGeom>
            <a:avLst/>
            <a:gdLst/>
            <a:ahLst/>
            <a:cxnLst/>
            <a:rect r="r" b="b" t="t" l="l"/>
            <a:pathLst>
              <a:path h="990600" w="1914525">
                <a:moveTo>
                  <a:pt x="0" y="0"/>
                </a:moveTo>
                <a:lnTo>
                  <a:pt x="1914525" y="0"/>
                </a:lnTo>
                <a:lnTo>
                  <a:pt x="1914525" y="990600"/>
                </a:lnTo>
                <a:lnTo>
                  <a:pt x="0" y="990600"/>
                </a:lnTo>
                <a:lnTo>
                  <a:pt x="0" y="0"/>
                </a:lnTo>
                <a:close/>
              </a:path>
            </a:pathLst>
          </a:custGeom>
          <a:blipFill>
            <a:blip r:embed="rId7"/>
            <a:stretch>
              <a:fillRect l="0" t="0" r="0" b="0"/>
            </a:stretch>
          </a:blipFill>
        </p:spPr>
      </p:sp>
      <p:grpSp>
        <p:nvGrpSpPr>
          <p:cNvPr name="Group 7" id="7"/>
          <p:cNvGrpSpPr>
            <a:grpSpLocks noChangeAspect="true"/>
          </p:cNvGrpSpPr>
          <p:nvPr/>
        </p:nvGrpSpPr>
        <p:grpSpPr>
          <a:xfrm rot="0">
            <a:off x="333204" y="4834080"/>
            <a:ext cx="3996633" cy="1353693"/>
            <a:chOff x="0" y="0"/>
            <a:chExt cx="3996626" cy="1353693"/>
          </a:xfrm>
        </p:grpSpPr>
        <p:sp>
          <p:nvSpPr>
            <p:cNvPr name="Freeform 8" id="8"/>
            <p:cNvSpPr/>
            <p:nvPr/>
          </p:nvSpPr>
          <p:spPr>
            <a:xfrm flipH="false" flipV="false" rot="0">
              <a:off x="0" y="0"/>
              <a:ext cx="3996690" cy="1353693"/>
            </a:xfrm>
            <a:custGeom>
              <a:avLst/>
              <a:gdLst/>
              <a:ahLst/>
              <a:cxnLst/>
              <a:rect r="r" b="b" t="t" l="l"/>
              <a:pathLst>
                <a:path h="1353693" w="3996690">
                  <a:moveTo>
                    <a:pt x="0" y="1353693"/>
                  </a:moveTo>
                  <a:lnTo>
                    <a:pt x="3996690" y="1353693"/>
                  </a:lnTo>
                  <a:lnTo>
                    <a:pt x="3996690" y="0"/>
                  </a:lnTo>
                  <a:lnTo>
                    <a:pt x="0" y="0"/>
                  </a:lnTo>
                  <a:close/>
                </a:path>
              </a:pathLst>
            </a:custGeom>
            <a:solidFill>
              <a:srgbClr val="000000">
                <a:alpha val="0"/>
              </a:srgbClr>
            </a:solidFill>
          </p:spPr>
        </p:sp>
      </p:grpSp>
      <p:grpSp>
        <p:nvGrpSpPr>
          <p:cNvPr name="Group 9" id="9"/>
          <p:cNvGrpSpPr>
            <a:grpSpLocks noChangeAspect="true"/>
          </p:cNvGrpSpPr>
          <p:nvPr/>
        </p:nvGrpSpPr>
        <p:grpSpPr>
          <a:xfrm rot="0">
            <a:off x="692448" y="-63503"/>
            <a:ext cx="6933905" cy="4228900"/>
            <a:chOff x="0" y="0"/>
            <a:chExt cx="6933895" cy="4228897"/>
          </a:xfrm>
        </p:grpSpPr>
        <p:sp>
          <p:nvSpPr>
            <p:cNvPr name="Freeform 10" id="10"/>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1" id="11"/>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grpSp>
        <p:nvGrpSpPr>
          <p:cNvPr name="Group 12" id="12"/>
          <p:cNvGrpSpPr>
            <a:grpSpLocks noChangeAspect="true"/>
          </p:cNvGrpSpPr>
          <p:nvPr/>
        </p:nvGrpSpPr>
        <p:grpSpPr>
          <a:xfrm rot="0">
            <a:off x="269700" y="6267155"/>
            <a:ext cx="7056996" cy="4170378"/>
            <a:chOff x="0" y="0"/>
            <a:chExt cx="7056996" cy="4170375"/>
          </a:xfrm>
        </p:grpSpPr>
        <p:sp>
          <p:nvSpPr>
            <p:cNvPr name="Freeform 13" id="13"/>
            <p:cNvSpPr/>
            <p:nvPr/>
          </p:nvSpPr>
          <p:spPr>
            <a:xfrm flipH="false" flipV="false" rot="0">
              <a:off x="4060190" y="63500"/>
              <a:ext cx="2933319" cy="1033018"/>
            </a:xfrm>
            <a:custGeom>
              <a:avLst/>
              <a:gdLst/>
              <a:ahLst/>
              <a:cxnLst/>
              <a:rect r="r" b="b" t="t" l="l"/>
              <a:pathLst>
                <a:path h="1033018" w="2933319">
                  <a:moveTo>
                    <a:pt x="0" y="1033018"/>
                  </a:moveTo>
                  <a:lnTo>
                    <a:pt x="2933319" y="1033018"/>
                  </a:lnTo>
                  <a:lnTo>
                    <a:pt x="2933319" y="0"/>
                  </a:lnTo>
                  <a:lnTo>
                    <a:pt x="0" y="0"/>
                  </a:lnTo>
                  <a:close/>
                </a:path>
              </a:pathLst>
            </a:custGeom>
            <a:solidFill>
              <a:srgbClr val="000000">
                <a:alpha val="0"/>
              </a:srgbClr>
            </a:solidFill>
          </p:spPr>
        </p:sp>
        <p:sp>
          <p:nvSpPr>
            <p:cNvPr name="Freeform 14" id="14"/>
            <p:cNvSpPr/>
            <p:nvPr/>
          </p:nvSpPr>
          <p:spPr>
            <a:xfrm flipH="false" flipV="false" rot="0">
              <a:off x="63500" y="1144143"/>
              <a:ext cx="4620260" cy="2962783"/>
            </a:xfrm>
            <a:custGeom>
              <a:avLst/>
              <a:gdLst/>
              <a:ahLst/>
              <a:cxnLst/>
              <a:rect r="r" b="b" t="t" l="l"/>
              <a:pathLst>
                <a:path h="2962783" w="4620260">
                  <a:moveTo>
                    <a:pt x="0" y="2962783"/>
                  </a:moveTo>
                  <a:lnTo>
                    <a:pt x="4620260" y="2962783"/>
                  </a:lnTo>
                  <a:lnTo>
                    <a:pt x="4620260" y="0"/>
                  </a:lnTo>
                  <a:lnTo>
                    <a:pt x="0" y="0"/>
                  </a:lnTo>
                  <a:close/>
                </a:path>
              </a:pathLst>
            </a:custGeom>
            <a:solidFill>
              <a:srgbClr val="000000">
                <a:alpha val="0"/>
              </a:srgbClr>
            </a:solidFill>
          </p:spPr>
        </p:sp>
      </p:grpSp>
      <p:grpSp>
        <p:nvGrpSpPr>
          <p:cNvPr name="Group 15" id="15"/>
          <p:cNvGrpSpPr>
            <a:grpSpLocks noChangeAspect="true"/>
          </p:cNvGrpSpPr>
          <p:nvPr/>
        </p:nvGrpSpPr>
        <p:grpSpPr>
          <a:xfrm rot="0">
            <a:off x="5188410" y="5016684"/>
            <a:ext cx="1914773" cy="988495"/>
            <a:chOff x="0" y="0"/>
            <a:chExt cx="1914766" cy="988504"/>
          </a:xfrm>
        </p:grpSpPr>
        <p:sp>
          <p:nvSpPr>
            <p:cNvPr name="Freeform 16" id="16"/>
            <p:cNvSpPr/>
            <p:nvPr/>
          </p:nvSpPr>
          <p:spPr>
            <a:xfrm flipH="false" flipV="false" rot="0">
              <a:off x="0" y="0"/>
              <a:ext cx="1914779" cy="988441"/>
            </a:xfrm>
            <a:custGeom>
              <a:avLst/>
              <a:gdLst/>
              <a:ahLst/>
              <a:cxnLst/>
              <a:rect r="r" b="b" t="t" l="l"/>
              <a:pathLst>
                <a:path h="988441" w="1914779">
                  <a:moveTo>
                    <a:pt x="0" y="988441"/>
                  </a:moveTo>
                  <a:lnTo>
                    <a:pt x="1914779" y="988441"/>
                  </a:lnTo>
                  <a:lnTo>
                    <a:pt x="1914779" y="0"/>
                  </a:lnTo>
                  <a:lnTo>
                    <a:pt x="0" y="0"/>
                  </a:lnTo>
                  <a:close/>
                </a:path>
              </a:pathLst>
            </a:custGeom>
            <a:solidFill>
              <a:srgbClr val="000000">
                <a:alpha val="0"/>
              </a:srgbClr>
            </a:solidFill>
          </p:spPr>
        </p:sp>
      </p:grpSp>
      <p:sp>
        <p:nvSpPr>
          <p:cNvPr name="TextBox 17" id="17"/>
          <p:cNvSpPr txBox="true"/>
          <p:nvPr/>
        </p:nvSpPr>
        <p:spPr>
          <a:xfrm rot="0">
            <a:off x="520103" y="1104643"/>
            <a:ext cx="6764531" cy="1952444"/>
          </a:xfrm>
          <a:prstGeom prst="rect">
            <a:avLst/>
          </a:prstGeom>
        </p:spPr>
        <p:txBody>
          <a:bodyPr anchor="t" rtlCol="false" tIns="0" lIns="0" bIns="0" rIns="0">
            <a:spAutoFit/>
          </a:bodyPr>
          <a:lstStyle/>
          <a:p>
            <a:pPr algn="ctr">
              <a:lnSpc>
                <a:spcPts val="5878"/>
              </a:lnSpc>
            </a:pPr>
            <a:r>
              <a:rPr lang="en-US" b="true" sz="4199">
                <a:solidFill>
                  <a:srgbClr val="FFFFFF"/>
                </a:solidFill>
                <a:latin typeface="HK Grotesk Bold"/>
                <a:ea typeface="HK Grotesk Bold"/>
                <a:cs typeface="HK Grotesk Bold"/>
                <a:sym typeface="HK Grotesk Bold"/>
              </a:rPr>
              <a:t>4-FEATURE ENGINEERING</a:t>
            </a:r>
          </a:p>
          <a:p>
            <a:pPr algn="ctr">
              <a:lnSpc>
                <a:spcPts val="2024"/>
              </a:lnSpc>
            </a:pPr>
            <a:r>
              <a:rPr lang="en-US" b="true" sz="1776">
                <a:solidFill>
                  <a:srgbClr val="FFFFFF"/>
                </a:solidFill>
                <a:latin typeface="HK Grotesk Semi-Bold"/>
                <a:ea typeface="HK Grotesk Semi-Bold"/>
                <a:cs typeface="HK Grotesk Semi-Bold"/>
                <a:sym typeface="HK Grotesk Semi-Bold"/>
              </a:rPr>
              <a:t>We introduced the Participation-Project Ratio — the ratio of participation scores to project scores — to understand how students balance classroom engagement and hands-on work</a:t>
            </a:r>
          </a:p>
        </p:txBody>
      </p:sp>
      <p:sp>
        <p:nvSpPr>
          <p:cNvPr name="TextBox 18" id="18"/>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19" id="19"/>
          <p:cNvSpPr txBox="true"/>
          <p:nvPr/>
        </p:nvSpPr>
        <p:spPr>
          <a:xfrm rot="0">
            <a:off x="454600" y="3315357"/>
            <a:ext cx="6802403" cy="1446943"/>
          </a:xfrm>
          <a:prstGeom prst="rect">
            <a:avLst/>
          </a:prstGeom>
        </p:spPr>
        <p:txBody>
          <a:bodyPr anchor="t" rtlCol="false" tIns="0" lIns="0" bIns="0" rIns="0">
            <a:spAutoFit/>
          </a:bodyPr>
          <a:lstStyle/>
          <a:p>
            <a:pPr algn="ctr">
              <a:lnSpc>
                <a:spcPts val="1889"/>
              </a:lnSpc>
            </a:pPr>
            <a:r>
              <a:rPr lang="en-US" b="true" sz="1619" spc="145">
                <a:solidFill>
                  <a:srgbClr val="FFFFFF"/>
                </a:solidFill>
                <a:latin typeface="HK Grotesk Medium"/>
                <a:ea typeface="HK Grotesk Medium"/>
                <a:cs typeface="HK Grotesk Medium"/>
                <a:sym typeface="HK Grotesk Medium"/>
              </a:rPr>
              <a:t>Analysis showed that top-performing students (Grades A and B) tended to invest more in project work, while lower- performing students (Grades C and D) seemed to rely more on participation to boost their grades. This suggested that project-based learning might be a more effective path to academic success.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481051" y="4097322"/>
            <a:ext cx="4667250" cy="2989936"/>
            <a:chOff x="0" y="0"/>
            <a:chExt cx="6223000" cy="3986581"/>
          </a:xfrm>
        </p:grpSpPr>
        <p:sp>
          <p:nvSpPr>
            <p:cNvPr name="Freeform 4" id="4"/>
            <p:cNvSpPr/>
            <p:nvPr/>
          </p:nvSpPr>
          <p:spPr>
            <a:xfrm flipH="false" flipV="false" rot="0">
              <a:off x="0" y="0"/>
              <a:ext cx="6223000" cy="3986530"/>
            </a:xfrm>
            <a:custGeom>
              <a:avLst/>
              <a:gdLst/>
              <a:ahLst/>
              <a:cxnLst/>
              <a:rect r="r" b="b" t="t" l="l"/>
              <a:pathLst>
                <a:path h="3986530" w="6223000">
                  <a:moveTo>
                    <a:pt x="228600" y="0"/>
                  </a:moveTo>
                  <a:cubicBezTo>
                    <a:pt x="102362" y="0"/>
                    <a:pt x="0" y="102362"/>
                    <a:pt x="0" y="228600"/>
                  </a:cubicBezTo>
                  <a:lnTo>
                    <a:pt x="0" y="3757930"/>
                  </a:lnTo>
                  <a:cubicBezTo>
                    <a:pt x="0" y="3884168"/>
                    <a:pt x="102362" y="3986530"/>
                    <a:pt x="228600" y="3986530"/>
                  </a:cubicBezTo>
                  <a:lnTo>
                    <a:pt x="6000496" y="3986530"/>
                  </a:lnTo>
                  <a:cubicBezTo>
                    <a:pt x="6108700" y="3986530"/>
                    <a:pt x="6199378" y="3911346"/>
                    <a:pt x="6223000" y="3810381"/>
                  </a:cubicBezTo>
                  <a:lnTo>
                    <a:pt x="6223000" y="3810381"/>
                  </a:lnTo>
                  <a:lnTo>
                    <a:pt x="6223000" y="176149"/>
                  </a:lnTo>
                  <a:lnTo>
                    <a:pt x="6223000" y="176149"/>
                  </a:lnTo>
                  <a:cubicBezTo>
                    <a:pt x="6199251" y="75184"/>
                    <a:pt x="6108700" y="0"/>
                    <a:pt x="6000496" y="0"/>
                  </a:cubicBezTo>
                  <a:close/>
                </a:path>
              </a:pathLst>
            </a:custGeom>
            <a:blipFill>
              <a:blip r:embed="rId4"/>
              <a:stretch>
                <a:fillRect l="0" t="0" r="0" b="-31"/>
              </a:stretch>
            </a:blipFill>
          </p:spPr>
        </p:sp>
      </p:grpSp>
      <p:grpSp>
        <p:nvGrpSpPr>
          <p:cNvPr name="Group 5" id="5"/>
          <p:cNvGrpSpPr>
            <a:grpSpLocks noChangeAspect="true"/>
          </p:cNvGrpSpPr>
          <p:nvPr/>
        </p:nvGrpSpPr>
        <p:grpSpPr>
          <a:xfrm rot="0">
            <a:off x="2177977" y="7233961"/>
            <a:ext cx="4476750" cy="2247900"/>
            <a:chOff x="0" y="0"/>
            <a:chExt cx="5969000" cy="2997200"/>
          </a:xfrm>
        </p:grpSpPr>
        <p:sp>
          <p:nvSpPr>
            <p:cNvPr name="Freeform 6" id="6"/>
            <p:cNvSpPr/>
            <p:nvPr/>
          </p:nvSpPr>
          <p:spPr>
            <a:xfrm flipH="false" flipV="false" rot="0">
              <a:off x="0" y="0"/>
              <a:ext cx="5969000" cy="2997200"/>
            </a:xfrm>
            <a:custGeom>
              <a:avLst/>
              <a:gdLst/>
              <a:ahLst/>
              <a:cxnLst/>
              <a:rect r="r" b="b" t="t" l="l"/>
              <a:pathLst>
                <a:path h="2997200" w="5969000">
                  <a:moveTo>
                    <a:pt x="291719" y="0"/>
                  </a:moveTo>
                  <a:cubicBezTo>
                    <a:pt x="130556" y="254"/>
                    <a:pt x="0" y="130937"/>
                    <a:pt x="0" y="292100"/>
                  </a:cubicBezTo>
                  <a:lnTo>
                    <a:pt x="0" y="2705989"/>
                  </a:lnTo>
                  <a:cubicBezTo>
                    <a:pt x="0" y="2859405"/>
                    <a:pt x="118237" y="2985135"/>
                    <a:pt x="268478" y="2997200"/>
                  </a:cubicBezTo>
                  <a:lnTo>
                    <a:pt x="5700649" y="2997200"/>
                  </a:lnTo>
                  <a:cubicBezTo>
                    <a:pt x="5848223" y="2985389"/>
                    <a:pt x="5964809" y="2863850"/>
                    <a:pt x="5969000" y="2714244"/>
                  </a:cubicBezTo>
                  <a:lnTo>
                    <a:pt x="5969000" y="2714244"/>
                  </a:lnTo>
                  <a:lnTo>
                    <a:pt x="5969000" y="283845"/>
                  </a:lnTo>
                  <a:lnTo>
                    <a:pt x="5969000" y="283845"/>
                  </a:lnTo>
                  <a:cubicBezTo>
                    <a:pt x="5964682" y="126492"/>
                    <a:pt x="5835777" y="254"/>
                    <a:pt x="5677408" y="0"/>
                  </a:cubicBezTo>
                  <a:close/>
                </a:path>
              </a:pathLst>
            </a:custGeom>
            <a:blipFill>
              <a:blip r:embed="rId5"/>
              <a:stretch>
                <a:fillRect l="0" t="0" r="0" b="0"/>
              </a:stretch>
            </a:blipFill>
          </p:spPr>
        </p:sp>
      </p:grpSp>
      <p:sp>
        <p:nvSpPr>
          <p:cNvPr name="Freeform 7" id="7"/>
          <p:cNvSpPr/>
          <p:nvPr/>
        </p:nvSpPr>
        <p:spPr>
          <a:xfrm flipH="false" flipV="false" rot="0">
            <a:off x="6048004" y="5076444"/>
            <a:ext cx="752475" cy="1238250"/>
          </a:xfrm>
          <a:custGeom>
            <a:avLst/>
            <a:gdLst/>
            <a:ahLst/>
            <a:cxnLst/>
            <a:rect r="r" b="b" t="t" l="l"/>
            <a:pathLst>
              <a:path h="1238250" w="752475">
                <a:moveTo>
                  <a:pt x="0" y="0"/>
                </a:moveTo>
                <a:lnTo>
                  <a:pt x="752475" y="0"/>
                </a:lnTo>
                <a:lnTo>
                  <a:pt x="752475" y="1238250"/>
                </a:lnTo>
                <a:lnTo>
                  <a:pt x="0" y="1238250"/>
                </a:lnTo>
                <a:lnTo>
                  <a:pt x="0" y="0"/>
                </a:lnTo>
                <a:close/>
              </a:path>
            </a:pathLst>
          </a:custGeom>
          <a:blipFill>
            <a:blip r:embed="rId6"/>
            <a:stretch>
              <a:fillRect l="0" t="0" r="0" b="0"/>
            </a:stretch>
          </a:blipFill>
        </p:spPr>
      </p:sp>
      <p:grpSp>
        <p:nvGrpSpPr>
          <p:cNvPr name="Group 8" id="8"/>
          <p:cNvGrpSpPr>
            <a:grpSpLocks noChangeAspect="true"/>
          </p:cNvGrpSpPr>
          <p:nvPr/>
        </p:nvGrpSpPr>
        <p:grpSpPr>
          <a:xfrm rot="0">
            <a:off x="2177977" y="7238533"/>
            <a:ext cx="4476836" cy="2248605"/>
            <a:chOff x="0" y="0"/>
            <a:chExt cx="4476839" cy="2248611"/>
          </a:xfrm>
        </p:grpSpPr>
        <p:sp>
          <p:nvSpPr>
            <p:cNvPr name="Freeform 9" id="9"/>
            <p:cNvSpPr/>
            <p:nvPr/>
          </p:nvSpPr>
          <p:spPr>
            <a:xfrm flipH="false" flipV="false" rot="0">
              <a:off x="0" y="0"/>
              <a:ext cx="4476877" cy="2248662"/>
            </a:xfrm>
            <a:custGeom>
              <a:avLst/>
              <a:gdLst/>
              <a:ahLst/>
              <a:cxnLst/>
              <a:rect r="r" b="b" t="t" l="l"/>
              <a:pathLst>
                <a:path h="2248662" w="4476877">
                  <a:moveTo>
                    <a:pt x="0" y="2248662"/>
                  </a:moveTo>
                  <a:lnTo>
                    <a:pt x="4476877" y="2248662"/>
                  </a:lnTo>
                  <a:lnTo>
                    <a:pt x="4476877" y="0"/>
                  </a:lnTo>
                  <a:lnTo>
                    <a:pt x="0" y="0"/>
                  </a:lnTo>
                  <a:close/>
                </a:path>
              </a:pathLst>
            </a:custGeom>
            <a:solidFill>
              <a:srgbClr val="000000">
                <a:alpha val="0"/>
              </a:srgbClr>
            </a:solidFill>
          </p:spPr>
        </p:sp>
      </p:grpSp>
      <p:grpSp>
        <p:nvGrpSpPr>
          <p:cNvPr name="Group 10" id="10"/>
          <p:cNvGrpSpPr>
            <a:grpSpLocks noChangeAspect="true"/>
          </p:cNvGrpSpPr>
          <p:nvPr/>
        </p:nvGrpSpPr>
        <p:grpSpPr>
          <a:xfrm rot="0">
            <a:off x="417547" y="-63503"/>
            <a:ext cx="7208796" cy="7218836"/>
            <a:chOff x="0" y="0"/>
            <a:chExt cx="7208799" cy="7218832"/>
          </a:xfrm>
        </p:grpSpPr>
        <p:sp>
          <p:nvSpPr>
            <p:cNvPr name="Freeform 11" id="11"/>
            <p:cNvSpPr/>
            <p:nvPr/>
          </p:nvSpPr>
          <p:spPr>
            <a:xfrm flipH="false" flipV="false" rot="0">
              <a:off x="1609852"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2" id="12"/>
            <p:cNvSpPr/>
            <p:nvPr/>
          </p:nvSpPr>
          <p:spPr>
            <a:xfrm flipH="false" flipV="false" rot="0">
              <a:off x="338455"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3" id="13"/>
            <p:cNvSpPr/>
            <p:nvPr/>
          </p:nvSpPr>
          <p:spPr>
            <a:xfrm flipH="false" flipV="false" rot="0">
              <a:off x="63500" y="4165346"/>
              <a:ext cx="4671822" cy="2989961"/>
            </a:xfrm>
            <a:custGeom>
              <a:avLst/>
              <a:gdLst/>
              <a:ahLst/>
              <a:cxnLst/>
              <a:rect r="r" b="b" t="t" l="l"/>
              <a:pathLst>
                <a:path h="2989961" w="4671822">
                  <a:moveTo>
                    <a:pt x="0" y="2989961"/>
                  </a:moveTo>
                  <a:lnTo>
                    <a:pt x="4671822" y="2989961"/>
                  </a:lnTo>
                  <a:lnTo>
                    <a:pt x="4671822" y="0"/>
                  </a:lnTo>
                  <a:lnTo>
                    <a:pt x="0" y="0"/>
                  </a:lnTo>
                  <a:close/>
                </a:path>
              </a:pathLst>
            </a:custGeom>
            <a:solidFill>
              <a:srgbClr val="000000">
                <a:alpha val="0"/>
              </a:srgbClr>
            </a:solidFill>
          </p:spPr>
        </p:sp>
        <p:sp>
          <p:nvSpPr>
            <p:cNvPr name="Freeform 14" id="14"/>
            <p:cNvSpPr/>
            <p:nvPr/>
          </p:nvSpPr>
          <p:spPr>
            <a:xfrm flipH="false" flipV="false" rot="0">
              <a:off x="5630418" y="5144516"/>
              <a:ext cx="756031" cy="1239393"/>
            </a:xfrm>
            <a:custGeom>
              <a:avLst/>
              <a:gdLst/>
              <a:ahLst/>
              <a:cxnLst/>
              <a:rect r="r" b="b" t="t" l="l"/>
              <a:pathLst>
                <a:path h="1239393" w="756031">
                  <a:moveTo>
                    <a:pt x="0" y="1239393"/>
                  </a:moveTo>
                  <a:lnTo>
                    <a:pt x="756031" y="1239393"/>
                  </a:lnTo>
                  <a:lnTo>
                    <a:pt x="756031" y="0"/>
                  </a:lnTo>
                  <a:lnTo>
                    <a:pt x="0" y="0"/>
                  </a:lnTo>
                  <a:close/>
                </a:path>
              </a:pathLst>
            </a:custGeom>
            <a:solidFill>
              <a:srgbClr val="000000">
                <a:alpha val="0"/>
              </a:srgbClr>
            </a:solidFill>
          </p:spPr>
        </p:sp>
      </p:grpSp>
      <p:sp>
        <p:nvSpPr>
          <p:cNvPr name="TextBox 15" id="15"/>
          <p:cNvSpPr txBox="true"/>
          <p:nvPr/>
        </p:nvSpPr>
        <p:spPr>
          <a:xfrm rot="0">
            <a:off x="491833" y="1104643"/>
            <a:ext cx="6822091" cy="1695269"/>
          </a:xfrm>
          <a:prstGeom prst="rect">
            <a:avLst/>
          </a:prstGeom>
        </p:spPr>
        <p:txBody>
          <a:bodyPr anchor="t" rtlCol="false" tIns="0" lIns="0" bIns="0" rIns="0">
            <a:spAutoFit/>
          </a:bodyPr>
          <a:lstStyle/>
          <a:p>
            <a:pPr algn="ctr">
              <a:lnSpc>
                <a:spcPts val="5878"/>
              </a:lnSpc>
            </a:pPr>
            <a:r>
              <a:rPr lang="en-US" b="true" sz="4199">
                <a:solidFill>
                  <a:srgbClr val="FFFFFF"/>
                </a:solidFill>
                <a:latin typeface="HK Grotesk Bold"/>
                <a:ea typeface="HK Grotesk Bold"/>
                <a:cs typeface="HK Grotesk Bold"/>
                <a:sym typeface="HK Grotesk Bold"/>
              </a:rPr>
              <a:t>4-FEATURE ENGINEERING</a:t>
            </a:r>
          </a:p>
          <a:p>
            <a:pPr algn="ctr">
              <a:lnSpc>
                <a:spcPts val="2024"/>
              </a:lnSpc>
            </a:pPr>
            <a:r>
              <a:rPr lang="en-US" b="true" sz="1776">
                <a:solidFill>
                  <a:srgbClr val="FFFFFF"/>
                </a:solidFill>
                <a:latin typeface="HK Grotesk Semi-Bold"/>
                <a:ea typeface="HK Grotesk Semi-Bold"/>
                <a:cs typeface="HK Grotesk Semi-Bold"/>
                <a:sym typeface="HK Grotesk Semi-Bold"/>
              </a:rPr>
              <a:t>To capture students’ progress, we calculated the Improvement Score — the difference between midterm and final scores</a:t>
            </a:r>
          </a:p>
        </p:txBody>
      </p:sp>
      <p:sp>
        <p:nvSpPr>
          <p:cNvPr name="TextBox 16" id="16"/>
          <p:cNvSpPr txBox="true"/>
          <p:nvPr/>
        </p:nvSpPr>
        <p:spPr>
          <a:xfrm rot="0">
            <a:off x="275539" y="2934272"/>
            <a:ext cx="7130158" cy="966883"/>
          </a:xfrm>
          <a:prstGeom prst="rect">
            <a:avLst/>
          </a:prstGeom>
        </p:spPr>
        <p:txBody>
          <a:bodyPr anchor="t" rtlCol="false" tIns="0" lIns="0" bIns="0" rIns="0">
            <a:spAutoFit/>
          </a:bodyPr>
          <a:lstStyle/>
          <a:p>
            <a:pPr algn="ctr">
              <a:lnSpc>
                <a:spcPts val="1889"/>
              </a:lnSpc>
            </a:pPr>
            <a:r>
              <a:rPr lang="en-US" b="true" sz="1619">
                <a:solidFill>
                  <a:srgbClr val="FFFFFF"/>
                </a:solidFill>
                <a:latin typeface="HK Grotesk Medium"/>
                <a:ea typeface="HK Grotesk Medium"/>
                <a:cs typeface="HK Grotesk Medium"/>
                <a:sym typeface="HK Grotesk Medium"/>
              </a:rPr>
              <a:t>The results highlighted a wide range of im</a:t>
            </a:r>
            <a:r>
              <a:rPr lang="en-US" b="true" sz="1619">
                <a:solidFill>
                  <a:srgbClr val="2A3652"/>
                </a:solidFill>
                <a:latin typeface="HK Grotesk Bold"/>
                <a:ea typeface="HK Grotesk Bold"/>
                <a:cs typeface="HK Grotesk Bold"/>
                <a:sym typeface="HK Grotesk Bold"/>
              </a:rPr>
              <a:t>01</a:t>
            </a:r>
            <a:r>
              <a:rPr lang="en-US" b="true" sz="1619">
                <a:solidFill>
                  <a:srgbClr val="FFFFFF"/>
                </a:solidFill>
                <a:latin typeface="HK Grotesk Medium"/>
                <a:ea typeface="HK Grotesk Medium"/>
                <a:cs typeface="HK Grotesk Medium"/>
                <a:sym typeface="HK Grotesk Medium"/>
              </a:rPr>
              <a:t>provements, with some students showing significant growth, while others experienced a decline in performance. This metric offered a clearer view of individual academic trajectories.</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2818609" y="3079404"/>
            <a:ext cx="4371975" cy="2771137"/>
            <a:chOff x="0" y="0"/>
            <a:chExt cx="5829300" cy="3694849"/>
          </a:xfrm>
        </p:grpSpPr>
        <p:sp>
          <p:nvSpPr>
            <p:cNvPr name="Freeform 4" id="4"/>
            <p:cNvSpPr/>
            <p:nvPr/>
          </p:nvSpPr>
          <p:spPr>
            <a:xfrm flipH="false" flipV="false" rot="0">
              <a:off x="0" y="0"/>
              <a:ext cx="5829300" cy="3694811"/>
            </a:xfrm>
            <a:custGeom>
              <a:avLst/>
              <a:gdLst/>
              <a:ahLst/>
              <a:cxnLst/>
              <a:rect r="r" b="b" t="t" l="l"/>
              <a:pathLst>
                <a:path h="3694811" w="5829300">
                  <a:moveTo>
                    <a:pt x="596900" y="0"/>
                  </a:moveTo>
                  <a:cubicBezTo>
                    <a:pt x="267208" y="0"/>
                    <a:pt x="0" y="267208"/>
                    <a:pt x="0" y="596900"/>
                  </a:cubicBezTo>
                  <a:lnTo>
                    <a:pt x="0" y="3097911"/>
                  </a:lnTo>
                  <a:cubicBezTo>
                    <a:pt x="0" y="3427603"/>
                    <a:pt x="267208" y="3694811"/>
                    <a:pt x="596900" y="3694811"/>
                  </a:cubicBezTo>
                  <a:lnTo>
                    <a:pt x="5233289" y="3694811"/>
                  </a:lnTo>
                  <a:cubicBezTo>
                    <a:pt x="5552313" y="3694811"/>
                    <a:pt x="5812790" y="3444621"/>
                    <a:pt x="5829300" y="3129661"/>
                  </a:cubicBezTo>
                  <a:lnTo>
                    <a:pt x="5829300" y="3129661"/>
                  </a:lnTo>
                  <a:lnTo>
                    <a:pt x="5829300" y="565150"/>
                  </a:lnTo>
                  <a:lnTo>
                    <a:pt x="5829300" y="565150"/>
                  </a:lnTo>
                  <a:cubicBezTo>
                    <a:pt x="5812790" y="250190"/>
                    <a:pt x="5552186" y="0"/>
                    <a:pt x="5233289" y="0"/>
                  </a:cubicBezTo>
                  <a:close/>
                </a:path>
              </a:pathLst>
            </a:custGeom>
            <a:blipFill>
              <a:blip r:embed="rId4"/>
              <a:stretch>
                <a:fillRect l="0" t="0" r="0" b="-24"/>
              </a:stretch>
            </a:blipFill>
          </p:spPr>
        </p:sp>
      </p:grpSp>
      <p:grpSp>
        <p:nvGrpSpPr>
          <p:cNvPr name="Group 5" id="5"/>
          <p:cNvGrpSpPr>
            <a:grpSpLocks noChangeAspect="true"/>
          </p:cNvGrpSpPr>
          <p:nvPr/>
        </p:nvGrpSpPr>
        <p:grpSpPr>
          <a:xfrm rot="0">
            <a:off x="623345" y="5850541"/>
            <a:ext cx="2900924" cy="2266950"/>
            <a:chOff x="0" y="0"/>
            <a:chExt cx="3867899" cy="3022600"/>
          </a:xfrm>
        </p:grpSpPr>
        <p:sp>
          <p:nvSpPr>
            <p:cNvPr name="Freeform 6" id="6"/>
            <p:cNvSpPr/>
            <p:nvPr/>
          </p:nvSpPr>
          <p:spPr>
            <a:xfrm flipH="false" flipV="false" rot="0">
              <a:off x="0" y="0"/>
              <a:ext cx="3867785" cy="3022600"/>
            </a:xfrm>
            <a:custGeom>
              <a:avLst/>
              <a:gdLst/>
              <a:ahLst/>
              <a:cxnLst/>
              <a:rect r="r" b="b" t="t" l="l"/>
              <a:pathLst>
                <a:path h="3022600" w="3867785">
                  <a:moveTo>
                    <a:pt x="266700" y="0"/>
                  </a:moveTo>
                  <a:cubicBezTo>
                    <a:pt x="119380" y="0"/>
                    <a:pt x="0" y="119380"/>
                    <a:pt x="0" y="266700"/>
                  </a:cubicBezTo>
                  <a:lnTo>
                    <a:pt x="0" y="2762123"/>
                  </a:lnTo>
                  <a:cubicBezTo>
                    <a:pt x="0" y="2889631"/>
                    <a:pt x="89535" y="2996311"/>
                    <a:pt x="209042" y="3022600"/>
                  </a:cubicBezTo>
                  <a:lnTo>
                    <a:pt x="3658743" y="3022600"/>
                  </a:lnTo>
                  <a:cubicBezTo>
                    <a:pt x="3778377" y="2996311"/>
                    <a:pt x="3867785" y="2889631"/>
                    <a:pt x="3867785" y="2762123"/>
                  </a:cubicBezTo>
                  <a:lnTo>
                    <a:pt x="3867785" y="266700"/>
                  </a:lnTo>
                  <a:cubicBezTo>
                    <a:pt x="3867785" y="119380"/>
                    <a:pt x="3748405" y="0"/>
                    <a:pt x="3601085" y="0"/>
                  </a:cubicBezTo>
                  <a:close/>
                </a:path>
              </a:pathLst>
            </a:custGeom>
            <a:blipFill>
              <a:blip r:embed="rId5"/>
              <a:stretch>
                <a:fillRect l="0" t="0" r="-147" b="0"/>
              </a:stretch>
            </a:blipFill>
          </p:spPr>
        </p:sp>
      </p:grpSp>
      <p:sp>
        <p:nvSpPr>
          <p:cNvPr name="Freeform 7" id="7"/>
          <p:cNvSpPr/>
          <p:nvPr/>
        </p:nvSpPr>
        <p:spPr>
          <a:xfrm flipH="false" flipV="false" rot="0">
            <a:off x="5168246" y="6424813"/>
            <a:ext cx="1066800" cy="1371600"/>
          </a:xfrm>
          <a:custGeom>
            <a:avLst/>
            <a:gdLst/>
            <a:ahLst/>
            <a:cxnLst/>
            <a:rect r="r" b="b" t="t" l="l"/>
            <a:pathLst>
              <a:path h="1371600" w="1066800">
                <a:moveTo>
                  <a:pt x="0" y="0"/>
                </a:moveTo>
                <a:lnTo>
                  <a:pt x="1066800" y="0"/>
                </a:lnTo>
                <a:lnTo>
                  <a:pt x="1066800" y="1371600"/>
                </a:lnTo>
                <a:lnTo>
                  <a:pt x="0" y="1371600"/>
                </a:lnTo>
                <a:lnTo>
                  <a:pt x="0" y="0"/>
                </a:lnTo>
                <a:close/>
              </a:path>
            </a:pathLst>
          </a:custGeom>
          <a:blipFill>
            <a:blip r:embed="rId6"/>
            <a:stretch>
              <a:fillRect l="0" t="0" r="0" b="0"/>
            </a:stretch>
          </a:blipFill>
        </p:spPr>
      </p:sp>
      <p:grpSp>
        <p:nvGrpSpPr>
          <p:cNvPr name="Group 8" id="8"/>
          <p:cNvGrpSpPr>
            <a:grpSpLocks noChangeAspect="true"/>
          </p:cNvGrpSpPr>
          <p:nvPr/>
        </p:nvGrpSpPr>
        <p:grpSpPr>
          <a:xfrm rot="0">
            <a:off x="559851" y="-63503"/>
            <a:ext cx="7066502" cy="8253736"/>
            <a:chOff x="0" y="0"/>
            <a:chExt cx="7066509" cy="8253743"/>
          </a:xfrm>
        </p:grpSpPr>
        <p:sp>
          <p:nvSpPr>
            <p:cNvPr name="Freeform 9" id="9"/>
            <p:cNvSpPr/>
            <p:nvPr/>
          </p:nvSpPr>
          <p:spPr>
            <a:xfrm flipH="false" flipV="false" rot="0">
              <a:off x="1467612"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0" id="10"/>
            <p:cNvSpPr/>
            <p:nvPr/>
          </p:nvSpPr>
          <p:spPr>
            <a:xfrm flipH="false" flipV="false" rot="0">
              <a:off x="196088"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1" id="11"/>
            <p:cNvSpPr/>
            <p:nvPr/>
          </p:nvSpPr>
          <p:spPr>
            <a:xfrm flipH="false" flipV="false" rot="0">
              <a:off x="2258822" y="3147441"/>
              <a:ext cx="4372610" cy="2771140"/>
            </a:xfrm>
            <a:custGeom>
              <a:avLst/>
              <a:gdLst/>
              <a:ahLst/>
              <a:cxnLst/>
              <a:rect r="r" b="b" t="t" l="l"/>
              <a:pathLst>
                <a:path h="2771140" w="4372610">
                  <a:moveTo>
                    <a:pt x="0" y="2771140"/>
                  </a:moveTo>
                  <a:lnTo>
                    <a:pt x="4372610" y="2771140"/>
                  </a:lnTo>
                  <a:lnTo>
                    <a:pt x="4372610" y="0"/>
                  </a:lnTo>
                  <a:lnTo>
                    <a:pt x="0" y="0"/>
                  </a:lnTo>
                  <a:close/>
                </a:path>
              </a:pathLst>
            </a:custGeom>
            <a:solidFill>
              <a:srgbClr val="000000">
                <a:alpha val="0"/>
              </a:srgbClr>
            </a:solidFill>
          </p:spPr>
        </p:sp>
        <p:sp>
          <p:nvSpPr>
            <p:cNvPr name="Freeform 12" id="12"/>
            <p:cNvSpPr/>
            <p:nvPr/>
          </p:nvSpPr>
          <p:spPr>
            <a:xfrm flipH="false" flipV="false" rot="0">
              <a:off x="63500" y="5918581"/>
              <a:ext cx="2900934" cy="2271649"/>
            </a:xfrm>
            <a:custGeom>
              <a:avLst/>
              <a:gdLst/>
              <a:ahLst/>
              <a:cxnLst/>
              <a:rect r="r" b="b" t="t" l="l"/>
              <a:pathLst>
                <a:path h="2271649" w="2900934">
                  <a:moveTo>
                    <a:pt x="0" y="2271649"/>
                  </a:moveTo>
                  <a:lnTo>
                    <a:pt x="2900934" y="2271649"/>
                  </a:lnTo>
                  <a:lnTo>
                    <a:pt x="2900934" y="0"/>
                  </a:lnTo>
                  <a:lnTo>
                    <a:pt x="0" y="0"/>
                  </a:lnTo>
                  <a:close/>
                </a:path>
              </a:pathLst>
            </a:custGeom>
            <a:solidFill>
              <a:srgbClr val="000000">
                <a:alpha val="0"/>
              </a:srgbClr>
            </a:solidFill>
          </p:spPr>
        </p:sp>
        <p:sp>
          <p:nvSpPr>
            <p:cNvPr name="Freeform 13" id="13"/>
            <p:cNvSpPr/>
            <p:nvPr/>
          </p:nvSpPr>
          <p:spPr>
            <a:xfrm flipH="false" flipV="false" rot="0">
              <a:off x="4608449" y="6492875"/>
              <a:ext cx="1068959" cy="1368171"/>
            </a:xfrm>
            <a:custGeom>
              <a:avLst/>
              <a:gdLst/>
              <a:ahLst/>
              <a:cxnLst/>
              <a:rect r="r" b="b" t="t" l="l"/>
              <a:pathLst>
                <a:path h="1368171" w="1068959">
                  <a:moveTo>
                    <a:pt x="0" y="1368171"/>
                  </a:moveTo>
                  <a:lnTo>
                    <a:pt x="1068959" y="1368171"/>
                  </a:lnTo>
                  <a:lnTo>
                    <a:pt x="1068959" y="0"/>
                  </a:lnTo>
                  <a:lnTo>
                    <a:pt x="0" y="0"/>
                  </a:lnTo>
                  <a:close/>
                </a:path>
              </a:pathLst>
            </a:custGeom>
            <a:solidFill>
              <a:srgbClr val="000000">
                <a:alpha val="0"/>
              </a:srgbClr>
            </a:solidFill>
          </p:spPr>
        </p:sp>
      </p:grpSp>
      <p:sp>
        <p:nvSpPr>
          <p:cNvPr name="TextBox 14" id="14"/>
          <p:cNvSpPr txBox="true"/>
          <p:nvPr/>
        </p:nvSpPr>
        <p:spPr>
          <a:xfrm rot="0">
            <a:off x="623345" y="1104643"/>
            <a:ext cx="6560306" cy="1910020"/>
          </a:xfrm>
          <a:prstGeom prst="rect">
            <a:avLst/>
          </a:prstGeom>
        </p:spPr>
        <p:txBody>
          <a:bodyPr anchor="t" rtlCol="false" tIns="0" lIns="0" bIns="0" rIns="0">
            <a:spAutoFit/>
          </a:bodyPr>
          <a:lstStyle/>
          <a:p>
            <a:pPr algn="ctr">
              <a:lnSpc>
                <a:spcPts val="5878"/>
              </a:lnSpc>
            </a:pPr>
            <a:r>
              <a:rPr lang="en-US" b="true" sz="4199">
                <a:solidFill>
                  <a:srgbClr val="FFFFFF"/>
                </a:solidFill>
                <a:latin typeface="HK Grotesk Bold"/>
                <a:ea typeface="HK Grotesk Bold"/>
                <a:cs typeface="HK Grotesk Bold"/>
                <a:sym typeface="HK Grotesk Bold"/>
              </a:rPr>
              <a:t>4-FEATURE ENGINEERING</a:t>
            </a:r>
          </a:p>
          <a:p>
            <a:pPr algn="ctr">
              <a:lnSpc>
                <a:spcPts val="2024"/>
              </a:lnSpc>
            </a:pPr>
            <a:r>
              <a:rPr lang="en-US" b="true" sz="1776">
                <a:solidFill>
                  <a:srgbClr val="FFFFFF"/>
                </a:solidFill>
                <a:latin typeface="HK Grotesk Semi-Bold"/>
                <a:ea typeface="HK Grotesk Semi-Bold"/>
                <a:cs typeface="HK Grotesk Semi-Bold"/>
                <a:sym typeface="HK Grotesk Semi-Bold"/>
              </a:rPr>
              <a:t>To better reflect the importance of different assessment components, we devised a Weighted Score combining midterms, finals, assignments, quizzes, and projects</a:t>
            </a:r>
          </a:p>
        </p:txBody>
      </p:sp>
      <p:sp>
        <p:nvSpPr>
          <p:cNvPr name="TextBox 15" id="15"/>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16" id="16"/>
          <p:cNvSpPr txBox="true"/>
          <p:nvPr/>
        </p:nvSpPr>
        <p:spPr>
          <a:xfrm rot="0">
            <a:off x="981942" y="8339557"/>
            <a:ext cx="6070978" cy="1681839"/>
          </a:xfrm>
          <a:prstGeom prst="rect">
            <a:avLst/>
          </a:prstGeom>
        </p:spPr>
        <p:txBody>
          <a:bodyPr anchor="t" rtlCol="false" tIns="0" lIns="0" bIns="0" rIns="0">
            <a:spAutoFit/>
          </a:bodyPr>
          <a:lstStyle/>
          <a:p>
            <a:pPr algn="ctr">
              <a:lnSpc>
                <a:spcPts val="2196"/>
              </a:lnSpc>
            </a:pPr>
            <a:r>
              <a:rPr lang="en-US" b="true" sz="1882" spc="169">
                <a:solidFill>
                  <a:srgbClr val="FFFFFF"/>
                </a:solidFill>
                <a:latin typeface="HK Grotesk Medium"/>
                <a:ea typeface="HK Grotesk Medium"/>
                <a:cs typeface="HK Grotesk Medium"/>
                <a:sym typeface="HK Grotesk Medium"/>
              </a:rPr>
              <a:t>Our correlation heatmap revealed that students with consistent scores across all components tended to have higher weighted scores. This reinforced the idea that steady effort across various assessments often leads to better outcomes.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481051" y="4855502"/>
            <a:ext cx="6588281" cy="4237806"/>
            <a:chOff x="0" y="0"/>
            <a:chExt cx="8784374" cy="5650408"/>
          </a:xfrm>
        </p:grpSpPr>
        <p:sp>
          <p:nvSpPr>
            <p:cNvPr name="Freeform 4" id="4"/>
            <p:cNvSpPr/>
            <p:nvPr/>
          </p:nvSpPr>
          <p:spPr>
            <a:xfrm flipH="false" flipV="false" rot="0">
              <a:off x="0" y="0"/>
              <a:ext cx="8784336" cy="5650357"/>
            </a:xfrm>
            <a:custGeom>
              <a:avLst/>
              <a:gdLst/>
              <a:ahLst/>
              <a:cxnLst/>
              <a:rect r="r" b="b" t="t" l="l"/>
              <a:pathLst>
                <a:path h="5650357" w="8784336">
                  <a:moveTo>
                    <a:pt x="330200" y="0"/>
                  </a:moveTo>
                  <a:cubicBezTo>
                    <a:pt x="147828" y="0"/>
                    <a:pt x="0" y="147828"/>
                    <a:pt x="0" y="330200"/>
                  </a:cubicBezTo>
                  <a:lnTo>
                    <a:pt x="0" y="5320157"/>
                  </a:lnTo>
                  <a:cubicBezTo>
                    <a:pt x="0" y="5502529"/>
                    <a:pt x="147828" y="5650357"/>
                    <a:pt x="330200" y="5650357"/>
                  </a:cubicBezTo>
                  <a:lnTo>
                    <a:pt x="8454136" y="5650357"/>
                  </a:lnTo>
                  <a:cubicBezTo>
                    <a:pt x="8636508" y="5650357"/>
                    <a:pt x="8784336" y="5502529"/>
                    <a:pt x="8784336" y="5320157"/>
                  </a:cubicBezTo>
                  <a:lnTo>
                    <a:pt x="8784336" y="330200"/>
                  </a:lnTo>
                  <a:cubicBezTo>
                    <a:pt x="8784336" y="147828"/>
                    <a:pt x="8636508" y="0"/>
                    <a:pt x="8454136" y="0"/>
                  </a:cubicBezTo>
                  <a:close/>
                </a:path>
              </a:pathLst>
            </a:custGeom>
            <a:blipFill>
              <a:blip r:embed="rId4"/>
              <a:stretch>
                <a:fillRect l="0" t="0" r="-46" b="-20"/>
              </a:stretch>
            </a:blipFill>
          </p:spPr>
        </p:sp>
      </p:grpSp>
      <p:grpSp>
        <p:nvGrpSpPr>
          <p:cNvPr name="Group 5" id="5"/>
          <p:cNvGrpSpPr>
            <a:grpSpLocks noChangeAspect="true"/>
          </p:cNvGrpSpPr>
          <p:nvPr/>
        </p:nvGrpSpPr>
        <p:grpSpPr>
          <a:xfrm rot="0">
            <a:off x="481051" y="4860084"/>
            <a:ext cx="6588281" cy="4237806"/>
            <a:chOff x="0" y="0"/>
            <a:chExt cx="6588277" cy="4237800"/>
          </a:xfrm>
        </p:grpSpPr>
        <p:sp>
          <p:nvSpPr>
            <p:cNvPr name="Freeform 6" id="6"/>
            <p:cNvSpPr/>
            <p:nvPr/>
          </p:nvSpPr>
          <p:spPr>
            <a:xfrm flipH="false" flipV="false" rot="0">
              <a:off x="0" y="0"/>
              <a:ext cx="6588252" cy="4237863"/>
            </a:xfrm>
            <a:custGeom>
              <a:avLst/>
              <a:gdLst/>
              <a:ahLst/>
              <a:cxnLst/>
              <a:rect r="r" b="b" t="t" l="l"/>
              <a:pathLst>
                <a:path h="4237863" w="6588252">
                  <a:moveTo>
                    <a:pt x="0" y="4237863"/>
                  </a:moveTo>
                  <a:lnTo>
                    <a:pt x="6588252" y="4237863"/>
                  </a:lnTo>
                  <a:lnTo>
                    <a:pt x="6588252" y="0"/>
                  </a:lnTo>
                  <a:lnTo>
                    <a:pt x="0" y="0"/>
                  </a:lnTo>
                  <a:close/>
                </a:path>
              </a:pathLst>
            </a:custGeom>
            <a:solidFill>
              <a:srgbClr val="000000">
                <a:alpha val="0"/>
              </a:srgbClr>
            </a:solidFill>
          </p:spPr>
        </p:sp>
      </p:grpSp>
      <p:grpSp>
        <p:nvGrpSpPr>
          <p:cNvPr name="Group 7" id="7"/>
          <p:cNvGrpSpPr>
            <a:grpSpLocks noChangeAspect="true"/>
          </p:cNvGrpSpPr>
          <p:nvPr/>
        </p:nvGrpSpPr>
        <p:grpSpPr>
          <a:xfrm rot="0">
            <a:off x="692448" y="-63503"/>
            <a:ext cx="6933905" cy="4228900"/>
            <a:chOff x="0" y="0"/>
            <a:chExt cx="6933895" cy="4228897"/>
          </a:xfrm>
        </p:grpSpPr>
        <p:sp>
          <p:nvSpPr>
            <p:cNvPr name="Freeform 8" id="8"/>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9" id="9"/>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10" id="10"/>
          <p:cNvSpPr txBox="true"/>
          <p:nvPr/>
        </p:nvSpPr>
        <p:spPr>
          <a:xfrm rot="0">
            <a:off x="623345" y="1104643"/>
            <a:ext cx="6560306"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4-FEATURE ENGINEERING</a:t>
            </a:r>
          </a:p>
        </p:txBody>
      </p:sp>
      <p:sp>
        <p:nvSpPr>
          <p:cNvPr name="TextBox 11" id="11"/>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12" id="12"/>
          <p:cNvSpPr txBox="true"/>
          <p:nvPr/>
        </p:nvSpPr>
        <p:spPr>
          <a:xfrm rot="0">
            <a:off x="946175" y="2221478"/>
            <a:ext cx="5780923" cy="527847"/>
          </a:xfrm>
          <a:prstGeom prst="rect">
            <a:avLst/>
          </a:prstGeom>
        </p:spPr>
        <p:txBody>
          <a:bodyPr anchor="t" rtlCol="false" tIns="0" lIns="0" bIns="0" rIns="0">
            <a:spAutoFit/>
          </a:bodyPr>
          <a:lstStyle/>
          <a:p>
            <a:pPr algn="ctr">
              <a:lnSpc>
                <a:spcPts val="2024"/>
              </a:lnSpc>
            </a:pPr>
            <a:r>
              <a:rPr lang="en-US" b="true" sz="1776">
                <a:solidFill>
                  <a:srgbClr val="FFFFFF"/>
                </a:solidFill>
                <a:latin typeface="HK Grotesk Semi-Bold"/>
                <a:ea typeface="HK Grotesk Semi-Bold"/>
                <a:cs typeface="HK Grotesk Semi-Bold"/>
                <a:sym typeface="HK Grotesk Semi-Bold"/>
              </a:rPr>
              <a:t>We binned weekly study hours into meaningful ranges and calculated the average weighted score for each bin</a:t>
            </a:r>
          </a:p>
        </p:txBody>
      </p:sp>
      <p:sp>
        <p:nvSpPr>
          <p:cNvPr name="TextBox 13" id="13"/>
          <p:cNvSpPr txBox="true"/>
          <p:nvPr/>
        </p:nvSpPr>
        <p:spPr>
          <a:xfrm rot="0">
            <a:off x="407337" y="3398015"/>
            <a:ext cx="6870402" cy="884492"/>
          </a:xfrm>
          <a:prstGeom prst="rect">
            <a:avLst/>
          </a:prstGeom>
        </p:spPr>
        <p:txBody>
          <a:bodyPr anchor="t" rtlCol="false" tIns="0" lIns="0" bIns="0" rIns="0">
            <a:spAutoFit/>
          </a:bodyPr>
          <a:lstStyle/>
          <a:p>
            <a:pPr algn="ctr">
              <a:lnSpc>
                <a:spcPts val="1728"/>
              </a:lnSpc>
            </a:pPr>
            <a:r>
              <a:rPr lang="en-US" b="true" sz="1481" spc="133">
                <a:solidFill>
                  <a:srgbClr val="FFFFFF"/>
                </a:solidFill>
                <a:latin typeface="HK Grotesk Medium"/>
                <a:ea typeface="HK Grotesk Medium"/>
                <a:cs typeface="HK Grotesk Medium"/>
                <a:sym typeface="HK Grotesk Medium"/>
              </a:rPr>
              <a:t>The trend showed a sweet spot — students studying around 20 to 25 hours per week consistently scored higher. Beyond this range, additional study hours didn’t correlate with significantly better grades, suggesting diminishing returns on excessive studying.</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a:grpSpLocks noChangeAspect="true"/>
          </p:cNvGrpSpPr>
          <p:nvPr/>
        </p:nvGrpSpPr>
        <p:grpSpPr>
          <a:xfrm rot="0">
            <a:off x="344376" y="2919355"/>
            <a:ext cx="4332580" cy="2638425"/>
            <a:chOff x="0" y="0"/>
            <a:chExt cx="5776773" cy="3517900"/>
          </a:xfrm>
        </p:grpSpPr>
        <p:sp>
          <p:nvSpPr>
            <p:cNvPr name="Freeform 4" id="4"/>
            <p:cNvSpPr/>
            <p:nvPr/>
          </p:nvSpPr>
          <p:spPr>
            <a:xfrm flipH="false" flipV="false" rot="0">
              <a:off x="0" y="0"/>
              <a:ext cx="5776849" cy="3517900"/>
            </a:xfrm>
            <a:custGeom>
              <a:avLst/>
              <a:gdLst/>
              <a:ahLst/>
              <a:cxnLst/>
              <a:rect r="r" b="b" t="t" l="l"/>
              <a:pathLst>
                <a:path h="3517900" w="5776849">
                  <a:moveTo>
                    <a:pt x="317500" y="0"/>
                  </a:moveTo>
                  <a:cubicBezTo>
                    <a:pt x="142113" y="0"/>
                    <a:pt x="0" y="142113"/>
                    <a:pt x="0" y="317500"/>
                  </a:cubicBezTo>
                  <a:lnTo>
                    <a:pt x="0" y="3201924"/>
                  </a:lnTo>
                  <a:cubicBezTo>
                    <a:pt x="0" y="3366770"/>
                    <a:pt x="125603" y="3502152"/>
                    <a:pt x="286258" y="3517900"/>
                  </a:cubicBezTo>
                  <a:lnTo>
                    <a:pt x="5490591" y="3517900"/>
                  </a:lnTo>
                  <a:cubicBezTo>
                    <a:pt x="5651246" y="3502152"/>
                    <a:pt x="5776849" y="3366770"/>
                    <a:pt x="5776849" y="3201924"/>
                  </a:cubicBezTo>
                  <a:lnTo>
                    <a:pt x="5776849" y="317500"/>
                  </a:lnTo>
                  <a:cubicBezTo>
                    <a:pt x="5776849" y="142113"/>
                    <a:pt x="5634736" y="0"/>
                    <a:pt x="5459349" y="0"/>
                  </a:cubicBezTo>
                  <a:close/>
                </a:path>
              </a:pathLst>
            </a:custGeom>
            <a:blipFill>
              <a:blip r:embed="rId4"/>
              <a:stretch>
                <a:fillRect l="0" t="0" r="-28" b="0"/>
              </a:stretch>
            </a:blipFill>
          </p:spPr>
        </p:sp>
      </p:grpSp>
      <p:grpSp>
        <p:nvGrpSpPr>
          <p:cNvPr name="Group 5" id="5"/>
          <p:cNvGrpSpPr>
            <a:grpSpLocks noChangeAspect="true"/>
          </p:cNvGrpSpPr>
          <p:nvPr/>
        </p:nvGrpSpPr>
        <p:grpSpPr>
          <a:xfrm rot="0">
            <a:off x="623345" y="7900102"/>
            <a:ext cx="3505200" cy="2341721"/>
            <a:chOff x="0" y="0"/>
            <a:chExt cx="4673600" cy="3122295"/>
          </a:xfrm>
        </p:grpSpPr>
        <p:sp>
          <p:nvSpPr>
            <p:cNvPr name="Freeform 6" id="6"/>
            <p:cNvSpPr/>
            <p:nvPr/>
          </p:nvSpPr>
          <p:spPr>
            <a:xfrm flipH="false" flipV="false" rot="0">
              <a:off x="0" y="0"/>
              <a:ext cx="4673600" cy="3122295"/>
            </a:xfrm>
            <a:custGeom>
              <a:avLst/>
              <a:gdLst/>
              <a:ahLst/>
              <a:cxnLst/>
              <a:rect r="r" b="b" t="t" l="l"/>
              <a:pathLst>
                <a:path h="3122295" w="4673600">
                  <a:moveTo>
                    <a:pt x="291592" y="0"/>
                  </a:moveTo>
                  <a:cubicBezTo>
                    <a:pt x="130429" y="254"/>
                    <a:pt x="0" y="130937"/>
                    <a:pt x="0" y="292100"/>
                  </a:cubicBezTo>
                  <a:lnTo>
                    <a:pt x="0" y="2830195"/>
                  </a:lnTo>
                  <a:cubicBezTo>
                    <a:pt x="0" y="2991485"/>
                    <a:pt x="130810" y="3122295"/>
                    <a:pt x="292100" y="3122295"/>
                  </a:cubicBezTo>
                  <a:lnTo>
                    <a:pt x="4387088" y="3122295"/>
                  </a:lnTo>
                  <a:cubicBezTo>
                    <a:pt x="4528947" y="3122295"/>
                    <a:pt x="4647057" y="3021203"/>
                    <a:pt x="4673600" y="2887218"/>
                  </a:cubicBezTo>
                  <a:lnTo>
                    <a:pt x="4673600" y="2887218"/>
                  </a:lnTo>
                  <a:lnTo>
                    <a:pt x="4673600" y="235077"/>
                  </a:lnTo>
                  <a:lnTo>
                    <a:pt x="4673600" y="235077"/>
                  </a:lnTo>
                  <a:cubicBezTo>
                    <a:pt x="4647057" y="101219"/>
                    <a:pt x="4529201" y="254"/>
                    <a:pt x="4387596" y="0"/>
                  </a:cubicBezTo>
                  <a:close/>
                </a:path>
              </a:pathLst>
            </a:custGeom>
            <a:blipFill>
              <a:blip r:embed="rId5"/>
              <a:stretch>
                <a:fillRect l="0" t="0" r="0" b="-61"/>
              </a:stretch>
            </a:blipFill>
          </p:spPr>
        </p:sp>
      </p:grpSp>
      <p:grpSp>
        <p:nvGrpSpPr>
          <p:cNvPr name="Group 7" id="7"/>
          <p:cNvGrpSpPr>
            <a:grpSpLocks noChangeAspect="true"/>
          </p:cNvGrpSpPr>
          <p:nvPr/>
        </p:nvGrpSpPr>
        <p:grpSpPr>
          <a:xfrm rot="0">
            <a:off x="4217575" y="5806411"/>
            <a:ext cx="3178502" cy="2044579"/>
            <a:chOff x="0" y="0"/>
            <a:chExt cx="4238003" cy="2726106"/>
          </a:xfrm>
        </p:grpSpPr>
        <p:sp>
          <p:nvSpPr>
            <p:cNvPr name="Freeform 8" id="8"/>
            <p:cNvSpPr/>
            <p:nvPr/>
          </p:nvSpPr>
          <p:spPr>
            <a:xfrm flipH="false" flipV="false" rot="0">
              <a:off x="0" y="0"/>
              <a:ext cx="4237990" cy="2726055"/>
            </a:xfrm>
            <a:custGeom>
              <a:avLst/>
              <a:gdLst/>
              <a:ahLst/>
              <a:cxnLst/>
              <a:rect r="r" b="b" t="t" l="l"/>
              <a:pathLst>
                <a:path h="2726055" w="4237990">
                  <a:moveTo>
                    <a:pt x="190246" y="0"/>
                  </a:moveTo>
                  <a:cubicBezTo>
                    <a:pt x="85090" y="127"/>
                    <a:pt x="0" y="85344"/>
                    <a:pt x="0" y="190500"/>
                  </a:cubicBezTo>
                  <a:lnTo>
                    <a:pt x="0" y="2535555"/>
                  </a:lnTo>
                  <a:cubicBezTo>
                    <a:pt x="0" y="2640711"/>
                    <a:pt x="85344" y="2726055"/>
                    <a:pt x="190500" y="2726055"/>
                  </a:cubicBezTo>
                  <a:lnTo>
                    <a:pt x="4047490" y="2726055"/>
                  </a:lnTo>
                  <a:cubicBezTo>
                    <a:pt x="4152646" y="2726055"/>
                    <a:pt x="4237990" y="2640711"/>
                    <a:pt x="4237990" y="2535555"/>
                  </a:cubicBezTo>
                  <a:lnTo>
                    <a:pt x="4237990" y="190500"/>
                  </a:lnTo>
                  <a:cubicBezTo>
                    <a:pt x="4237990" y="85344"/>
                    <a:pt x="4152900" y="127"/>
                    <a:pt x="4047744" y="0"/>
                  </a:cubicBezTo>
                  <a:close/>
                </a:path>
              </a:pathLst>
            </a:custGeom>
            <a:blipFill>
              <a:blip r:embed="rId6"/>
              <a:stretch>
                <a:fillRect l="0" t="0" r="-89" b="-163"/>
              </a:stretch>
            </a:blipFill>
          </p:spPr>
        </p:sp>
      </p:grpSp>
      <p:grpSp>
        <p:nvGrpSpPr>
          <p:cNvPr name="Group 9" id="9"/>
          <p:cNvGrpSpPr>
            <a:grpSpLocks noChangeAspect="true"/>
          </p:cNvGrpSpPr>
          <p:nvPr/>
        </p:nvGrpSpPr>
        <p:grpSpPr>
          <a:xfrm rot="0">
            <a:off x="280873" y="-63503"/>
            <a:ext cx="7345480" cy="5690502"/>
            <a:chOff x="0" y="0"/>
            <a:chExt cx="7345477" cy="5690502"/>
          </a:xfrm>
        </p:grpSpPr>
        <p:sp>
          <p:nvSpPr>
            <p:cNvPr name="Freeform 10" id="10"/>
            <p:cNvSpPr/>
            <p:nvPr/>
          </p:nvSpPr>
          <p:spPr>
            <a:xfrm flipH="false" flipV="false" rot="0">
              <a:off x="1746631" y="63500"/>
              <a:ext cx="5535295" cy="4101846"/>
            </a:xfrm>
            <a:custGeom>
              <a:avLst/>
              <a:gdLst/>
              <a:ahLst/>
              <a:cxnLst/>
              <a:rect r="r" b="b" t="t" l="l"/>
              <a:pathLst>
                <a:path h="4101846" w="5535295">
                  <a:moveTo>
                    <a:pt x="0" y="0"/>
                  </a:moveTo>
                  <a:lnTo>
                    <a:pt x="0" y="4101846"/>
                  </a:lnTo>
                  <a:lnTo>
                    <a:pt x="5535295" y="4101846"/>
                  </a:lnTo>
                  <a:lnTo>
                    <a:pt x="5535295" y="0"/>
                  </a:lnTo>
                  <a:close/>
                </a:path>
              </a:pathLst>
            </a:custGeom>
            <a:solidFill>
              <a:srgbClr val="000000">
                <a:alpha val="0"/>
              </a:srgbClr>
            </a:solidFill>
          </p:spPr>
        </p:sp>
        <p:sp>
          <p:nvSpPr>
            <p:cNvPr name="Freeform 11" id="11"/>
            <p:cNvSpPr/>
            <p:nvPr/>
          </p:nvSpPr>
          <p:spPr>
            <a:xfrm flipH="false" flipV="false" rot="0">
              <a:off x="475107"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sp>
          <p:nvSpPr>
            <p:cNvPr name="Freeform 12" id="12"/>
            <p:cNvSpPr/>
            <p:nvPr/>
          </p:nvSpPr>
          <p:spPr>
            <a:xfrm flipH="false" flipV="false" rot="0">
              <a:off x="63500" y="2987421"/>
              <a:ext cx="4332605" cy="2639568"/>
            </a:xfrm>
            <a:custGeom>
              <a:avLst/>
              <a:gdLst/>
              <a:ahLst/>
              <a:cxnLst/>
              <a:rect r="r" b="b" t="t" l="l"/>
              <a:pathLst>
                <a:path h="2639568" w="4332605">
                  <a:moveTo>
                    <a:pt x="0" y="2639568"/>
                  </a:moveTo>
                  <a:lnTo>
                    <a:pt x="4332605" y="2639568"/>
                  </a:lnTo>
                  <a:lnTo>
                    <a:pt x="4332605" y="0"/>
                  </a:lnTo>
                  <a:lnTo>
                    <a:pt x="0" y="0"/>
                  </a:lnTo>
                  <a:close/>
                </a:path>
              </a:pathLst>
            </a:custGeom>
            <a:solidFill>
              <a:srgbClr val="000000">
                <a:alpha val="0"/>
              </a:srgbClr>
            </a:solidFill>
          </p:spPr>
        </p:sp>
      </p:grpSp>
      <p:grpSp>
        <p:nvGrpSpPr>
          <p:cNvPr name="Group 13" id="13"/>
          <p:cNvGrpSpPr>
            <a:grpSpLocks noChangeAspect="true"/>
          </p:cNvGrpSpPr>
          <p:nvPr/>
        </p:nvGrpSpPr>
        <p:grpSpPr>
          <a:xfrm rot="0">
            <a:off x="559851" y="5747490"/>
            <a:ext cx="6899729" cy="4562408"/>
            <a:chOff x="0" y="0"/>
            <a:chExt cx="6899732" cy="4562412"/>
          </a:xfrm>
        </p:grpSpPr>
        <p:sp>
          <p:nvSpPr>
            <p:cNvPr name="Freeform 14" id="14"/>
            <p:cNvSpPr/>
            <p:nvPr/>
          </p:nvSpPr>
          <p:spPr>
            <a:xfrm flipH="false" flipV="false" rot="0">
              <a:off x="63500" y="2157222"/>
              <a:ext cx="3509391" cy="2341626"/>
            </a:xfrm>
            <a:custGeom>
              <a:avLst/>
              <a:gdLst/>
              <a:ahLst/>
              <a:cxnLst/>
              <a:rect r="r" b="b" t="t" l="l"/>
              <a:pathLst>
                <a:path h="2341626" w="3509391">
                  <a:moveTo>
                    <a:pt x="0" y="2341626"/>
                  </a:moveTo>
                  <a:lnTo>
                    <a:pt x="3509391" y="2341626"/>
                  </a:lnTo>
                  <a:lnTo>
                    <a:pt x="3509391" y="0"/>
                  </a:lnTo>
                  <a:lnTo>
                    <a:pt x="0" y="0"/>
                  </a:lnTo>
                  <a:close/>
                </a:path>
              </a:pathLst>
            </a:custGeom>
            <a:solidFill>
              <a:srgbClr val="000000">
                <a:alpha val="0"/>
              </a:srgbClr>
            </a:solidFill>
          </p:spPr>
        </p:sp>
        <p:sp>
          <p:nvSpPr>
            <p:cNvPr name="Freeform 15" id="15"/>
            <p:cNvSpPr/>
            <p:nvPr/>
          </p:nvSpPr>
          <p:spPr>
            <a:xfrm flipH="false" flipV="false" rot="0">
              <a:off x="3657727" y="63500"/>
              <a:ext cx="3178556" cy="2044573"/>
            </a:xfrm>
            <a:custGeom>
              <a:avLst/>
              <a:gdLst/>
              <a:ahLst/>
              <a:cxnLst/>
              <a:rect r="r" b="b" t="t" l="l"/>
              <a:pathLst>
                <a:path h="2044573" w="3178556">
                  <a:moveTo>
                    <a:pt x="0" y="2044573"/>
                  </a:moveTo>
                  <a:lnTo>
                    <a:pt x="3178556" y="2044573"/>
                  </a:lnTo>
                  <a:lnTo>
                    <a:pt x="3178556" y="0"/>
                  </a:lnTo>
                  <a:lnTo>
                    <a:pt x="0" y="0"/>
                  </a:lnTo>
                  <a:close/>
                </a:path>
              </a:pathLst>
            </a:custGeom>
            <a:solidFill>
              <a:srgbClr val="000000">
                <a:alpha val="0"/>
              </a:srgbClr>
            </a:solidFill>
          </p:spPr>
        </p:sp>
      </p:grpSp>
      <p:sp>
        <p:nvSpPr>
          <p:cNvPr name="TextBox 16" id="16"/>
          <p:cNvSpPr txBox="true"/>
          <p:nvPr/>
        </p:nvSpPr>
        <p:spPr>
          <a:xfrm rot="0">
            <a:off x="623345" y="1104643"/>
            <a:ext cx="6560306"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4-FEATURE ENGINEERING</a:t>
            </a:r>
          </a:p>
        </p:txBody>
      </p:sp>
      <p:sp>
        <p:nvSpPr>
          <p:cNvPr name="TextBox 17" id="17"/>
          <p:cNvSpPr txBox="true"/>
          <p:nvPr/>
        </p:nvSpPr>
        <p:spPr>
          <a:xfrm rot="0">
            <a:off x="4637322" y="2896886"/>
            <a:ext cx="259061" cy="281911"/>
          </a:xfrm>
          <a:prstGeom prst="rect">
            <a:avLst/>
          </a:prstGeom>
        </p:spPr>
        <p:txBody>
          <a:bodyPr anchor="t" rtlCol="false" tIns="0" lIns="0" bIns="0" rIns="0">
            <a:spAutoFit/>
          </a:bodyPr>
          <a:lstStyle/>
          <a:p>
            <a:pPr algn="l">
              <a:lnSpc>
                <a:spcPts val="2239"/>
              </a:lnSpc>
            </a:pPr>
            <a:r>
              <a:rPr lang="en-US" b="true" sz="1599" spc="143">
                <a:solidFill>
                  <a:srgbClr val="2A3652"/>
                </a:solidFill>
                <a:latin typeface="HK Grotesk Bold"/>
                <a:ea typeface="HK Grotesk Bold"/>
                <a:cs typeface="HK Grotesk Bold"/>
                <a:sym typeface="HK Grotesk Bold"/>
              </a:rPr>
              <a:t>01</a:t>
            </a:r>
          </a:p>
        </p:txBody>
      </p:sp>
      <p:sp>
        <p:nvSpPr>
          <p:cNvPr name="TextBox 18" id="18"/>
          <p:cNvSpPr txBox="true"/>
          <p:nvPr/>
        </p:nvSpPr>
        <p:spPr>
          <a:xfrm rot="0">
            <a:off x="424920" y="5680967"/>
            <a:ext cx="3768738" cy="2070897"/>
          </a:xfrm>
          <a:prstGeom prst="rect">
            <a:avLst/>
          </a:prstGeom>
        </p:spPr>
        <p:txBody>
          <a:bodyPr anchor="t" rtlCol="false" tIns="0" lIns="0" bIns="0" rIns="0">
            <a:spAutoFit/>
          </a:bodyPr>
          <a:lstStyle/>
          <a:p>
            <a:pPr algn="l">
              <a:lnSpc>
                <a:spcPts val="2024"/>
              </a:lnSpc>
            </a:pPr>
            <a:r>
              <a:rPr lang="en-US" b="true" sz="1776">
                <a:solidFill>
                  <a:srgbClr val="FFFFFF"/>
                </a:solidFill>
                <a:latin typeface="HK Grotesk Medium"/>
                <a:ea typeface="HK Grotesk Medium"/>
                <a:cs typeface="HK Grotesk Medium"/>
                <a:sym typeface="HK Grotesk Medium"/>
              </a:rPr>
              <a:t>Surprisingly, there was no strong correlation between stress-to-sleep balance and performance. While high stress sometimes led to erratic scores, other students maintained strong grades despite stressful conditions — possibly due to effective coping mechanisms or support systems.</a:t>
            </a:r>
          </a:p>
        </p:txBody>
      </p:sp>
      <p:sp>
        <p:nvSpPr>
          <p:cNvPr name="TextBox 19" id="19"/>
          <p:cNvSpPr txBox="true"/>
          <p:nvPr/>
        </p:nvSpPr>
        <p:spPr>
          <a:xfrm rot="0">
            <a:off x="430787" y="2221478"/>
            <a:ext cx="6832082" cy="527847"/>
          </a:xfrm>
          <a:prstGeom prst="rect">
            <a:avLst/>
          </a:prstGeom>
        </p:spPr>
        <p:txBody>
          <a:bodyPr anchor="t" rtlCol="false" tIns="0" lIns="0" bIns="0" rIns="0">
            <a:spAutoFit/>
          </a:bodyPr>
          <a:lstStyle/>
          <a:p>
            <a:pPr algn="ctr">
              <a:lnSpc>
                <a:spcPts val="2024"/>
              </a:lnSpc>
            </a:pPr>
            <a:r>
              <a:rPr lang="en-US" b="true" sz="1776">
                <a:solidFill>
                  <a:srgbClr val="FFFFFF"/>
                </a:solidFill>
                <a:latin typeface="HK Grotesk Semi-Bold"/>
                <a:ea typeface="HK Grotesk Semi-Bold"/>
                <a:cs typeface="HK Grotesk Semi-Bold"/>
                <a:sym typeface="HK Grotesk Semi-Bold"/>
              </a:rPr>
              <a:t>We examined the relationship between the Stress-to-Sleep Ratio and both total and weighted scores</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95910" y="894464"/>
            <a:ext cx="1590675" cy="1295400"/>
          </a:xfrm>
          <a:custGeom>
            <a:avLst/>
            <a:gdLst/>
            <a:ahLst/>
            <a:cxnLst/>
            <a:rect r="r" b="b" t="t" l="l"/>
            <a:pathLst>
              <a:path h="1295400" w="1590675">
                <a:moveTo>
                  <a:pt x="0" y="0"/>
                </a:moveTo>
                <a:lnTo>
                  <a:pt x="1590675" y="0"/>
                </a:lnTo>
                <a:lnTo>
                  <a:pt x="1590675" y="1295400"/>
                </a:lnTo>
                <a:lnTo>
                  <a:pt x="0" y="1295400"/>
                </a:lnTo>
                <a:lnTo>
                  <a:pt x="0" y="0"/>
                </a:lnTo>
                <a:close/>
              </a:path>
            </a:pathLst>
          </a:custGeom>
          <a:blipFill>
            <a:blip r:embed="rId4"/>
            <a:stretch>
              <a:fillRect l="0" t="0" r="0" b="0"/>
            </a:stretch>
          </a:blipFill>
        </p:spPr>
      </p:sp>
      <p:grpSp>
        <p:nvGrpSpPr>
          <p:cNvPr name="Group 4" id="4"/>
          <p:cNvGrpSpPr>
            <a:grpSpLocks noChangeAspect="true"/>
          </p:cNvGrpSpPr>
          <p:nvPr/>
        </p:nvGrpSpPr>
        <p:grpSpPr>
          <a:xfrm rot="0">
            <a:off x="692448" y="-63503"/>
            <a:ext cx="6933905" cy="4228900"/>
            <a:chOff x="0" y="0"/>
            <a:chExt cx="6933895" cy="4228897"/>
          </a:xfrm>
        </p:grpSpPr>
        <p:sp>
          <p:nvSpPr>
            <p:cNvPr name="Freeform 5" id="5"/>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6" id="6"/>
            <p:cNvSpPr/>
            <p:nvPr/>
          </p:nvSpPr>
          <p:spPr>
            <a:xfrm flipH="false" flipV="false" rot="0">
              <a:off x="4303395" y="962533"/>
              <a:ext cx="1586865" cy="1295273"/>
            </a:xfrm>
            <a:custGeom>
              <a:avLst/>
              <a:gdLst/>
              <a:ahLst/>
              <a:cxnLst/>
              <a:rect r="r" b="b" t="t" l="l"/>
              <a:pathLst>
                <a:path h="1295273" w="1586865">
                  <a:moveTo>
                    <a:pt x="0" y="1295273"/>
                  </a:moveTo>
                  <a:lnTo>
                    <a:pt x="1586865" y="1295273"/>
                  </a:lnTo>
                  <a:lnTo>
                    <a:pt x="1586865" y="0"/>
                  </a:lnTo>
                  <a:lnTo>
                    <a:pt x="0" y="0"/>
                  </a:lnTo>
                  <a:close/>
                </a:path>
              </a:pathLst>
            </a:custGeom>
            <a:solidFill>
              <a:srgbClr val="000000">
                <a:alpha val="0"/>
              </a:srgbClr>
            </a:solidFill>
          </p:spPr>
        </p:sp>
        <p:sp>
          <p:nvSpPr>
            <p:cNvPr name="Freeform 7" id="7"/>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8" id="8"/>
          <p:cNvSpPr txBox="true"/>
          <p:nvPr/>
        </p:nvSpPr>
        <p:spPr>
          <a:xfrm rot="0">
            <a:off x="623345" y="1104643"/>
            <a:ext cx="3659953"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KEY FINDINGS</a:t>
            </a:r>
          </a:p>
        </p:txBody>
      </p:sp>
      <p:sp>
        <p:nvSpPr>
          <p:cNvPr name="TextBox 9" id="9"/>
          <p:cNvSpPr txBox="true"/>
          <p:nvPr/>
        </p:nvSpPr>
        <p:spPr>
          <a:xfrm rot="0">
            <a:off x="876129" y="8513264"/>
            <a:ext cx="5923378" cy="1760658"/>
          </a:xfrm>
          <a:prstGeom prst="rect">
            <a:avLst/>
          </a:prstGeom>
        </p:spPr>
        <p:txBody>
          <a:bodyPr anchor="t" rtlCol="false" tIns="0" lIns="0" bIns="0" rIns="0">
            <a:spAutoFit/>
          </a:bodyPr>
          <a:lstStyle/>
          <a:p>
            <a:pPr algn="ctr">
              <a:lnSpc>
                <a:spcPts val="2301"/>
              </a:lnSpc>
            </a:pPr>
            <a:r>
              <a:rPr lang="en-US" b="true" sz="2029">
                <a:solidFill>
                  <a:srgbClr val="FFFFFF"/>
                </a:solidFill>
                <a:latin typeface="HK Grotesk Medium"/>
                <a:ea typeface="HK Grotesk Medium"/>
                <a:cs typeface="HK Grotesk Medium"/>
                <a:sym typeface="HK Grotesk Medium"/>
              </a:rPr>
              <a:t>Improvement Score: The majority of students demonstrated either slight improvements or stable scores from midterms to finals. Notably, students with significant improvements often exhibited a strong focus on targeted study strategies and project work.</a:t>
            </a:r>
          </a:p>
        </p:txBody>
      </p:sp>
      <p:sp>
        <p:nvSpPr>
          <p:cNvPr name="TextBox 10" id="10"/>
          <p:cNvSpPr txBox="true"/>
          <p:nvPr/>
        </p:nvSpPr>
        <p:spPr>
          <a:xfrm rot="0">
            <a:off x="835952" y="2377383"/>
            <a:ext cx="6005512" cy="5559066"/>
          </a:xfrm>
          <a:prstGeom prst="rect">
            <a:avLst/>
          </a:prstGeom>
        </p:spPr>
        <p:txBody>
          <a:bodyPr anchor="t" rtlCol="false" tIns="0" lIns="0" bIns="0" rIns="0">
            <a:spAutoFit/>
          </a:bodyPr>
          <a:lstStyle/>
          <a:p>
            <a:pPr algn="ctr">
              <a:lnSpc>
                <a:spcPts val="2301"/>
              </a:lnSpc>
            </a:pPr>
            <a:r>
              <a:rPr lang="en-US" b="true" sz="2029">
                <a:solidFill>
                  <a:srgbClr val="FFFFFF"/>
                </a:solidFill>
                <a:latin typeface="HK Grotesk Medium"/>
                <a:ea typeface="HK Grotesk Medium"/>
                <a:cs typeface="HK Grotesk Medium"/>
                <a:sym typeface="HK Grotesk Medium"/>
              </a:rPr>
              <a:t>Our feature engineering process provided valuable insights into the factors influencing student performance. By crafting new featu</a:t>
            </a:r>
            <a:r>
              <a:rPr lang="en-US" b="true" sz="2029">
                <a:solidFill>
                  <a:srgbClr val="2A3652"/>
                </a:solidFill>
                <a:latin typeface="HK Grotesk Bold"/>
                <a:ea typeface="HK Grotesk Bold"/>
                <a:cs typeface="HK Grotesk Bold"/>
                <a:sym typeface="HK Grotesk Bold"/>
              </a:rPr>
              <a:t>01</a:t>
            </a:r>
            <a:r>
              <a:rPr lang="en-US" b="true" sz="2029">
                <a:solidFill>
                  <a:srgbClr val="FFFFFF"/>
                </a:solidFill>
                <a:latin typeface="HK Grotesk Medium"/>
                <a:ea typeface="HK Grotesk Medium"/>
                <a:cs typeface="HK Grotesk Medium"/>
                <a:sym typeface="HK Grotesk Medium"/>
              </a:rPr>
              <a:t>res and analyzing their relationships with academic outcomes, we uncovered several noteworthy patterns: Score Consistency: Students with stable performance across assessments generally achieved higher overall scores. However, a few outliers with fluctuating scores still performed well, suggesting that while consistency is a positive indicator, it is not the sole predictor of success. Participation-Project Ratio: Top-performing students (Grades A and B) showed a stronger emphasis on project-based work, while lower-performing students (Grades C and D) relied more on participation scores. This highlights the importance of hands-on learning in driving academic excellence.</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95910" y="894464"/>
            <a:ext cx="1590675" cy="1295400"/>
          </a:xfrm>
          <a:custGeom>
            <a:avLst/>
            <a:gdLst/>
            <a:ahLst/>
            <a:cxnLst/>
            <a:rect r="r" b="b" t="t" l="l"/>
            <a:pathLst>
              <a:path h="1295400" w="1590675">
                <a:moveTo>
                  <a:pt x="0" y="0"/>
                </a:moveTo>
                <a:lnTo>
                  <a:pt x="1590675" y="0"/>
                </a:lnTo>
                <a:lnTo>
                  <a:pt x="1590675" y="1295400"/>
                </a:lnTo>
                <a:lnTo>
                  <a:pt x="0" y="1295400"/>
                </a:lnTo>
                <a:lnTo>
                  <a:pt x="0" y="0"/>
                </a:lnTo>
                <a:close/>
              </a:path>
            </a:pathLst>
          </a:custGeom>
          <a:blipFill>
            <a:blip r:embed="rId4"/>
            <a:stretch>
              <a:fillRect l="0" t="0" r="0" b="0"/>
            </a:stretch>
          </a:blipFill>
        </p:spPr>
      </p:sp>
      <p:grpSp>
        <p:nvGrpSpPr>
          <p:cNvPr name="Group 4" id="4"/>
          <p:cNvGrpSpPr>
            <a:grpSpLocks noChangeAspect="true"/>
          </p:cNvGrpSpPr>
          <p:nvPr/>
        </p:nvGrpSpPr>
        <p:grpSpPr>
          <a:xfrm rot="0">
            <a:off x="692448" y="-63503"/>
            <a:ext cx="6933905" cy="4228900"/>
            <a:chOff x="0" y="0"/>
            <a:chExt cx="6933895" cy="4228897"/>
          </a:xfrm>
        </p:grpSpPr>
        <p:sp>
          <p:nvSpPr>
            <p:cNvPr name="Freeform 5" id="5"/>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6" id="6"/>
            <p:cNvSpPr/>
            <p:nvPr/>
          </p:nvSpPr>
          <p:spPr>
            <a:xfrm flipH="false" flipV="false" rot="0">
              <a:off x="4303395" y="962533"/>
              <a:ext cx="1586865" cy="1295273"/>
            </a:xfrm>
            <a:custGeom>
              <a:avLst/>
              <a:gdLst/>
              <a:ahLst/>
              <a:cxnLst/>
              <a:rect r="r" b="b" t="t" l="l"/>
              <a:pathLst>
                <a:path h="1295273" w="1586865">
                  <a:moveTo>
                    <a:pt x="0" y="1295273"/>
                  </a:moveTo>
                  <a:lnTo>
                    <a:pt x="1586865" y="1295273"/>
                  </a:lnTo>
                  <a:lnTo>
                    <a:pt x="1586865" y="0"/>
                  </a:lnTo>
                  <a:lnTo>
                    <a:pt x="0" y="0"/>
                  </a:lnTo>
                  <a:close/>
                </a:path>
              </a:pathLst>
            </a:custGeom>
            <a:solidFill>
              <a:srgbClr val="000000">
                <a:alpha val="0"/>
              </a:srgbClr>
            </a:solidFill>
          </p:spPr>
        </p:sp>
        <p:sp>
          <p:nvSpPr>
            <p:cNvPr name="Freeform 7" id="7"/>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8" id="8"/>
          <p:cNvSpPr txBox="true"/>
          <p:nvPr/>
        </p:nvSpPr>
        <p:spPr>
          <a:xfrm rot="0">
            <a:off x="623345" y="1104643"/>
            <a:ext cx="3659953"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KEY FINDINGS</a:t>
            </a:r>
          </a:p>
        </p:txBody>
      </p:sp>
      <p:sp>
        <p:nvSpPr>
          <p:cNvPr name="TextBox 9" id="9"/>
          <p:cNvSpPr txBox="true"/>
          <p:nvPr/>
        </p:nvSpPr>
        <p:spPr>
          <a:xfrm rot="0">
            <a:off x="742474" y="2653513"/>
            <a:ext cx="6196222" cy="6532150"/>
          </a:xfrm>
          <a:prstGeom prst="rect">
            <a:avLst/>
          </a:prstGeom>
        </p:spPr>
        <p:txBody>
          <a:bodyPr anchor="t" rtlCol="false" tIns="0" lIns="0" bIns="0" rIns="0">
            <a:spAutoFit/>
          </a:bodyPr>
          <a:lstStyle/>
          <a:p>
            <a:pPr algn="ctr">
              <a:lnSpc>
                <a:spcPts val="2446"/>
              </a:lnSpc>
            </a:pPr>
            <a:r>
              <a:rPr lang="en-US" b="true" sz="2157">
                <a:solidFill>
                  <a:srgbClr val="FFFFFF"/>
                </a:solidFill>
                <a:latin typeface="HK Grotesk Medium"/>
                <a:ea typeface="HK Grotesk Medium"/>
                <a:cs typeface="HK Grotesk Medium"/>
                <a:sym typeface="HK Grotesk Medium"/>
              </a:rPr>
              <a:t>Weighted Score: Integrating weighted assessment components revealed that stude</a:t>
            </a:r>
            <a:r>
              <a:rPr lang="en-US" b="true" sz="2157">
                <a:solidFill>
                  <a:srgbClr val="2A3652"/>
                </a:solidFill>
                <a:latin typeface="HK Grotesk Bold"/>
                <a:ea typeface="HK Grotesk Bold"/>
                <a:cs typeface="HK Grotesk Bold"/>
                <a:sym typeface="HK Grotesk Bold"/>
              </a:rPr>
              <a:t>0</a:t>
            </a:r>
            <a:r>
              <a:rPr lang="en-US" b="true" sz="2157">
                <a:solidFill>
                  <a:srgbClr val="FFFFFF"/>
                </a:solidFill>
                <a:latin typeface="HK Grotesk Medium"/>
                <a:ea typeface="HK Grotesk Medium"/>
                <a:cs typeface="HK Grotesk Medium"/>
                <a:sym typeface="HK Grotesk Medium"/>
              </a:rPr>
              <a:t>n</a:t>
            </a:r>
            <a:r>
              <a:rPr lang="en-US" b="true" sz="2157">
                <a:solidFill>
                  <a:srgbClr val="2A3652"/>
                </a:solidFill>
                <a:latin typeface="HK Grotesk Bold"/>
                <a:ea typeface="HK Grotesk Bold"/>
                <a:cs typeface="HK Grotesk Bold"/>
                <a:sym typeface="HK Grotesk Bold"/>
              </a:rPr>
              <a:t>1</a:t>
            </a:r>
            <a:r>
              <a:rPr lang="en-US" b="true" sz="2157">
                <a:solidFill>
                  <a:srgbClr val="FFFFFF"/>
                </a:solidFill>
                <a:latin typeface="HK Grotesk Medium"/>
                <a:ea typeface="HK Grotesk Medium"/>
                <a:cs typeface="HK Grotesk Medium"/>
                <a:sym typeface="HK Grotesk Medium"/>
              </a:rPr>
              <a:t>ts maintaining steady efforts across midterms, finals, and projects scored consistently higher. This underscores the value of a balanced approach to academics, rather than excelling in only one area. Study Hours Bins: A clear trend emerged, showing that students studying 20 to 25 hours per week achieved the best results. Interestingly, studying beyond this range did not yield significant score improvements, pointing to the concept of diminishing returns on excessive studying. Stress-to-Sleep Ratio: Contrary to expectations, there was no strong correlation between stress-to- sleep balance and performance. While some high- stress students experienced erratic scores, others maintained strong grades — suggesting that effective coping mechanisms may play a crucial role in mitigating stress's impact.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95910" y="894464"/>
            <a:ext cx="1590675" cy="1295400"/>
          </a:xfrm>
          <a:custGeom>
            <a:avLst/>
            <a:gdLst/>
            <a:ahLst/>
            <a:cxnLst/>
            <a:rect r="r" b="b" t="t" l="l"/>
            <a:pathLst>
              <a:path h="1295400" w="1590675">
                <a:moveTo>
                  <a:pt x="0" y="0"/>
                </a:moveTo>
                <a:lnTo>
                  <a:pt x="1590675" y="0"/>
                </a:lnTo>
                <a:lnTo>
                  <a:pt x="1590675" y="1295400"/>
                </a:lnTo>
                <a:lnTo>
                  <a:pt x="0" y="1295400"/>
                </a:lnTo>
                <a:lnTo>
                  <a:pt x="0" y="0"/>
                </a:lnTo>
                <a:close/>
              </a:path>
            </a:pathLst>
          </a:custGeom>
          <a:blipFill>
            <a:blip r:embed="rId4"/>
            <a:stretch>
              <a:fillRect l="0" t="0" r="0" b="0"/>
            </a:stretch>
          </a:blipFill>
        </p:spPr>
      </p:sp>
      <p:grpSp>
        <p:nvGrpSpPr>
          <p:cNvPr name="Group 4" id="4"/>
          <p:cNvGrpSpPr>
            <a:grpSpLocks noChangeAspect="true"/>
          </p:cNvGrpSpPr>
          <p:nvPr/>
        </p:nvGrpSpPr>
        <p:grpSpPr>
          <a:xfrm rot="0">
            <a:off x="692448" y="-63503"/>
            <a:ext cx="6933905" cy="4228900"/>
            <a:chOff x="0" y="0"/>
            <a:chExt cx="6933895" cy="4228897"/>
          </a:xfrm>
        </p:grpSpPr>
        <p:sp>
          <p:nvSpPr>
            <p:cNvPr name="Freeform 5" id="5"/>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6" id="6"/>
            <p:cNvSpPr/>
            <p:nvPr/>
          </p:nvSpPr>
          <p:spPr>
            <a:xfrm flipH="false" flipV="false" rot="0">
              <a:off x="4303395" y="962533"/>
              <a:ext cx="1586865" cy="1295273"/>
            </a:xfrm>
            <a:custGeom>
              <a:avLst/>
              <a:gdLst/>
              <a:ahLst/>
              <a:cxnLst/>
              <a:rect r="r" b="b" t="t" l="l"/>
              <a:pathLst>
                <a:path h="1295273" w="1586865">
                  <a:moveTo>
                    <a:pt x="0" y="1295273"/>
                  </a:moveTo>
                  <a:lnTo>
                    <a:pt x="1586865" y="1295273"/>
                  </a:lnTo>
                  <a:lnTo>
                    <a:pt x="1586865" y="0"/>
                  </a:lnTo>
                  <a:lnTo>
                    <a:pt x="0" y="0"/>
                  </a:lnTo>
                  <a:close/>
                </a:path>
              </a:pathLst>
            </a:custGeom>
            <a:solidFill>
              <a:srgbClr val="000000">
                <a:alpha val="0"/>
              </a:srgbClr>
            </a:solidFill>
          </p:spPr>
        </p:sp>
        <p:sp>
          <p:nvSpPr>
            <p:cNvPr name="Freeform 7" id="7"/>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8" id="8"/>
          <p:cNvSpPr txBox="true"/>
          <p:nvPr/>
        </p:nvSpPr>
        <p:spPr>
          <a:xfrm rot="0">
            <a:off x="623345" y="1104643"/>
            <a:ext cx="3659953"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KEY FINDINGS</a:t>
            </a:r>
          </a:p>
        </p:txBody>
      </p:sp>
      <p:sp>
        <p:nvSpPr>
          <p:cNvPr name="TextBox 9" id="9"/>
          <p:cNvSpPr txBox="true"/>
          <p:nvPr/>
        </p:nvSpPr>
        <p:spPr>
          <a:xfrm rot="0">
            <a:off x="409413" y="2902058"/>
            <a:ext cx="6875764" cy="5902843"/>
          </a:xfrm>
          <a:prstGeom prst="rect">
            <a:avLst/>
          </a:prstGeom>
        </p:spPr>
        <p:txBody>
          <a:bodyPr anchor="t" rtlCol="false" tIns="0" lIns="0" bIns="0" rIns="0">
            <a:spAutoFit/>
          </a:bodyPr>
          <a:lstStyle/>
          <a:p>
            <a:pPr algn="ctr">
              <a:lnSpc>
                <a:spcPts val="1223"/>
              </a:lnSpc>
            </a:pPr>
            <a:r>
              <a:rPr lang="en-US" b="true" sz="2446">
                <a:solidFill>
                  <a:srgbClr val="FFFFFF"/>
                </a:solidFill>
                <a:latin typeface="HK Grotesk Medium"/>
                <a:ea typeface="HK Grotesk Medium"/>
                <a:cs typeface="HK Grotesk Medium"/>
                <a:sym typeface="HK Grotesk Medium"/>
              </a:rPr>
              <a:t>Balanced Effort Matters: Consis</a:t>
            </a:r>
          </a:p>
          <a:p>
            <a:pPr algn="ctr">
              <a:lnSpc>
                <a:spcPts val="2801"/>
              </a:lnSpc>
            </a:pPr>
            <a:r>
              <a:rPr lang="en-US" b="true" sz="2446">
                <a:solidFill>
                  <a:srgbClr val="FFFFFF"/>
                </a:solidFill>
                <a:latin typeface="HK Grotesk Medium"/>
                <a:ea typeface="HK Grotesk Medium"/>
                <a:cs typeface="HK Grotesk Medium"/>
                <a:sym typeface="HK Grotesk Medium"/>
              </a:rPr>
              <a:t>across various assessments, rather than excelling in one area alone, leads to higher scores.</a:t>
            </a:r>
          </a:p>
          <a:p>
            <a:pPr algn="ctr">
              <a:lnSpc>
                <a:spcPts val="6116"/>
              </a:lnSpc>
            </a:pPr>
            <a:r>
              <a:rPr lang="en-US" b="true" sz="2446">
                <a:solidFill>
                  <a:srgbClr val="FFFFFF"/>
                </a:solidFill>
                <a:latin typeface="HK Grotesk Medium"/>
                <a:ea typeface="HK Grotesk Medium"/>
                <a:cs typeface="HK Grotesk Medium"/>
                <a:sym typeface="HK Grotesk Medium"/>
              </a:rPr>
              <a:t>Strategic Studying Wins: An optimal range of 20 to</a:t>
            </a:r>
          </a:p>
          <a:p>
            <a:pPr algn="ctr">
              <a:lnSpc>
                <a:spcPts val="1223"/>
              </a:lnSpc>
            </a:pPr>
            <a:r>
              <a:rPr lang="en-US" b="true" sz="2446">
                <a:solidFill>
                  <a:srgbClr val="FFFFFF"/>
                </a:solidFill>
                <a:latin typeface="HK Grotesk Medium"/>
                <a:ea typeface="HK Grotesk Medium"/>
                <a:cs typeface="HK Grotesk Medium"/>
                <a:sym typeface="HK Grotesk Medium"/>
              </a:rPr>
              <a:t>25 study hours per week appears to maximize</a:t>
            </a:r>
          </a:p>
          <a:p>
            <a:pPr algn="ctr">
              <a:lnSpc>
                <a:spcPts val="4379"/>
              </a:lnSpc>
            </a:pPr>
            <a:r>
              <a:rPr lang="en-US" b="true" sz="2446">
                <a:solidFill>
                  <a:srgbClr val="FFFFFF"/>
                </a:solidFill>
                <a:latin typeface="HK Grotesk Medium"/>
                <a:ea typeface="HK Grotesk Medium"/>
                <a:cs typeface="HK Grotesk Medium"/>
                <a:sym typeface="HK Grotesk Medium"/>
              </a:rPr>
              <a:t>performance, while excessive studying does not</a:t>
            </a:r>
          </a:p>
          <a:p>
            <a:pPr algn="ctr">
              <a:lnSpc>
                <a:spcPts val="1223"/>
              </a:lnSpc>
            </a:pPr>
            <a:r>
              <a:rPr lang="en-US" b="true" sz="2446">
                <a:solidFill>
                  <a:srgbClr val="FFFFFF"/>
                </a:solidFill>
                <a:latin typeface="HK Grotesk Medium"/>
                <a:ea typeface="HK Grotesk Medium"/>
                <a:cs typeface="HK Grotesk Medium"/>
                <a:sym typeface="HK Grotesk Medium"/>
              </a:rPr>
              <a:t>guarantee better results.</a:t>
            </a:r>
          </a:p>
          <a:p>
            <a:pPr algn="ctr">
              <a:lnSpc>
                <a:spcPts val="6116"/>
              </a:lnSpc>
            </a:pPr>
            <a:r>
              <a:rPr lang="en-US" b="true" sz="2446">
                <a:solidFill>
                  <a:srgbClr val="FFFFFF"/>
                </a:solidFill>
                <a:latin typeface="HK Grotesk Medium"/>
                <a:ea typeface="HK Grotesk Medium"/>
                <a:cs typeface="HK Grotesk Medium"/>
                <a:sym typeface="HK Grotesk Medium"/>
              </a:rPr>
              <a:t>Hands-On Learning is Key: Project involvement</a:t>
            </a:r>
          </a:p>
          <a:p>
            <a:pPr algn="ctr">
              <a:lnSpc>
                <a:spcPts val="1223"/>
              </a:lnSpc>
            </a:pPr>
            <a:r>
              <a:rPr lang="en-US" b="true" sz="2446">
                <a:solidFill>
                  <a:srgbClr val="FFFFFF"/>
                </a:solidFill>
                <a:latin typeface="HK Grotesk Medium"/>
                <a:ea typeface="HK Grotesk Medium"/>
                <a:cs typeface="HK Grotesk Medium"/>
                <a:sym typeface="HK Grotesk Medium"/>
              </a:rPr>
              <a:t>correlates strongly with top grades, highlighting</a:t>
            </a:r>
          </a:p>
          <a:p>
            <a:pPr algn="ctr">
              <a:lnSpc>
                <a:spcPts val="4379"/>
              </a:lnSpc>
            </a:pPr>
            <a:r>
              <a:rPr lang="en-US" b="true" sz="2446">
                <a:solidFill>
                  <a:srgbClr val="FFFFFF"/>
                </a:solidFill>
                <a:latin typeface="HK Grotesk Medium"/>
                <a:ea typeface="HK Grotesk Medium"/>
                <a:cs typeface="HK Grotesk Medium"/>
                <a:sym typeface="HK Grotesk Medium"/>
              </a:rPr>
              <a:t>the power of practical, application-based learning.</a:t>
            </a:r>
          </a:p>
          <a:p>
            <a:pPr algn="ctr">
              <a:lnSpc>
                <a:spcPts val="6116"/>
              </a:lnSpc>
            </a:pPr>
            <a:r>
              <a:rPr lang="en-US" b="true" sz="2446">
                <a:solidFill>
                  <a:srgbClr val="FFFFFF"/>
                </a:solidFill>
                <a:latin typeface="HK Grotesk Medium"/>
                <a:ea typeface="HK Grotesk Medium"/>
                <a:cs typeface="HK Grotesk Medium"/>
                <a:sym typeface="HK Grotesk Medium"/>
              </a:rPr>
              <a:t>Stress Isn’t Everything: The absence of a clear link</a:t>
            </a:r>
          </a:p>
          <a:p>
            <a:pPr algn="ctr">
              <a:lnSpc>
                <a:spcPts val="1223"/>
              </a:lnSpc>
            </a:pPr>
            <a:r>
              <a:rPr lang="en-US" b="true" sz="2446">
                <a:solidFill>
                  <a:srgbClr val="FFFFFF"/>
                </a:solidFill>
                <a:latin typeface="HK Grotesk Medium"/>
                <a:ea typeface="HK Grotesk Medium"/>
                <a:cs typeface="HK Grotesk Medium"/>
                <a:sym typeface="HK Grotesk Medium"/>
              </a:rPr>
              <a:t>between stress and scores suggests that effective</a:t>
            </a:r>
          </a:p>
          <a:p>
            <a:pPr algn="ctr">
              <a:lnSpc>
                <a:spcPts val="4379"/>
              </a:lnSpc>
            </a:pPr>
            <a:r>
              <a:rPr lang="en-US" b="true" sz="2446">
                <a:solidFill>
                  <a:srgbClr val="FFFFFF"/>
                </a:solidFill>
                <a:latin typeface="HK Grotesk Medium"/>
                <a:ea typeface="HK Grotesk Medium"/>
                <a:cs typeface="HK Grotesk Medium"/>
                <a:sym typeface="HK Grotesk Medium"/>
              </a:rPr>
              <a:t>coping strategies may neutralize stress’s negative</a:t>
            </a:r>
          </a:p>
          <a:p>
            <a:pPr algn="ctr">
              <a:lnSpc>
                <a:spcPts val="1223"/>
              </a:lnSpc>
            </a:pPr>
            <a:r>
              <a:rPr lang="en-US" b="true" sz="2446">
                <a:solidFill>
                  <a:srgbClr val="FFFFFF"/>
                </a:solidFill>
                <a:latin typeface="HK Grotesk Medium"/>
                <a:ea typeface="HK Grotesk Medium"/>
                <a:cs typeface="HK Grotesk Medium"/>
                <a:sym typeface="HK Grotesk Medium"/>
              </a:rPr>
              <a:t>impact.</a:t>
            </a:r>
          </a:p>
        </p:txBody>
      </p:sp>
      <p:sp>
        <p:nvSpPr>
          <p:cNvPr name="TextBox 10" id="10"/>
          <p:cNvSpPr txBox="true"/>
          <p:nvPr/>
        </p:nvSpPr>
        <p:spPr>
          <a:xfrm rot="0">
            <a:off x="4637322" y="2902058"/>
            <a:ext cx="2482444" cy="276730"/>
          </a:xfrm>
          <a:prstGeom prst="rect">
            <a:avLst/>
          </a:prstGeom>
        </p:spPr>
        <p:txBody>
          <a:bodyPr anchor="t" rtlCol="false" tIns="0" lIns="0" bIns="0" rIns="0">
            <a:spAutoFit/>
          </a:bodyPr>
          <a:lstStyle/>
          <a:p>
            <a:pPr algn="r">
              <a:lnSpc>
                <a:spcPts val="1223"/>
              </a:lnSpc>
            </a:pPr>
            <a:r>
              <a:rPr lang="en-US" b="true" sz="2446">
                <a:solidFill>
                  <a:srgbClr val="2A3652"/>
                </a:solidFill>
                <a:latin typeface="HK Grotesk Bold"/>
                <a:ea typeface="HK Grotesk Bold"/>
                <a:cs typeface="HK Grotesk Bold"/>
                <a:sym typeface="HK Grotesk Bold"/>
              </a:rPr>
              <a:t>0</a:t>
            </a:r>
            <a:r>
              <a:rPr lang="en-US" b="true" sz="2446">
                <a:solidFill>
                  <a:srgbClr val="FFFFFF"/>
                </a:solidFill>
                <a:latin typeface="HK Grotesk Medium"/>
                <a:ea typeface="HK Grotesk Medium"/>
                <a:cs typeface="HK Grotesk Medium"/>
                <a:sym typeface="HK Grotesk Medium"/>
              </a:rPr>
              <a:t>t</a:t>
            </a:r>
            <a:r>
              <a:rPr lang="en-US" b="true" sz="2446">
                <a:solidFill>
                  <a:srgbClr val="2A3652"/>
                </a:solidFill>
                <a:latin typeface="HK Grotesk Bold"/>
                <a:ea typeface="HK Grotesk Bold"/>
                <a:cs typeface="HK Grotesk Bold"/>
                <a:sym typeface="HK Grotesk Bold"/>
              </a:rPr>
              <a:t>1</a:t>
            </a:r>
            <a:r>
              <a:rPr lang="en-US" b="true" sz="2446">
                <a:solidFill>
                  <a:srgbClr val="FFFFFF"/>
                </a:solidFill>
                <a:latin typeface="HK Grotesk Medium"/>
                <a:ea typeface="HK Grotesk Medium"/>
                <a:cs typeface="HK Grotesk Medium"/>
                <a:sym typeface="HK Grotesk Medium"/>
              </a:rPr>
              <a:t>ent performance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995910" y="484156"/>
            <a:ext cx="1476375" cy="1476375"/>
          </a:xfrm>
          <a:custGeom>
            <a:avLst/>
            <a:gdLst/>
            <a:ahLst/>
            <a:cxnLst/>
            <a:rect r="r" b="b" t="t" l="l"/>
            <a:pathLst>
              <a:path h="1476375" w="1476375">
                <a:moveTo>
                  <a:pt x="0" y="0"/>
                </a:moveTo>
                <a:lnTo>
                  <a:pt x="1476375" y="0"/>
                </a:lnTo>
                <a:lnTo>
                  <a:pt x="1476375" y="1476375"/>
                </a:lnTo>
                <a:lnTo>
                  <a:pt x="0" y="1476375"/>
                </a:lnTo>
                <a:lnTo>
                  <a:pt x="0" y="0"/>
                </a:lnTo>
                <a:close/>
              </a:path>
            </a:pathLst>
          </a:custGeom>
          <a:blipFill>
            <a:blip r:embed="rId4"/>
            <a:stretch>
              <a:fillRect l="0" t="0" r="0" b="0"/>
            </a:stretch>
          </a:blipFill>
        </p:spPr>
      </p:sp>
      <p:grpSp>
        <p:nvGrpSpPr>
          <p:cNvPr name="Group 4" id="4"/>
          <p:cNvGrpSpPr>
            <a:grpSpLocks noChangeAspect="true"/>
          </p:cNvGrpSpPr>
          <p:nvPr/>
        </p:nvGrpSpPr>
        <p:grpSpPr>
          <a:xfrm rot="0">
            <a:off x="802767" y="7099278"/>
            <a:ext cx="64494" cy="64494"/>
            <a:chOff x="0" y="0"/>
            <a:chExt cx="64491" cy="64491"/>
          </a:xfrm>
        </p:grpSpPr>
        <p:sp>
          <p:nvSpPr>
            <p:cNvPr name="Freeform 5" id="5"/>
            <p:cNvSpPr/>
            <p:nvPr/>
          </p:nvSpPr>
          <p:spPr>
            <a:xfrm flipH="false" flipV="false" rot="0">
              <a:off x="0" y="0"/>
              <a:ext cx="64516" cy="64389"/>
            </a:xfrm>
            <a:custGeom>
              <a:avLst/>
              <a:gdLst/>
              <a:ahLst/>
              <a:cxnLst/>
              <a:rect r="r" b="b" t="t" l="l"/>
              <a:pathLst>
                <a:path h="64389" w="64516">
                  <a:moveTo>
                    <a:pt x="64516" y="32258"/>
                  </a:moveTo>
                  <a:cubicBezTo>
                    <a:pt x="64516" y="36576"/>
                    <a:pt x="63754" y="40640"/>
                    <a:pt x="62103" y="44577"/>
                  </a:cubicBezTo>
                  <a:cubicBezTo>
                    <a:pt x="60452" y="48514"/>
                    <a:pt x="58166" y="52070"/>
                    <a:pt x="55118" y="54991"/>
                  </a:cubicBezTo>
                  <a:cubicBezTo>
                    <a:pt x="52070" y="57912"/>
                    <a:pt x="48641" y="60325"/>
                    <a:pt x="44704" y="61976"/>
                  </a:cubicBezTo>
                  <a:cubicBezTo>
                    <a:pt x="40767" y="63627"/>
                    <a:pt x="36703" y="64389"/>
                    <a:pt x="32385" y="64389"/>
                  </a:cubicBezTo>
                  <a:cubicBezTo>
                    <a:pt x="28067" y="64389"/>
                    <a:pt x="24003" y="63627"/>
                    <a:pt x="20066" y="61976"/>
                  </a:cubicBezTo>
                  <a:cubicBezTo>
                    <a:pt x="16129" y="60325"/>
                    <a:pt x="12573" y="58039"/>
                    <a:pt x="9652" y="54991"/>
                  </a:cubicBezTo>
                  <a:cubicBezTo>
                    <a:pt x="6731" y="51943"/>
                    <a:pt x="4318" y="48514"/>
                    <a:pt x="2667" y="44577"/>
                  </a:cubicBezTo>
                  <a:cubicBezTo>
                    <a:pt x="1016" y="40640"/>
                    <a:pt x="0" y="36576"/>
                    <a:pt x="0" y="32258"/>
                  </a:cubicBezTo>
                  <a:cubicBezTo>
                    <a:pt x="0" y="27940"/>
                    <a:pt x="762" y="23876"/>
                    <a:pt x="2413" y="19939"/>
                  </a:cubicBezTo>
                  <a:cubicBezTo>
                    <a:pt x="4064" y="16002"/>
                    <a:pt x="6477" y="12446"/>
                    <a:pt x="9398" y="9398"/>
                  </a:cubicBezTo>
                  <a:cubicBezTo>
                    <a:pt x="12319" y="6350"/>
                    <a:pt x="15875" y="4064"/>
                    <a:pt x="19812" y="2413"/>
                  </a:cubicBezTo>
                  <a:cubicBezTo>
                    <a:pt x="23749" y="762"/>
                    <a:pt x="27940" y="0"/>
                    <a:pt x="32258" y="0"/>
                  </a:cubicBezTo>
                  <a:cubicBezTo>
                    <a:pt x="36576" y="0"/>
                    <a:pt x="40640" y="762"/>
                    <a:pt x="44577" y="2413"/>
                  </a:cubicBezTo>
                  <a:cubicBezTo>
                    <a:pt x="48514" y="4064"/>
                    <a:pt x="52070" y="6350"/>
                    <a:pt x="54991" y="9398"/>
                  </a:cubicBezTo>
                  <a:cubicBezTo>
                    <a:pt x="57912" y="12446"/>
                    <a:pt x="60325" y="15875"/>
                    <a:pt x="61976" y="19812"/>
                  </a:cubicBezTo>
                  <a:cubicBezTo>
                    <a:pt x="63627" y="23749"/>
                    <a:pt x="64389" y="27813"/>
                    <a:pt x="64389" y="32131"/>
                  </a:cubicBezTo>
                  <a:close/>
                </a:path>
              </a:pathLst>
            </a:custGeom>
            <a:solidFill>
              <a:srgbClr val="FFFFFF"/>
            </a:solidFill>
          </p:spPr>
        </p:sp>
      </p:grpSp>
      <p:grpSp>
        <p:nvGrpSpPr>
          <p:cNvPr name="Group 6" id="6"/>
          <p:cNvGrpSpPr>
            <a:grpSpLocks noChangeAspect="true"/>
          </p:cNvGrpSpPr>
          <p:nvPr/>
        </p:nvGrpSpPr>
        <p:grpSpPr>
          <a:xfrm rot="0">
            <a:off x="802767" y="7873175"/>
            <a:ext cx="64494" cy="64494"/>
            <a:chOff x="0" y="0"/>
            <a:chExt cx="64491" cy="64491"/>
          </a:xfrm>
        </p:grpSpPr>
        <p:sp>
          <p:nvSpPr>
            <p:cNvPr name="Freeform 7" id="7"/>
            <p:cNvSpPr/>
            <p:nvPr/>
          </p:nvSpPr>
          <p:spPr>
            <a:xfrm flipH="false" flipV="false" rot="0">
              <a:off x="0" y="0"/>
              <a:ext cx="64516" cy="64389"/>
            </a:xfrm>
            <a:custGeom>
              <a:avLst/>
              <a:gdLst/>
              <a:ahLst/>
              <a:cxnLst/>
              <a:rect r="r" b="b" t="t" l="l"/>
              <a:pathLst>
                <a:path h="64389" w="64516">
                  <a:moveTo>
                    <a:pt x="64516" y="32258"/>
                  </a:moveTo>
                  <a:cubicBezTo>
                    <a:pt x="64516" y="36576"/>
                    <a:pt x="63754" y="40640"/>
                    <a:pt x="62103" y="44577"/>
                  </a:cubicBezTo>
                  <a:cubicBezTo>
                    <a:pt x="60452" y="48514"/>
                    <a:pt x="58166" y="52070"/>
                    <a:pt x="55118" y="54991"/>
                  </a:cubicBezTo>
                  <a:cubicBezTo>
                    <a:pt x="52070" y="57912"/>
                    <a:pt x="48641" y="60325"/>
                    <a:pt x="44704" y="61976"/>
                  </a:cubicBezTo>
                  <a:cubicBezTo>
                    <a:pt x="40767" y="63627"/>
                    <a:pt x="36703" y="64389"/>
                    <a:pt x="32385" y="64389"/>
                  </a:cubicBezTo>
                  <a:cubicBezTo>
                    <a:pt x="28067" y="64389"/>
                    <a:pt x="24003" y="63627"/>
                    <a:pt x="20066" y="61976"/>
                  </a:cubicBezTo>
                  <a:cubicBezTo>
                    <a:pt x="16129" y="60325"/>
                    <a:pt x="12573" y="58039"/>
                    <a:pt x="9652" y="54991"/>
                  </a:cubicBezTo>
                  <a:cubicBezTo>
                    <a:pt x="6731" y="51943"/>
                    <a:pt x="4318" y="48514"/>
                    <a:pt x="2667" y="44577"/>
                  </a:cubicBezTo>
                  <a:cubicBezTo>
                    <a:pt x="1016" y="40640"/>
                    <a:pt x="0" y="36576"/>
                    <a:pt x="0" y="32258"/>
                  </a:cubicBezTo>
                  <a:cubicBezTo>
                    <a:pt x="0" y="27940"/>
                    <a:pt x="762" y="23876"/>
                    <a:pt x="2413" y="19939"/>
                  </a:cubicBezTo>
                  <a:cubicBezTo>
                    <a:pt x="4064" y="16002"/>
                    <a:pt x="6477" y="12446"/>
                    <a:pt x="9398" y="9398"/>
                  </a:cubicBezTo>
                  <a:cubicBezTo>
                    <a:pt x="12319" y="6350"/>
                    <a:pt x="15875" y="4064"/>
                    <a:pt x="19812" y="2413"/>
                  </a:cubicBezTo>
                  <a:cubicBezTo>
                    <a:pt x="23749" y="762"/>
                    <a:pt x="27940" y="0"/>
                    <a:pt x="32258" y="0"/>
                  </a:cubicBezTo>
                  <a:cubicBezTo>
                    <a:pt x="36576" y="0"/>
                    <a:pt x="40640" y="762"/>
                    <a:pt x="44577" y="2413"/>
                  </a:cubicBezTo>
                  <a:cubicBezTo>
                    <a:pt x="48514" y="4064"/>
                    <a:pt x="52070" y="6350"/>
                    <a:pt x="54991" y="9398"/>
                  </a:cubicBezTo>
                  <a:cubicBezTo>
                    <a:pt x="57912" y="12446"/>
                    <a:pt x="60325" y="15875"/>
                    <a:pt x="61976" y="19812"/>
                  </a:cubicBezTo>
                  <a:cubicBezTo>
                    <a:pt x="63627" y="23749"/>
                    <a:pt x="64389" y="27813"/>
                    <a:pt x="64389" y="32131"/>
                  </a:cubicBezTo>
                  <a:close/>
                </a:path>
              </a:pathLst>
            </a:custGeom>
            <a:solidFill>
              <a:srgbClr val="FFFFFF"/>
            </a:solidFill>
          </p:spPr>
        </p:sp>
      </p:grpSp>
      <p:grpSp>
        <p:nvGrpSpPr>
          <p:cNvPr name="Group 8" id="8"/>
          <p:cNvGrpSpPr>
            <a:grpSpLocks noChangeAspect="true"/>
          </p:cNvGrpSpPr>
          <p:nvPr/>
        </p:nvGrpSpPr>
        <p:grpSpPr>
          <a:xfrm rot="0">
            <a:off x="802767" y="8905027"/>
            <a:ext cx="64494" cy="64494"/>
            <a:chOff x="0" y="0"/>
            <a:chExt cx="64491" cy="64491"/>
          </a:xfrm>
        </p:grpSpPr>
        <p:sp>
          <p:nvSpPr>
            <p:cNvPr name="Freeform 9" id="9"/>
            <p:cNvSpPr/>
            <p:nvPr/>
          </p:nvSpPr>
          <p:spPr>
            <a:xfrm flipH="false" flipV="false" rot="0">
              <a:off x="0" y="0"/>
              <a:ext cx="64516" cy="64389"/>
            </a:xfrm>
            <a:custGeom>
              <a:avLst/>
              <a:gdLst/>
              <a:ahLst/>
              <a:cxnLst/>
              <a:rect r="r" b="b" t="t" l="l"/>
              <a:pathLst>
                <a:path h="64389" w="64516">
                  <a:moveTo>
                    <a:pt x="64516" y="32258"/>
                  </a:moveTo>
                  <a:cubicBezTo>
                    <a:pt x="64516" y="36576"/>
                    <a:pt x="63754" y="40640"/>
                    <a:pt x="62103" y="44577"/>
                  </a:cubicBezTo>
                  <a:cubicBezTo>
                    <a:pt x="60452" y="48514"/>
                    <a:pt x="58166" y="52070"/>
                    <a:pt x="55118" y="54991"/>
                  </a:cubicBezTo>
                  <a:cubicBezTo>
                    <a:pt x="52070" y="57912"/>
                    <a:pt x="48641" y="60325"/>
                    <a:pt x="44704" y="61976"/>
                  </a:cubicBezTo>
                  <a:cubicBezTo>
                    <a:pt x="40767" y="63627"/>
                    <a:pt x="36703" y="64389"/>
                    <a:pt x="32385" y="64389"/>
                  </a:cubicBezTo>
                  <a:cubicBezTo>
                    <a:pt x="28067" y="64389"/>
                    <a:pt x="24003" y="63627"/>
                    <a:pt x="20066" y="61976"/>
                  </a:cubicBezTo>
                  <a:cubicBezTo>
                    <a:pt x="16129" y="60325"/>
                    <a:pt x="12573" y="58039"/>
                    <a:pt x="9652" y="54991"/>
                  </a:cubicBezTo>
                  <a:cubicBezTo>
                    <a:pt x="6731" y="51943"/>
                    <a:pt x="4318" y="48514"/>
                    <a:pt x="2667" y="44577"/>
                  </a:cubicBezTo>
                  <a:cubicBezTo>
                    <a:pt x="1016" y="40640"/>
                    <a:pt x="0" y="36576"/>
                    <a:pt x="0" y="32258"/>
                  </a:cubicBezTo>
                  <a:cubicBezTo>
                    <a:pt x="0" y="27940"/>
                    <a:pt x="762" y="23876"/>
                    <a:pt x="2413" y="19939"/>
                  </a:cubicBezTo>
                  <a:cubicBezTo>
                    <a:pt x="4064" y="16002"/>
                    <a:pt x="6477" y="12446"/>
                    <a:pt x="9398" y="9398"/>
                  </a:cubicBezTo>
                  <a:cubicBezTo>
                    <a:pt x="12319" y="6350"/>
                    <a:pt x="15875" y="4064"/>
                    <a:pt x="19812" y="2413"/>
                  </a:cubicBezTo>
                  <a:cubicBezTo>
                    <a:pt x="23749" y="762"/>
                    <a:pt x="27940" y="0"/>
                    <a:pt x="32258" y="0"/>
                  </a:cubicBezTo>
                  <a:cubicBezTo>
                    <a:pt x="36576" y="0"/>
                    <a:pt x="40640" y="762"/>
                    <a:pt x="44577" y="2413"/>
                  </a:cubicBezTo>
                  <a:cubicBezTo>
                    <a:pt x="48514" y="4064"/>
                    <a:pt x="52070" y="6350"/>
                    <a:pt x="54991" y="9398"/>
                  </a:cubicBezTo>
                  <a:cubicBezTo>
                    <a:pt x="57912" y="12446"/>
                    <a:pt x="60325" y="15875"/>
                    <a:pt x="61976" y="19812"/>
                  </a:cubicBezTo>
                  <a:cubicBezTo>
                    <a:pt x="63627" y="23749"/>
                    <a:pt x="64389" y="27813"/>
                    <a:pt x="64389" y="32131"/>
                  </a:cubicBezTo>
                  <a:close/>
                </a:path>
              </a:pathLst>
            </a:custGeom>
            <a:solidFill>
              <a:srgbClr val="FFFFFF"/>
            </a:solidFill>
          </p:spPr>
        </p:sp>
      </p:grpSp>
      <p:grpSp>
        <p:nvGrpSpPr>
          <p:cNvPr name="Group 10" id="10"/>
          <p:cNvGrpSpPr>
            <a:grpSpLocks noChangeAspect="true"/>
          </p:cNvGrpSpPr>
          <p:nvPr/>
        </p:nvGrpSpPr>
        <p:grpSpPr>
          <a:xfrm rot="0">
            <a:off x="692448" y="-63503"/>
            <a:ext cx="6933905" cy="4228900"/>
            <a:chOff x="0" y="0"/>
            <a:chExt cx="6933895" cy="4228897"/>
          </a:xfrm>
        </p:grpSpPr>
        <p:sp>
          <p:nvSpPr>
            <p:cNvPr name="Freeform 11" id="11"/>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2" id="12"/>
            <p:cNvSpPr/>
            <p:nvPr/>
          </p:nvSpPr>
          <p:spPr>
            <a:xfrm flipH="false" flipV="false" rot="0">
              <a:off x="4303395" y="552196"/>
              <a:ext cx="1479550" cy="1479550"/>
            </a:xfrm>
            <a:custGeom>
              <a:avLst/>
              <a:gdLst/>
              <a:ahLst/>
              <a:cxnLst/>
              <a:rect r="r" b="b" t="t" l="l"/>
              <a:pathLst>
                <a:path h="1479550" w="1479550">
                  <a:moveTo>
                    <a:pt x="0" y="1479550"/>
                  </a:moveTo>
                  <a:lnTo>
                    <a:pt x="1479550" y="1479550"/>
                  </a:lnTo>
                  <a:lnTo>
                    <a:pt x="1479550" y="0"/>
                  </a:lnTo>
                  <a:lnTo>
                    <a:pt x="0" y="0"/>
                  </a:lnTo>
                  <a:close/>
                </a:path>
              </a:pathLst>
            </a:custGeom>
            <a:solidFill>
              <a:srgbClr val="000000">
                <a:alpha val="0"/>
              </a:srgbClr>
            </a:solidFill>
          </p:spPr>
        </p:sp>
        <p:sp>
          <p:nvSpPr>
            <p:cNvPr name="Freeform 13" id="13"/>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14" id="14"/>
          <p:cNvSpPr txBox="true"/>
          <p:nvPr/>
        </p:nvSpPr>
        <p:spPr>
          <a:xfrm rot="0">
            <a:off x="623345" y="1104643"/>
            <a:ext cx="3410569"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CONCLUSION</a:t>
            </a:r>
          </a:p>
        </p:txBody>
      </p:sp>
      <p:sp>
        <p:nvSpPr>
          <p:cNvPr name="TextBox 15" id="15"/>
          <p:cNvSpPr txBox="true"/>
          <p:nvPr/>
        </p:nvSpPr>
        <p:spPr>
          <a:xfrm rot="0">
            <a:off x="682847" y="2090909"/>
            <a:ext cx="6507604" cy="4911528"/>
          </a:xfrm>
          <a:prstGeom prst="rect">
            <a:avLst/>
          </a:prstGeom>
        </p:spPr>
        <p:txBody>
          <a:bodyPr anchor="t" rtlCol="false" tIns="0" lIns="0" bIns="0" rIns="0">
            <a:spAutoFit/>
          </a:bodyPr>
          <a:lstStyle/>
          <a:p>
            <a:pPr algn="ctr">
              <a:lnSpc>
                <a:spcPts val="2031"/>
              </a:lnSpc>
            </a:pPr>
            <a:r>
              <a:rPr lang="en-US" b="true" sz="1822">
                <a:solidFill>
                  <a:srgbClr val="FFFFFF"/>
                </a:solidFill>
                <a:latin typeface="HK Grotesk Medium"/>
                <a:ea typeface="HK Grotesk Medium"/>
                <a:cs typeface="HK Grotesk Medium"/>
                <a:sym typeface="HK Grotesk Medium"/>
              </a:rPr>
              <a:t>Our student performance analysis journey — spanning data cleaning, exploratory data analysis (EDA), and feature engineering — has uncovered critical insights into the academic</a:t>
            </a:r>
          </a:p>
          <a:p>
            <a:pPr algn="ctr">
              <a:lnSpc>
                <a:spcPts val="2849"/>
              </a:lnSpc>
            </a:pPr>
            <a:r>
              <a:rPr lang="en-US" b="true" sz="1822">
                <a:solidFill>
                  <a:srgbClr val="FFFFFF"/>
                </a:solidFill>
                <a:latin typeface="HK Grotesk Medium"/>
                <a:ea typeface="HK Grotesk Medium"/>
                <a:cs typeface="HK Grotesk Medium"/>
                <a:sym typeface="HK Grotesk Medium"/>
              </a:rPr>
              <a:t>behaviors and patterns that drive succ</a:t>
            </a:r>
            <a:r>
              <a:rPr lang="en-US" b="true" sz="1822">
                <a:solidFill>
                  <a:srgbClr val="2A3652"/>
                </a:solidFill>
                <a:latin typeface="HK Grotesk Bold"/>
                <a:ea typeface="HK Grotesk Bold"/>
                <a:cs typeface="HK Grotesk Bold"/>
                <a:sym typeface="HK Grotesk Bold"/>
              </a:rPr>
              <a:t>0</a:t>
            </a:r>
            <a:r>
              <a:rPr lang="en-US" b="true" sz="1822">
                <a:solidFill>
                  <a:srgbClr val="FFFFFF"/>
                </a:solidFill>
                <a:latin typeface="HK Grotesk Medium"/>
                <a:ea typeface="HK Grotesk Medium"/>
                <a:cs typeface="HK Grotesk Medium"/>
                <a:sym typeface="HK Grotesk Medium"/>
              </a:rPr>
              <a:t>e</a:t>
            </a:r>
            <a:r>
              <a:rPr lang="en-US" b="true" sz="1822">
                <a:solidFill>
                  <a:srgbClr val="2A3652"/>
                </a:solidFill>
                <a:latin typeface="HK Grotesk Bold"/>
                <a:ea typeface="HK Grotesk Bold"/>
                <a:cs typeface="HK Grotesk Bold"/>
                <a:sym typeface="HK Grotesk Bold"/>
              </a:rPr>
              <a:t>1</a:t>
            </a:r>
            <a:r>
              <a:rPr lang="en-US" b="true" sz="1822">
                <a:solidFill>
                  <a:srgbClr val="FFFFFF"/>
                </a:solidFill>
                <a:latin typeface="HK Grotesk Medium"/>
                <a:ea typeface="HK Grotesk Medium"/>
                <a:cs typeface="HK Grotesk Medium"/>
                <a:sym typeface="HK Grotesk Medium"/>
              </a:rPr>
              <a:t>ss. Each stage of our</a:t>
            </a:r>
          </a:p>
          <a:p>
            <a:pPr algn="ctr">
              <a:lnSpc>
                <a:spcPts val="911"/>
              </a:lnSpc>
            </a:pPr>
            <a:r>
              <a:rPr lang="en-US" b="true" sz="1822">
                <a:solidFill>
                  <a:srgbClr val="FFFFFF"/>
                </a:solidFill>
                <a:latin typeface="HK Grotesk Medium"/>
                <a:ea typeface="HK Grotesk Medium"/>
                <a:cs typeface="HK Grotesk Medium"/>
                <a:sym typeface="HK Grotesk Medium"/>
              </a:rPr>
              <a:t>process added layers of understanding, ultimately revealing a</a:t>
            </a:r>
          </a:p>
          <a:p>
            <a:pPr algn="ctr">
              <a:lnSpc>
                <a:spcPts val="3152"/>
              </a:lnSpc>
            </a:pPr>
            <a:r>
              <a:rPr lang="en-US" b="true" sz="1822">
                <a:solidFill>
                  <a:srgbClr val="FFFFFF"/>
                </a:solidFill>
                <a:latin typeface="HK Grotesk Medium"/>
                <a:ea typeface="HK Grotesk Medium"/>
                <a:cs typeface="HK Grotesk Medium"/>
                <a:sym typeface="HK Grotesk Medium"/>
              </a:rPr>
              <a:t>well-rounded view of how various factors impact student</a:t>
            </a:r>
          </a:p>
          <a:p>
            <a:pPr algn="ctr">
              <a:lnSpc>
                <a:spcPts val="911"/>
              </a:lnSpc>
            </a:pPr>
            <a:r>
              <a:rPr lang="en-US" b="true" sz="1822">
                <a:solidFill>
                  <a:srgbClr val="FFFFFF"/>
                </a:solidFill>
                <a:latin typeface="HK Grotesk Medium"/>
                <a:ea typeface="HK Grotesk Medium"/>
                <a:cs typeface="HK Grotesk Medium"/>
                <a:sym typeface="HK Grotesk Medium"/>
              </a:rPr>
              <a:t>outcomes.</a:t>
            </a:r>
          </a:p>
          <a:p>
            <a:pPr algn="ctr">
              <a:lnSpc>
                <a:spcPts val="4555"/>
              </a:lnSpc>
            </a:pPr>
            <a:r>
              <a:rPr lang="en-US" b="true" sz="1822">
                <a:solidFill>
                  <a:srgbClr val="FFFFFF"/>
                </a:solidFill>
                <a:latin typeface="HK Grotesk Medium"/>
                <a:ea typeface="HK Grotesk Medium"/>
                <a:cs typeface="HK Grotesk Medium"/>
                <a:sym typeface="HK Grotesk Medium"/>
              </a:rPr>
              <a:t>1. Data Cleaning and Preparation</a:t>
            </a:r>
          </a:p>
          <a:p>
            <a:pPr algn="ctr">
              <a:lnSpc>
                <a:spcPts val="911"/>
              </a:lnSpc>
            </a:pPr>
            <a:r>
              <a:rPr lang="en-US" b="true" sz="1822">
                <a:solidFill>
                  <a:srgbClr val="FFFFFF"/>
                </a:solidFill>
                <a:latin typeface="HK Grotesk Medium"/>
                <a:ea typeface="HK Grotesk Medium"/>
                <a:cs typeface="HK Grotesk Medium"/>
                <a:sym typeface="HK Grotesk Medium"/>
              </a:rPr>
              <a:t>We began by meticulously cleaning the data, handling missing</a:t>
            </a:r>
          </a:p>
          <a:p>
            <a:pPr algn="ctr">
              <a:lnSpc>
                <a:spcPts val="3152"/>
              </a:lnSpc>
            </a:pPr>
            <a:r>
              <a:rPr lang="en-US" b="true" sz="1822">
                <a:solidFill>
                  <a:srgbClr val="FFFFFF"/>
                </a:solidFill>
                <a:latin typeface="HK Grotesk Medium"/>
                <a:ea typeface="HK Grotesk Medium"/>
                <a:cs typeface="HK Grotesk Medium"/>
                <a:sym typeface="HK Grotesk Medium"/>
              </a:rPr>
              <a:t>values, correcting outliers, and standardizing formats. This</a:t>
            </a:r>
          </a:p>
          <a:p>
            <a:pPr algn="ctr">
              <a:lnSpc>
                <a:spcPts val="911"/>
              </a:lnSpc>
            </a:pPr>
            <a:r>
              <a:rPr lang="en-US" b="true" sz="1822">
                <a:solidFill>
                  <a:srgbClr val="FFFFFF"/>
                </a:solidFill>
                <a:latin typeface="HK Grotesk Medium"/>
                <a:ea typeface="HK Grotesk Medium"/>
                <a:cs typeface="HK Grotesk Medium"/>
                <a:sym typeface="HK Grotesk Medium"/>
              </a:rPr>
              <a:t>foundational step ensured the reliability and accuracy of our</a:t>
            </a:r>
          </a:p>
          <a:p>
            <a:pPr algn="ctr">
              <a:lnSpc>
                <a:spcPts val="3152"/>
              </a:lnSpc>
            </a:pPr>
            <a:r>
              <a:rPr lang="en-US" b="true" sz="1822">
                <a:solidFill>
                  <a:srgbClr val="FFFFFF"/>
                </a:solidFill>
                <a:latin typeface="HK Grotesk Medium"/>
                <a:ea typeface="HK Grotesk Medium"/>
                <a:cs typeface="HK Grotesk Medium"/>
                <a:sym typeface="HK Grotesk Medium"/>
              </a:rPr>
              <a:t>subsequent analyses, reinforcing the importance of clean data in</a:t>
            </a:r>
          </a:p>
          <a:p>
            <a:pPr algn="ctr">
              <a:lnSpc>
                <a:spcPts val="911"/>
              </a:lnSpc>
            </a:pPr>
            <a:r>
              <a:rPr lang="en-US" b="true" sz="1822">
                <a:solidFill>
                  <a:srgbClr val="FFFFFF"/>
                </a:solidFill>
                <a:latin typeface="HK Grotesk Medium"/>
                <a:ea typeface="HK Grotesk Medium"/>
                <a:cs typeface="HK Grotesk Medium"/>
                <a:sym typeface="HK Grotesk Medium"/>
              </a:rPr>
              <a:t>any data-driven project.</a:t>
            </a:r>
          </a:p>
          <a:p>
            <a:pPr algn="ctr">
              <a:lnSpc>
                <a:spcPts val="4555"/>
              </a:lnSpc>
            </a:pPr>
            <a:r>
              <a:rPr lang="en-US" b="true" sz="1822">
                <a:solidFill>
                  <a:srgbClr val="FFFFFF"/>
                </a:solidFill>
                <a:latin typeface="HK Grotesk Medium"/>
                <a:ea typeface="HK Grotesk Medium"/>
                <a:cs typeface="HK Grotesk Medium"/>
                <a:sym typeface="HK Grotesk Medium"/>
              </a:rPr>
              <a:t>2. Exploratory Data Analysis (EDA)</a:t>
            </a:r>
          </a:p>
          <a:p>
            <a:pPr algn="ctr">
              <a:lnSpc>
                <a:spcPts val="911"/>
              </a:lnSpc>
            </a:pPr>
            <a:r>
              <a:rPr lang="en-US" b="true" sz="1822">
                <a:solidFill>
                  <a:srgbClr val="FFFFFF"/>
                </a:solidFill>
                <a:latin typeface="HK Grotesk Medium"/>
                <a:ea typeface="HK Grotesk Medium"/>
                <a:cs typeface="HK Grotesk Medium"/>
                <a:sym typeface="HK Grotesk Medium"/>
              </a:rPr>
              <a:t>EDA provided a clear picture of how individual variables — such</a:t>
            </a:r>
          </a:p>
          <a:p>
            <a:pPr algn="ctr">
              <a:lnSpc>
                <a:spcPts val="3152"/>
              </a:lnSpc>
            </a:pPr>
            <a:r>
              <a:rPr lang="en-US" b="true" sz="1822">
                <a:solidFill>
                  <a:srgbClr val="FFFFFF"/>
                </a:solidFill>
                <a:latin typeface="HK Grotesk Medium"/>
                <a:ea typeface="HK Grotesk Medium"/>
                <a:cs typeface="HK Grotesk Medium"/>
                <a:sym typeface="HK Grotesk Medium"/>
              </a:rPr>
              <a:t>as study hours, assessment scores, and stress levels — interact</a:t>
            </a:r>
          </a:p>
          <a:p>
            <a:pPr algn="ctr">
              <a:lnSpc>
                <a:spcPts val="911"/>
              </a:lnSpc>
            </a:pPr>
            <a:r>
              <a:rPr lang="en-US" b="true" sz="1822">
                <a:solidFill>
                  <a:srgbClr val="FFFFFF"/>
                </a:solidFill>
                <a:latin typeface="HK Grotesk Medium"/>
                <a:ea typeface="HK Grotesk Medium"/>
                <a:cs typeface="HK Grotesk Medium"/>
                <a:sym typeface="HK Grotesk Medium"/>
              </a:rPr>
              <a:t>with overall student performance:</a:t>
            </a:r>
          </a:p>
        </p:txBody>
      </p:sp>
      <p:sp>
        <p:nvSpPr>
          <p:cNvPr name="TextBox 16" id="16"/>
          <p:cNvSpPr txBox="true"/>
          <p:nvPr/>
        </p:nvSpPr>
        <p:spPr>
          <a:xfrm rot="0">
            <a:off x="1073429" y="6887470"/>
            <a:ext cx="6112012" cy="3210554"/>
          </a:xfrm>
          <a:prstGeom prst="rect">
            <a:avLst/>
          </a:prstGeom>
        </p:spPr>
        <p:txBody>
          <a:bodyPr anchor="t" rtlCol="false" tIns="0" lIns="0" bIns="0" rIns="0">
            <a:spAutoFit/>
          </a:bodyPr>
          <a:lstStyle/>
          <a:p>
            <a:pPr algn="ctr">
              <a:lnSpc>
                <a:spcPts val="3152"/>
              </a:lnSpc>
            </a:pPr>
            <a:r>
              <a:rPr lang="en-US" b="true" sz="1822">
                <a:solidFill>
                  <a:srgbClr val="FFFFFF"/>
                </a:solidFill>
                <a:latin typeface="HK Grotesk Medium"/>
                <a:ea typeface="HK Grotesk Medium"/>
                <a:cs typeface="HK Grotesk Medium"/>
                <a:sym typeface="HK Grotesk Medium"/>
              </a:rPr>
              <a:t>Assessment Components: Midterm and final scores showed</a:t>
            </a:r>
          </a:p>
          <a:p>
            <a:pPr algn="ctr">
              <a:lnSpc>
                <a:spcPts val="911"/>
              </a:lnSpc>
            </a:pPr>
            <a:r>
              <a:rPr lang="en-US" b="true" sz="1822">
                <a:solidFill>
                  <a:srgbClr val="FFFFFF"/>
                </a:solidFill>
                <a:latin typeface="HK Grotesk Medium"/>
                <a:ea typeface="HK Grotesk Medium"/>
                <a:cs typeface="HK Grotesk Medium"/>
                <a:sym typeface="HK Grotesk Medium"/>
              </a:rPr>
              <a:t>the strongest correlation with total scores, highlighting their</a:t>
            </a:r>
          </a:p>
          <a:p>
            <a:pPr algn="ctr">
              <a:lnSpc>
                <a:spcPts val="3152"/>
              </a:lnSpc>
            </a:pPr>
            <a:r>
              <a:rPr lang="en-US" b="true" sz="1822">
                <a:solidFill>
                  <a:srgbClr val="FFFFFF"/>
                </a:solidFill>
                <a:latin typeface="HK Grotesk Medium"/>
                <a:ea typeface="HK Grotesk Medium"/>
                <a:cs typeface="HK Grotesk Medium"/>
                <a:sym typeface="HK Grotesk Medium"/>
              </a:rPr>
              <a:t>significant weight in determining final grades.</a:t>
            </a:r>
          </a:p>
          <a:p>
            <a:pPr algn="ctr">
              <a:lnSpc>
                <a:spcPts val="911"/>
              </a:lnSpc>
            </a:pPr>
            <a:r>
              <a:rPr lang="en-US" b="true" sz="1822">
                <a:solidFill>
                  <a:srgbClr val="FFFFFF"/>
                </a:solidFill>
                <a:latin typeface="HK Grotesk Medium"/>
                <a:ea typeface="HK Grotesk Medium"/>
                <a:cs typeface="HK Grotesk Medium"/>
                <a:sym typeface="HK Grotesk Medium"/>
              </a:rPr>
              <a:t>Study Habits: Students studying 20 to 25 hours per week</a:t>
            </a:r>
          </a:p>
          <a:p>
            <a:pPr algn="ctr">
              <a:lnSpc>
                <a:spcPts val="3152"/>
              </a:lnSpc>
            </a:pPr>
            <a:r>
              <a:rPr lang="en-US" b="true" sz="1822">
                <a:solidFill>
                  <a:srgbClr val="FFFFFF"/>
                </a:solidFill>
                <a:latin typeface="HK Grotesk Medium"/>
                <a:ea typeface="HK Grotesk Medium"/>
                <a:cs typeface="HK Grotesk Medium"/>
                <a:sym typeface="HK Grotesk Medium"/>
              </a:rPr>
              <a:t>consistently scored higher, while those exceeding this range</a:t>
            </a:r>
          </a:p>
          <a:p>
            <a:pPr algn="ctr">
              <a:lnSpc>
                <a:spcPts val="911"/>
              </a:lnSpc>
            </a:pPr>
            <a:r>
              <a:rPr lang="en-US" b="true" sz="1822">
                <a:solidFill>
                  <a:srgbClr val="FFFFFF"/>
                </a:solidFill>
                <a:latin typeface="HK Grotesk Medium"/>
                <a:ea typeface="HK Grotesk Medium"/>
                <a:cs typeface="HK Grotesk Medium"/>
                <a:sym typeface="HK Grotesk Medium"/>
              </a:rPr>
              <a:t>experienced diminishing returns, suggesting quality over</a:t>
            </a:r>
          </a:p>
          <a:p>
            <a:pPr algn="ctr">
              <a:lnSpc>
                <a:spcPts val="3152"/>
              </a:lnSpc>
            </a:pPr>
            <a:r>
              <a:rPr lang="en-US" b="true" sz="1822">
                <a:solidFill>
                  <a:srgbClr val="FFFFFF"/>
                </a:solidFill>
                <a:latin typeface="HK Grotesk Medium"/>
                <a:ea typeface="HK Grotesk Medium"/>
                <a:cs typeface="HK Grotesk Medium"/>
                <a:sym typeface="HK Grotesk Medium"/>
              </a:rPr>
              <a:t>quantity in study routines.</a:t>
            </a:r>
          </a:p>
          <a:p>
            <a:pPr algn="ctr">
              <a:lnSpc>
                <a:spcPts val="911"/>
              </a:lnSpc>
            </a:pPr>
            <a:r>
              <a:rPr lang="en-US" b="true" sz="1822">
                <a:solidFill>
                  <a:srgbClr val="FFFFFF"/>
                </a:solidFill>
                <a:latin typeface="HK Grotesk Medium"/>
                <a:ea typeface="HK Grotesk Medium"/>
                <a:cs typeface="HK Grotesk Medium"/>
                <a:sym typeface="HK Grotesk Medium"/>
              </a:rPr>
              <a:t>Stress and Sleep: Although stress levels varied widely, there</a:t>
            </a:r>
          </a:p>
          <a:p>
            <a:pPr algn="ctr">
              <a:lnSpc>
                <a:spcPts val="3152"/>
              </a:lnSpc>
            </a:pPr>
            <a:r>
              <a:rPr lang="en-US" b="true" sz="1822">
                <a:solidFill>
                  <a:srgbClr val="FFFFFF"/>
                </a:solidFill>
                <a:latin typeface="HK Grotesk Medium"/>
                <a:ea typeface="HK Grotesk Medium"/>
                <a:cs typeface="HK Grotesk Medium"/>
                <a:sym typeface="HK Grotesk Medium"/>
              </a:rPr>
              <a:t>was no strong correlation between stress-to-sleep ratios and</a:t>
            </a:r>
          </a:p>
          <a:p>
            <a:pPr algn="ctr">
              <a:lnSpc>
                <a:spcPts val="911"/>
              </a:lnSpc>
            </a:pPr>
            <a:r>
              <a:rPr lang="en-US" b="true" sz="1822">
                <a:solidFill>
                  <a:srgbClr val="FFFFFF"/>
                </a:solidFill>
                <a:latin typeface="HK Grotesk Medium"/>
                <a:ea typeface="HK Grotesk Medium"/>
                <a:cs typeface="HK Grotesk Medium"/>
                <a:sym typeface="HK Grotesk Medium"/>
              </a:rPr>
              <a:t>academic performance, indicating that stress alone does not</a:t>
            </a:r>
          </a:p>
          <a:p>
            <a:pPr algn="ctr">
              <a:lnSpc>
                <a:spcPts val="3152"/>
              </a:lnSpc>
            </a:pPr>
            <a:r>
              <a:rPr lang="en-US" b="true" sz="1822">
                <a:solidFill>
                  <a:srgbClr val="FFFFFF"/>
                </a:solidFill>
                <a:latin typeface="HK Grotesk Medium"/>
                <a:ea typeface="HK Grotesk Medium"/>
                <a:cs typeface="HK Grotesk Medium"/>
                <a:sym typeface="HK Grotesk Medium"/>
              </a:rPr>
              <a:t>dictate success — coping mechanisms likely play a crucial</a:t>
            </a:r>
          </a:p>
          <a:p>
            <a:pPr algn="ctr">
              <a:lnSpc>
                <a:spcPts val="911"/>
              </a:lnSpc>
            </a:pPr>
            <a:r>
              <a:rPr lang="en-US" b="true" sz="1822">
                <a:solidFill>
                  <a:srgbClr val="FFFFFF"/>
                </a:solidFill>
                <a:latin typeface="HK Grotesk Medium"/>
                <a:ea typeface="HK Grotesk Medium"/>
                <a:cs typeface="HK Grotesk Medium"/>
                <a:sym typeface="HK Grotesk Medium"/>
              </a:rPr>
              <a:t>role.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822188" y="3563112"/>
            <a:ext cx="66675" cy="66675"/>
            <a:chOff x="0" y="0"/>
            <a:chExt cx="66675" cy="66675"/>
          </a:xfrm>
        </p:grpSpPr>
        <p:sp>
          <p:nvSpPr>
            <p:cNvPr name="Freeform 3" id="3"/>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FFFFFF"/>
            </a:solidFill>
          </p:spPr>
        </p:sp>
      </p:grpSp>
      <p:grpSp>
        <p:nvGrpSpPr>
          <p:cNvPr name="Group 4" id="4"/>
          <p:cNvGrpSpPr>
            <a:grpSpLocks noChangeAspect="true"/>
          </p:cNvGrpSpPr>
          <p:nvPr/>
        </p:nvGrpSpPr>
        <p:grpSpPr>
          <a:xfrm rot="0">
            <a:off x="822188" y="5010912"/>
            <a:ext cx="66675" cy="66675"/>
            <a:chOff x="0" y="0"/>
            <a:chExt cx="66675" cy="66675"/>
          </a:xfrm>
        </p:grpSpPr>
        <p:sp>
          <p:nvSpPr>
            <p:cNvPr name="Freeform 5" id="5"/>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FFFFFF"/>
            </a:solidFill>
          </p:spPr>
        </p:sp>
      </p:grpSp>
      <p:grpSp>
        <p:nvGrpSpPr>
          <p:cNvPr name="Group 6" id="6"/>
          <p:cNvGrpSpPr>
            <a:grpSpLocks noChangeAspect="true"/>
          </p:cNvGrpSpPr>
          <p:nvPr/>
        </p:nvGrpSpPr>
        <p:grpSpPr>
          <a:xfrm rot="0">
            <a:off x="822188" y="6820662"/>
            <a:ext cx="66675" cy="66675"/>
            <a:chOff x="0" y="0"/>
            <a:chExt cx="66675" cy="66675"/>
          </a:xfrm>
        </p:grpSpPr>
        <p:sp>
          <p:nvSpPr>
            <p:cNvPr name="Freeform 7" id="7"/>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FFFFFF"/>
            </a:solidFill>
          </p:spPr>
        </p:sp>
      </p:grpSp>
      <p:grpSp>
        <p:nvGrpSpPr>
          <p:cNvPr name="Group 8" id="8"/>
          <p:cNvGrpSpPr>
            <a:grpSpLocks noChangeAspect="true"/>
          </p:cNvGrpSpPr>
          <p:nvPr/>
        </p:nvGrpSpPr>
        <p:grpSpPr>
          <a:xfrm rot="0">
            <a:off x="822188" y="7906512"/>
            <a:ext cx="66675" cy="66675"/>
            <a:chOff x="0" y="0"/>
            <a:chExt cx="66675" cy="66675"/>
          </a:xfrm>
        </p:grpSpPr>
        <p:sp>
          <p:nvSpPr>
            <p:cNvPr name="Freeform 9" id="9"/>
            <p:cNvSpPr/>
            <p:nvPr/>
          </p:nvSpPr>
          <p:spPr>
            <a:xfrm flipH="false" flipV="false" rot="0">
              <a:off x="0" y="0"/>
              <a:ext cx="66675" cy="66548"/>
            </a:xfrm>
            <a:custGeom>
              <a:avLst/>
              <a:gdLst/>
              <a:ahLst/>
              <a:cxnLst/>
              <a:rect r="r" b="b" t="t" l="l"/>
              <a:pathLst>
                <a:path h="66548" w="66675">
                  <a:moveTo>
                    <a:pt x="66675" y="33274"/>
                  </a:moveTo>
                  <a:cubicBezTo>
                    <a:pt x="66675" y="37719"/>
                    <a:pt x="65786" y="41910"/>
                    <a:pt x="64135" y="45974"/>
                  </a:cubicBezTo>
                  <a:cubicBezTo>
                    <a:pt x="62484" y="50038"/>
                    <a:pt x="60071" y="53721"/>
                    <a:pt x="56896" y="56769"/>
                  </a:cubicBezTo>
                  <a:cubicBezTo>
                    <a:pt x="53721" y="59817"/>
                    <a:pt x="50165" y="62357"/>
                    <a:pt x="46101" y="64008"/>
                  </a:cubicBezTo>
                  <a:cubicBezTo>
                    <a:pt x="42037" y="65659"/>
                    <a:pt x="37719" y="66548"/>
                    <a:pt x="33401" y="66548"/>
                  </a:cubicBezTo>
                  <a:cubicBezTo>
                    <a:pt x="29083" y="66548"/>
                    <a:pt x="24765" y="65659"/>
                    <a:pt x="20701" y="64008"/>
                  </a:cubicBezTo>
                  <a:cubicBezTo>
                    <a:pt x="16637" y="62357"/>
                    <a:pt x="12954" y="59944"/>
                    <a:pt x="9906" y="56769"/>
                  </a:cubicBezTo>
                  <a:cubicBezTo>
                    <a:pt x="6858" y="53594"/>
                    <a:pt x="4191" y="50165"/>
                    <a:pt x="2540" y="46101"/>
                  </a:cubicBezTo>
                  <a:cubicBezTo>
                    <a:pt x="889" y="42037"/>
                    <a:pt x="0" y="37719"/>
                    <a:pt x="0" y="33401"/>
                  </a:cubicBezTo>
                  <a:cubicBezTo>
                    <a:pt x="0" y="29083"/>
                    <a:pt x="889" y="24765"/>
                    <a:pt x="2540" y="20701"/>
                  </a:cubicBezTo>
                  <a:cubicBezTo>
                    <a:pt x="4191" y="16637"/>
                    <a:pt x="6604" y="12827"/>
                    <a:pt x="9779" y="9779"/>
                  </a:cubicBezTo>
                  <a:cubicBezTo>
                    <a:pt x="12954" y="6731"/>
                    <a:pt x="16510" y="4191"/>
                    <a:pt x="20574" y="2540"/>
                  </a:cubicBezTo>
                  <a:cubicBezTo>
                    <a:pt x="24638" y="889"/>
                    <a:pt x="28956" y="0"/>
                    <a:pt x="33274" y="0"/>
                  </a:cubicBezTo>
                  <a:cubicBezTo>
                    <a:pt x="37592" y="0"/>
                    <a:pt x="41910" y="889"/>
                    <a:pt x="45974" y="2540"/>
                  </a:cubicBezTo>
                  <a:cubicBezTo>
                    <a:pt x="50038" y="4191"/>
                    <a:pt x="53721" y="6604"/>
                    <a:pt x="56769" y="9779"/>
                  </a:cubicBezTo>
                  <a:cubicBezTo>
                    <a:pt x="59817" y="12954"/>
                    <a:pt x="62357" y="16510"/>
                    <a:pt x="64008" y="20574"/>
                  </a:cubicBezTo>
                  <a:cubicBezTo>
                    <a:pt x="65659" y="24638"/>
                    <a:pt x="66548" y="28956"/>
                    <a:pt x="66548" y="33274"/>
                  </a:cubicBezTo>
                  <a:close/>
                </a:path>
              </a:pathLst>
            </a:custGeom>
            <a:solidFill>
              <a:srgbClr val="FFFFFF"/>
            </a:solidFill>
          </p:spPr>
        </p:sp>
      </p:grpSp>
      <p:sp>
        <p:nvSpPr>
          <p:cNvPr name="Freeform 10" id="10"/>
          <p:cNvSpPr/>
          <p:nvPr/>
        </p:nvSpPr>
        <p:spPr>
          <a:xfrm flipH="false" flipV="false" rot="0">
            <a:off x="692448" y="-2524487"/>
            <a:ext cx="9401375" cy="4823631"/>
          </a:xfrm>
          <a:custGeom>
            <a:avLst/>
            <a:gdLst/>
            <a:ahLst/>
            <a:cxnLst/>
            <a:rect r="r" b="b" t="t" l="l"/>
            <a:pathLst>
              <a:path h="4823631" w="9401375">
                <a:moveTo>
                  <a:pt x="0" y="0"/>
                </a:moveTo>
                <a:lnTo>
                  <a:pt x="9401375" y="0"/>
                </a:lnTo>
                <a:lnTo>
                  <a:pt x="9401375" y="4823631"/>
                </a:lnTo>
                <a:lnTo>
                  <a:pt x="0" y="48236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4995910" y="484156"/>
            <a:ext cx="1476375" cy="1476375"/>
          </a:xfrm>
          <a:custGeom>
            <a:avLst/>
            <a:gdLst/>
            <a:ahLst/>
            <a:cxnLst/>
            <a:rect r="r" b="b" t="t" l="l"/>
            <a:pathLst>
              <a:path h="1476375" w="1476375">
                <a:moveTo>
                  <a:pt x="0" y="0"/>
                </a:moveTo>
                <a:lnTo>
                  <a:pt x="1476375" y="0"/>
                </a:lnTo>
                <a:lnTo>
                  <a:pt x="1476375" y="1476375"/>
                </a:lnTo>
                <a:lnTo>
                  <a:pt x="0" y="1476375"/>
                </a:lnTo>
                <a:lnTo>
                  <a:pt x="0" y="0"/>
                </a:lnTo>
                <a:close/>
              </a:path>
            </a:pathLst>
          </a:custGeom>
          <a:blipFill>
            <a:blip r:embed="rId4"/>
            <a:stretch>
              <a:fillRect l="0" t="0" r="0" b="0"/>
            </a:stretch>
          </a:blipFill>
        </p:spPr>
      </p:sp>
      <p:grpSp>
        <p:nvGrpSpPr>
          <p:cNvPr name="Group 12" id="12"/>
          <p:cNvGrpSpPr>
            <a:grpSpLocks noChangeAspect="true"/>
          </p:cNvGrpSpPr>
          <p:nvPr/>
        </p:nvGrpSpPr>
        <p:grpSpPr>
          <a:xfrm rot="0">
            <a:off x="692448" y="-63503"/>
            <a:ext cx="6933905" cy="4228900"/>
            <a:chOff x="0" y="0"/>
            <a:chExt cx="6933895" cy="4228897"/>
          </a:xfrm>
        </p:grpSpPr>
        <p:sp>
          <p:nvSpPr>
            <p:cNvPr name="Freeform 13" id="13"/>
            <p:cNvSpPr/>
            <p:nvPr/>
          </p:nvSpPr>
          <p:spPr>
            <a:xfrm flipH="false" flipV="false" rot="0">
              <a:off x="1335024" y="63500"/>
              <a:ext cx="5535422" cy="4101846"/>
            </a:xfrm>
            <a:custGeom>
              <a:avLst/>
              <a:gdLst/>
              <a:ahLst/>
              <a:cxnLst/>
              <a:rect r="r" b="b" t="t" l="l"/>
              <a:pathLst>
                <a:path h="4101846" w="5535422">
                  <a:moveTo>
                    <a:pt x="0" y="0"/>
                  </a:moveTo>
                  <a:lnTo>
                    <a:pt x="0" y="4101846"/>
                  </a:lnTo>
                  <a:lnTo>
                    <a:pt x="5535422" y="4101846"/>
                  </a:lnTo>
                  <a:lnTo>
                    <a:pt x="5535422" y="0"/>
                  </a:lnTo>
                  <a:close/>
                </a:path>
              </a:pathLst>
            </a:custGeom>
            <a:solidFill>
              <a:srgbClr val="000000">
                <a:alpha val="0"/>
              </a:srgbClr>
            </a:solidFill>
          </p:spPr>
        </p:sp>
        <p:sp>
          <p:nvSpPr>
            <p:cNvPr name="Freeform 14" id="14"/>
            <p:cNvSpPr/>
            <p:nvPr/>
          </p:nvSpPr>
          <p:spPr>
            <a:xfrm flipH="false" flipV="false" rot="0">
              <a:off x="4303395" y="552196"/>
              <a:ext cx="1479550" cy="1479550"/>
            </a:xfrm>
            <a:custGeom>
              <a:avLst/>
              <a:gdLst/>
              <a:ahLst/>
              <a:cxnLst/>
              <a:rect r="r" b="b" t="t" l="l"/>
              <a:pathLst>
                <a:path h="1479550" w="1479550">
                  <a:moveTo>
                    <a:pt x="0" y="1479550"/>
                  </a:moveTo>
                  <a:lnTo>
                    <a:pt x="1479550" y="1479550"/>
                  </a:lnTo>
                  <a:lnTo>
                    <a:pt x="1479550" y="0"/>
                  </a:lnTo>
                  <a:lnTo>
                    <a:pt x="0" y="0"/>
                  </a:lnTo>
                  <a:close/>
                </a:path>
              </a:pathLst>
            </a:custGeom>
            <a:solidFill>
              <a:srgbClr val="000000">
                <a:alpha val="0"/>
              </a:srgbClr>
            </a:solidFill>
          </p:spPr>
        </p:sp>
        <p:sp>
          <p:nvSpPr>
            <p:cNvPr name="Freeform 15" id="15"/>
            <p:cNvSpPr/>
            <p:nvPr/>
          </p:nvSpPr>
          <p:spPr>
            <a:xfrm flipH="false" flipV="false" rot="0">
              <a:off x="63500" y="741934"/>
              <a:ext cx="3573907" cy="28575"/>
            </a:xfrm>
            <a:custGeom>
              <a:avLst/>
              <a:gdLst/>
              <a:ahLst/>
              <a:cxnLst/>
              <a:rect r="r" b="b" t="t" l="l"/>
              <a:pathLst>
                <a:path h="28575" w="3573907">
                  <a:moveTo>
                    <a:pt x="0" y="28575"/>
                  </a:moveTo>
                  <a:lnTo>
                    <a:pt x="3573907" y="28575"/>
                  </a:lnTo>
                  <a:lnTo>
                    <a:pt x="3573907" y="0"/>
                  </a:lnTo>
                  <a:lnTo>
                    <a:pt x="0" y="0"/>
                  </a:lnTo>
                  <a:close/>
                </a:path>
              </a:pathLst>
            </a:custGeom>
            <a:solidFill>
              <a:srgbClr val="000000">
                <a:alpha val="0"/>
              </a:srgbClr>
            </a:solidFill>
          </p:spPr>
        </p:sp>
      </p:grpSp>
      <p:sp>
        <p:nvSpPr>
          <p:cNvPr name="TextBox 16" id="16"/>
          <p:cNvSpPr txBox="true"/>
          <p:nvPr/>
        </p:nvSpPr>
        <p:spPr>
          <a:xfrm rot="0">
            <a:off x="623345" y="1104643"/>
            <a:ext cx="3410569"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CONCLUSION</a:t>
            </a:r>
          </a:p>
        </p:txBody>
      </p:sp>
      <p:sp>
        <p:nvSpPr>
          <p:cNvPr name="TextBox 17" id="17"/>
          <p:cNvSpPr txBox="true"/>
          <p:nvPr/>
        </p:nvSpPr>
        <p:spPr>
          <a:xfrm rot="0">
            <a:off x="801357" y="2291039"/>
            <a:ext cx="6200642" cy="712099"/>
          </a:xfrm>
          <a:prstGeom prst="rect">
            <a:avLst/>
          </a:prstGeom>
        </p:spPr>
        <p:txBody>
          <a:bodyPr anchor="t" rtlCol="false" tIns="0" lIns="0" bIns="0" rIns="0">
            <a:spAutoFit/>
          </a:bodyPr>
          <a:lstStyle/>
          <a:p>
            <a:pPr algn="ctr">
              <a:lnSpc>
                <a:spcPts val="2849"/>
              </a:lnSpc>
            </a:pPr>
            <a:r>
              <a:rPr lang="en-US" b="true" sz="1859">
                <a:solidFill>
                  <a:srgbClr val="FFFFFF"/>
                </a:solidFill>
                <a:latin typeface="HK Grotesk Medium"/>
                <a:ea typeface="HK Grotesk Medium"/>
                <a:cs typeface="HK Grotesk Medium"/>
                <a:sym typeface="HK Grotesk Medium"/>
              </a:rPr>
              <a:t>3. Feature Engineering Insights Through feature engineering, we crafted meaningful metrics</a:t>
            </a:r>
          </a:p>
        </p:txBody>
      </p:sp>
      <p:sp>
        <p:nvSpPr>
          <p:cNvPr name="TextBox 18" id="18"/>
          <p:cNvSpPr txBox="true"/>
          <p:nvPr/>
        </p:nvSpPr>
        <p:spPr>
          <a:xfrm rot="0">
            <a:off x="4637322" y="3039761"/>
            <a:ext cx="259061" cy="139036"/>
          </a:xfrm>
          <a:prstGeom prst="rect">
            <a:avLst/>
          </a:prstGeom>
        </p:spPr>
        <p:txBody>
          <a:bodyPr anchor="t" rtlCol="false" tIns="0" lIns="0" bIns="0" rIns="0">
            <a:spAutoFit/>
          </a:bodyPr>
          <a:lstStyle/>
          <a:p>
            <a:pPr algn="l">
              <a:lnSpc>
                <a:spcPts val="799"/>
              </a:lnSpc>
            </a:pPr>
            <a:r>
              <a:rPr lang="en-US" b="true" sz="1599" spc="143">
                <a:solidFill>
                  <a:srgbClr val="2A3652"/>
                </a:solidFill>
                <a:latin typeface="HK Grotesk Bold"/>
                <a:ea typeface="HK Grotesk Bold"/>
                <a:cs typeface="HK Grotesk Bold"/>
                <a:sym typeface="HK Grotesk Bold"/>
              </a:rPr>
              <a:t>01</a:t>
            </a:r>
          </a:p>
        </p:txBody>
      </p:sp>
      <p:sp>
        <p:nvSpPr>
          <p:cNvPr name="TextBox 19" id="19"/>
          <p:cNvSpPr txBox="true"/>
          <p:nvPr/>
        </p:nvSpPr>
        <p:spPr>
          <a:xfrm rot="0">
            <a:off x="2157479" y="3119714"/>
            <a:ext cx="3434144" cy="245374"/>
          </a:xfrm>
          <a:prstGeom prst="rect">
            <a:avLst/>
          </a:prstGeom>
        </p:spPr>
        <p:txBody>
          <a:bodyPr anchor="t" rtlCol="false" tIns="0" lIns="0" bIns="0" rIns="0">
            <a:spAutoFit/>
          </a:bodyPr>
          <a:lstStyle/>
          <a:p>
            <a:pPr algn="l">
              <a:lnSpc>
                <a:spcPts val="1757"/>
              </a:lnSpc>
            </a:pPr>
            <a:r>
              <a:rPr lang="en-US" b="true" sz="1859">
                <a:solidFill>
                  <a:srgbClr val="FFFFFF"/>
                </a:solidFill>
                <a:latin typeface="HK Grotesk Medium"/>
                <a:ea typeface="HK Grotesk Medium"/>
                <a:cs typeface="HK Grotesk Medium"/>
                <a:sym typeface="HK Grotesk Medium"/>
              </a:rPr>
              <a:t>that offered deeper perspectives:</a:t>
            </a:r>
          </a:p>
        </p:txBody>
      </p:sp>
      <p:sp>
        <p:nvSpPr>
          <p:cNvPr name="TextBox 20" id="20"/>
          <p:cNvSpPr txBox="true"/>
          <p:nvPr/>
        </p:nvSpPr>
        <p:spPr>
          <a:xfrm rot="0">
            <a:off x="1052722" y="3272114"/>
            <a:ext cx="6097419" cy="5522224"/>
          </a:xfrm>
          <a:prstGeom prst="rect">
            <a:avLst/>
          </a:prstGeom>
        </p:spPr>
        <p:txBody>
          <a:bodyPr anchor="t" rtlCol="false" tIns="0" lIns="0" bIns="0" rIns="0">
            <a:spAutoFit/>
          </a:bodyPr>
          <a:lstStyle/>
          <a:p>
            <a:pPr algn="ctr">
              <a:lnSpc>
                <a:spcPts val="3943"/>
              </a:lnSpc>
            </a:pPr>
            <a:r>
              <a:rPr lang="en-US" b="true" sz="1859">
                <a:solidFill>
                  <a:srgbClr val="FFFFFF"/>
                </a:solidFill>
                <a:latin typeface="HK Grotesk Medium"/>
                <a:ea typeface="HK Grotesk Medium"/>
                <a:cs typeface="HK Grotesk Medium"/>
                <a:sym typeface="HK Grotesk Medium"/>
              </a:rPr>
              <a:t>Score Consistency: While students with consistent scores</a:t>
            </a:r>
          </a:p>
          <a:p>
            <a:pPr algn="ctr">
              <a:lnSpc>
                <a:spcPts val="1757"/>
              </a:lnSpc>
            </a:pPr>
            <a:r>
              <a:rPr lang="en-US" b="true" sz="1859">
                <a:solidFill>
                  <a:srgbClr val="FFFFFF"/>
                </a:solidFill>
                <a:latin typeface="HK Grotesk Medium"/>
                <a:ea typeface="HK Grotesk Medium"/>
                <a:cs typeface="HK Grotesk Medium"/>
                <a:sym typeface="HK Grotesk Medium"/>
              </a:rPr>
              <a:t>generally achieved higher totals, certain outliers defied this</a:t>
            </a:r>
          </a:p>
          <a:p>
            <a:pPr algn="ctr">
              <a:lnSpc>
                <a:spcPts val="3943"/>
              </a:lnSpc>
            </a:pPr>
            <a:r>
              <a:rPr lang="en-US" b="true" sz="1859">
                <a:solidFill>
                  <a:srgbClr val="FFFFFF"/>
                </a:solidFill>
                <a:latin typeface="HK Grotesk Medium"/>
                <a:ea typeface="HK Grotesk Medium"/>
                <a:cs typeface="HK Grotesk Medium"/>
                <a:sym typeface="HK Grotesk Medium"/>
              </a:rPr>
              <a:t>trend, proving that flexibility and last-minute</a:t>
            </a:r>
          </a:p>
          <a:p>
            <a:pPr algn="ctr">
              <a:lnSpc>
                <a:spcPts val="1757"/>
              </a:lnSpc>
            </a:pPr>
            <a:r>
              <a:rPr lang="en-US" b="true" sz="1859">
                <a:solidFill>
                  <a:srgbClr val="FFFFFF"/>
                </a:solidFill>
                <a:latin typeface="HK Grotesk Medium"/>
                <a:ea typeface="HK Grotesk Medium"/>
                <a:cs typeface="HK Grotesk Medium"/>
                <a:sym typeface="HK Grotesk Medium"/>
              </a:rPr>
              <a:t>improvements can still yield success.</a:t>
            </a:r>
          </a:p>
          <a:p>
            <a:pPr algn="ctr">
              <a:lnSpc>
                <a:spcPts val="3943"/>
              </a:lnSpc>
            </a:pPr>
            <a:r>
              <a:rPr lang="en-US" b="true" sz="1859">
                <a:solidFill>
                  <a:srgbClr val="FFFFFF"/>
                </a:solidFill>
                <a:latin typeface="HK Grotesk Medium"/>
                <a:ea typeface="HK Grotesk Medium"/>
                <a:cs typeface="HK Grotesk Medium"/>
                <a:sym typeface="HK Grotesk Medium"/>
              </a:rPr>
              <a:t>Participation-Project Ratio: High-achieving students leaned</a:t>
            </a:r>
          </a:p>
          <a:p>
            <a:pPr algn="ctr">
              <a:lnSpc>
                <a:spcPts val="1757"/>
              </a:lnSpc>
            </a:pPr>
            <a:r>
              <a:rPr lang="en-US" b="true" sz="1859">
                <a:solidFill>
                  <a:srgbClr val="FFFFFF"/>
                </a:solidFill>
                <a:latin typeface="HK Grotesk Medium"/>
                <a:ea typeface="HK Grotesk Medium"/>
                <a:cs typeface="HK Grotesk Medium"/>
                <a:sym typeface="HK Grotesk Medium"/>
              </a:rPr>
              <a:t>more toward project-based learning, while lower-</a:t>
            </a:r>
          </a:p>
          <a:p>
            <a:pPr algn="ctr">
              <a:lnSpc>
                <a:spcPts val="3943"/>
              </a:lnSpc>
            </a:pPr>
            <a:r>
              <a:rPr lang="en-US" b="true" sz="1859">
                <a:solidFill>
                  <a:srgbClr val="FFFFFF"/>
                </a:solidFill>
                <a:latin typeface="HK Grotesk Medium"/>
                <a:ea typeface="HK Grotesk Medium"/>
                <a:cs typeface="HK Grotesk Medium"/>
                <a:sym typeface="HK Grotesk Medium"/>
              </a:rPr>
              <a:t>performing students depended more on participation —</a:t>
            </a:r>
          </a:p>
          <a:p>
            <a:pPr algn="ctr">
              <a:lnSpc>
                <a:spcPts val="1757"/>
              </a:lnSpc>
            </a:pPr>
            <a:r>
              <a:rPr lang="en-US" b="true" sz="1859">
                <a:solidFill>
                  <a:srgbClr val="FFFFFF"/>
                </a:solidFill>
                <a:latin typeface="HK Grotesk Medium"/>
                <a:ea typeface="HK Grotesk Medium"/>
                <a:cs typeface="HK Grotesk Medium"/>
                <a:sym typeface="HK Grotesk Medium"/>
              </a:rPr>
              <a:t>signaling the value of hands-on application in solidifying</a:t>
            </a:r>
          </a:p>
          <a:p>
            <a:pPr algn="ctr">
              <a:lnSpc>
                <a:spcPts val="3943"/>
              </a:lnSpc>
            </a:pPr>
            <a:r>
              <a:rPr lang="en-US" b="true" sz="1859">
                <a:solidFill>
                  <a:srgbClr val="FFFFFF"/>
                </a:solidFill>
                <a:latin typeface="HK Grotesk Medium"/>
                <a:ea typeface="HK Grotesk Medium"/>
                <a:cs typeface="HK Grotesk Medium"/>
                <a:sym typeface="HK Grotesk Medium"/>
              </a:rPr>
              <a:t>knowledge.</a:t>
            </a:r>
          </a:p>
          <a:p>
            <a:pPr algn="ctr">
              <a:lnSpc>
                <a:spcPts val="1757"/>
              </a:lnSpc>
            </a:pPr>
            <a:r>
              <a:rPr lang="en-US" b="true" sz="1859">
                <a:solidFill>
                  <a:srgbClr val="FFFFFF"/>
                </a:solidFill>
                <a:latin typeface="HK Grotesk Medium"/>
                <a:ea typeface="HK Grotesk Medium"/>
                <a:cs typeface="HK Grotesk Medium"/>
                <a:sym typeface="HK Grotesk Medium"/>
              </a:rPr>
              <a:t>Improvement Score: Most students showed steady or</a:t>
            </a:r>
          </a:p>
          <a:p>
            <a:pPr algn="ctr">
              <a:lnSpc>
                <a:spcPts val="3943"/>
              </a:lnSpc>
            </a:pPr>
            <a:r>
              <a:rPr lang="en-US" b="true" sz="1859">
                <a:solidFill>
                  <a:srgbClr val="FFFFFF"/>
                </a:solidFill>
                <a:latin typeface="HK Grotesk Medium"/>
                <a:ea typeface="HK Grotesk Medium"/>
                <a:cs typeface="HK Grotesk Medium"/>
                <a:sym typeface="HK Grotesk Medium"/>
              </a:rPr>
              <a:t>modest improvements from midterms to finals, with sharp</a:t>
            </a:r>
          </a:p>
          <a:p>
            <a:pPr algn="ctr">
              <a:lnSpc>
                <a:spcPts val="1757"/>
              </a:lnSpc>
            </a:pPr>
            <a:r>
              <a:rPr lang="en-US" b="true" sz="1859">
                <a:solidFill>
                  <a:srgbClr val="FFFFFF"/>
                </a:solidFill>
                <a:latin typeface="HK Grotesk Medium"/>
                <a:ea typeface="HK Grotesk Medium"/>
                <a:cs typeface="HK Grotesk Medium"/>
                <a:sym typeface="HK Grotesk Medium"/>
              </a:rPr>
              <a:t>gains linked to focused study strategies and project work.</a:t>
            </a:r>
          </a:p>
          <a:p>
            <a:pPr algn="ctr">
              <a:lnSpc>
                <a:spcPts val="3943"/>
              </a:lnSpc>
            </a:pPr>
            <a:r>
              <a:rPr lang="en-US" b="true" sz="1859">
                <a:solidFill>
                  <a:srgbClr val="FFFFFF"/>
                </a:solidFill>
                <a:latin typeface="HK Grotesk Medium"/>
                <a:ea typeface="HK Grotesk Medium"/>
                <a:cs typeface="HK Grotesk Medium"/>
                <a:sym typeface="HK Grotesk Medium"/>
              </a:rPr>
              <a:t>Weighted Score: Integrating assessment components</a:t>
            </a:r>
          </a:p>
          <a:p>
            <a:pPr algn="ctr">
              <a:lnSpc>
                <a:spcPts val="1757"/>
              </a:lnSpc>
            </a:pPr>
            <a:r>
              <a:rPr lang="en-US" b="true" sz="1859">
                <a:solidFill>
                  <a:srgbClr val="FFFFFF"/>
                </a:solidFill>
                <a:latin typeface="HK Grotesk Medium"/>
                <a:ea typeface="HK Grotesk Medium"/>
                <a:cs typeface="HK Grotesk Medium"/>
                <a:sym typeface="HK Grotesk Medium"/>
              </a:rPr>
              <a:t>emphasized that well-rounded efforts — not over-reliance</a:t>
            </a:r>
          </a:p>
          <a:p>
            <a:pPr algn="ctr">
              <a:lnSpc>
                <a:spcPts val="3943"/>
              </a:lnSpc>
            </a:pPr>
            <a:r>
              <a:rPr lang="en-US" b="true" sz="1859">
                <a:solidFill>
                  <a:srgbClr val="FFFFFF"/>
                </a:solidFill>
                <a:latin typeface="HK Grotesk Medium"/>
                <a:ea typeface="HK Grotesk Medium"/>
                <a:cs typeface="HK Grotesk Medium"/>
                <a:sym typeface="HK Grotesk Medium"/>
              </a:rPr>
              <a:t>on a single area — produce the best academic outcomes.</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2A3652"/>
        </a:solidFill>
      </p:bgPr>
    </p:bg>
    <p:spTree>
      <p:nvGrpSpPr>
        <p:cNvPr id="1" name=""/>
        <p:cNvGrpSpPr/>
        <p:nvPr/>
      </p:nvGrpSpPr>
      <p:grpSpPr>
        <a:xfrm>
          <a:off x="0" y="0"/>
          <a:ext cx="0" cy="0"/>
          <a:chOff x="0" y="0"/>
          <a:chExt cx="0" cy="0"/>
        </a:xfrm>
      </p:grpSpPr>
      <p:sp>
        <p:nvSpPr>
          <p:cNvPr name="Freeform 2" id="2"/>
          <p:cNvSpPr/>
          <p:nvPr/>
        </p:nvSpPr>
        <p:spPr>
          <a:xfrm flipH="false" flipV="false" rot="0">
            <a:off x="5288347" y="-2505875"/>
            <a:ext cx="8929802" cy="6263345"/>
          </a:xfrm>
          <a:custGeom>
            <a:avLst/>
            <a:gdLst/>
            <a:ahLst/>
            <a:cxnLst/>
            <a:rect r="r" b="b" t="t" l="l"/>
            <a:pathLst>
              <a:path h="6263345" w="8929802">
                <a:moveTo>
                  <a:pt x="0" y="0"/>
                </a:moveTo>
                <a:lnTo>
                  <a:pt x="8929801" y="0"/>
                </a:lnTo>
                <a:lnTo>
                  <a:pt x="8929801" y="6263345"/>
                </a:lnTo>
                <a:lnTo>
                  <a:pt x="0" y="62633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91587" y="3725380"/>
            <a:ext cx="2095500" cy="1495425"/>
          </a:xfrm>
          <a:custGeom>
            <a:avLst/>
            <a:gdLst/>
            <a:ahLst/>
            <a:cxnLst/>
            <a:rect r="r" b="b" t="t" l="l"/>
            <a:pathLst>
              <a:path h="1495425" w="2095500">
                <a:moveTo>
                  <a:pt x="0" y="0"/>
                </a:moveTo>
                <a:lnTo>
                  <a:pt x="2095500" y="0"/>
                </a:lnTo>
                <a:lnTo>
                  <a:pt x="2095500" y="1495425"/>
                </a:lnTo>
                <a:lnTo>
                  <a:pt x="0" y="1495425"/>
                </a:lnTo>
                <a:lnTo>
                  <a:pt x="0" y="0"/>
                </a:lnTo>
                <a:close/>
              </a:path>
            </a:pathLst>
          </a:custGeom>
          <a:blipFill>
            <a:blip r:embed="rId4"/>
            <a:stretch>
              <a:fillRect l="0" t="0" r="0" b="0"/>
            </a:stretch>
          </a:blipFill>
        </p:spPr>
      </p:sp>
      <p:sp>
        <p:nvSpPr>
          <p:cNvPr name="Freeform 4" id="4"/>
          <p:cNvSpPr/>
          <p:nvPr/>
        </p:nvSpPr>
        <p:spPr>
          <a:xfrm flipH="false" flipV="false" rot="0">
            <a:off x="-3048" y="3371088"/>
            <a:ext cx="4443984" cy="3148584"/>
          </a:xfrm>
          <a:custGeom>
            <a:avLst/>
            <a:gdLst/>
            <a:ahLst/>
            <a:cxnLst/>
            <a:rect r="r" b="b" t="t" l="l"/>
            <a:pathLst>
              <a:path h="3148584" w="4443984">
                <a:moveTo>
                  <a:pt x="0" y="0"/>
                </a:moveTo>
                <a:lnTo>
                  <a:pt x="4443984" y="0"/>
                </a:lnTo>
                <a:lnTo>
                  <a:pt x="4443984" y="3148584"/>
                </a:lnTo>
                <a:lnTo>
                  <a:pt x="0" y="3148584"/>
                </a:lnTo>
                <a:lnTo>
                  <a:pt x="0" y="0"/>
                </a:lnTo>
                <a:close/>
              </a:path>
            </a:pathLst>
          </a:custGeom>
          <a:blipFill>
            <a:blip r:embed="rId5"/>
            <a:stretch>
              <a:fillRect l="0" t="0" r="0" b="0"/>
            </a:stretch>
          </a:blipFill>
        </p:spPr>
      </p:sp>
      <p:sp>
        <p:nvSpPr>
          <p:cNvPr name="Freeform 5" id="5"/>
          <p:cNvSpPr/>
          <p:nvPr/>
        </p:nvSpPr>
        <p:spPr>
          <a:xfrm flipH="false" flipV="false" rot="0">
            <a:off x="-458476" y="-63503"/>
            <a:ext cx="9056799" cy="12658182"/>
          </a:xfrm>
          <a:custGeom>
            <a:avLst/>
            <a:gdLst/>
            <a:ahLst/>
            <a:cxnLst/>
            <a:rect r="r" b="b" t="t" l="l"/>
            <a:pathLst>
              <a:path h="12658182" w="9056799">
                <a:moveTo>
                  <a:pt x="0" y="0"/>
                </a:moveTo>
                <a:lnTo>
                  <a:pt x="9056798" y="0"/>
                </a:lnTo>
                <a:lnTo>
                  <a:pt x="9056798" y="12658182"/>
                </a:lnTo>
                <a:lnTo>
                  <a:pt x="0" y="126581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93674" y="2632053"/>
            <a:ext cx="3329511" cy="725719"/>
          </a:xfrm>
          <a:prstGeom prst="rect">
            <a:avLst/>
          </a:prstGeom>
        </p:spPr>
        <p:txBody>
          <a:bodyPr anchor="t" rtlCol="false" tIns="0" lIns="0" bIns="0" rIns="0">
            <a:spAutoFit/>
          </a:bodyPr>
          <a:lstStyle/>
          <a:p>
            <a:pPr algn="l">
              <a:lnSpc>
                <a:spcPts val="5878"/>
              </a:lnSpc>
            </a:pPr>
            <a:r>
              <a:rPr lang="en-US" b="true" sz="4199">
                <a:solidFill>
                  <a:srgbClr val="FFFFFF"/>
                </a:solidFill>
                <a:latin typeface="HK Grotesk Bold"/>
                <a:ea typeface="HK Grotesk Bold"/>
                <a:cs typeface="HK Grotesk Bold"/>
                <a:sym typeface="HK Grotesk Bold"/>
              </a:rPr>
              <a:t>QUESTIONS? </a:t>
            </a:r>
          </a:p>
        </p:txBody>
      </p:sp>
      <p:sp>
        <p:nvSpPr>
          <p:cNvPr name="TextBox 7" id="7"/>
          <p:cNvSpPr txBox="true"/>
          <p:nvPr/>
        </p:nvSpPr>
        <p:spPr>
          <a:xfrm rot="0">
            <a:off x="3058944" y="6833149"/>
            <a:ext cx="4214936" cy="1199664"/>
          </a:xfrm>
          <a:prstGeom prst="rect">
            <a:avLst/>
          </a:prstGeom>
        </p:spPr>
        <p:txBody>
          <a:bodyPr anchor="t" rtlCol="false" tIns="0" lIns="0" bIns="0" rIns="0">
            <a:spAutoFit/>
          </a:bodyPr>
          <a:lstStyle/>
          <a:p>
            <a:pPr algn="r">
              <a:lnSpc>
                <a:spcPts val="3180"/>
              </a:lnSpc>
            </a:pPr>
            <a:r>
              <a:rPr lang="en-US" b="true" sz="2446" spc="85">
                <a:solidFill>
                  <a:srgbClr val="FFFFFF"/>
                </a:solidFill>
                <a:latin typeface="HK Grotesk Medium"/>
                <a:ea typeface="HK Grotesk Medium"/>
                <a:cs typeface="HK Grotesk Medium"/>
                <a:sym typeface="HK Grotesk Medium"/>
              </a:rPr>
              <a:t>Hona.ahmed1@gmail.com Hanna.nabhann@gmail.com 01014069807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DAGgaIt59-Q</dc:identifier>
  <dcterms:modified xsi:type="dcterms:W3CDTF">2011-08-01T06:04:30Z</dcterms:modified>
  <cp:revision>1</cp:revision>
  <dc:title>Report.pdf</dc:title>
</cp:coreProperties>
</file>